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41.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50.xml"/>
  <Override ContentType="application/vnd.openxmlformats-officedocument.presentationml.notesSlide+xml" PartName="/ppt/notesSlides/notesSlide24.xml"/>
  <Override ContentType="application/vnd.openxmlformats-officedocument.presentationml.notesSlide+xml" PartName="/ppt/notesSlides/notesSlide4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25.xml"/>
  <Override ContentType="application/vnd.openxmlformats-officedocument.presentationml.notesSlide+xml" PartName="/ppt/notesSlides/notesSlide4.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37.xml"/>
  <Override ContentType="application/vnd.openxmlformats-officedocument.presentationml.notesSlide+xml" PartName="/ppt/notesSlides/notesSlide54.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28.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60.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52.xml"/>
  <Override ContentType="application/vnd.openxmlformats-officedocument.presentationml.notesSlide+xml" PartName="/ppt/notesSlides/notesSlide22.xml"/>
  <Override ContentType="application/vnd.openxmlformats-officedocument.presentationml.notesSlide+xml" PartName="/ppt/notesSlides/notesSlide35.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Lst>
  <p:sldSz cy="5143500" cx="9144000"/>
  <p:notesSz cx="5143500" cy="9144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497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1B3A2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EAKER_MASTER">
    <p:bg>
      <p:bgPr>
        <a:solidFill>
          <a:srgbClr val="2E7D5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20" y="457200"/>
            <a:ext cx="7680960" cy="640080"/>
          </a:xfrm>
          <a:prstGeom prst="rect">
            <a:avLst/>
          </a:prstGeom>
          <a:noFill/>
          <a:ln/>
        </p:spPr>
        <p:txBody>
          <a:bodyPr wrap="square" rtlCol="0" anchor="ctr"/>
          <a:lstStyle/>
          <a:p>
            <a:pPr marL="0" indent="0">
              <a:buNone/>
            </a:pPr>
            <a:r>
              <a:rPr lang="en-US" sz="1400" b="1" kern="0" spc="800" dirty="0">
                <a:solidFill>
                  <a:srgbClr val="D4AF37"/>
                </a:solidFill>
                <a:latin typeface="Calibri" pitchFamily="34" charset="0"/>
                <a:ea typeface="Calibri" pitchFamily="34" charset="-122"/>
                <a:cs typeface="Calibri" pitchFamily="34" charset="-120"/>
              </a:rPr>
              <a:t>SAPPHIRE</a:t>
            </a:r>
            <a:endParaRPr lang="en-US" sz="1400" dirty="0"/>
          </a:p>
        </p:txBody>
      </p:sp>
      <p:sp>
        <p:nvSpPr>
          <p:cNvPr id="3" name="Text 1"/>
          <p:cNvSpPr/>
          <p:nvPr/>
        </p:nvSpPr>
        <p:spPr>
          <a:xfrm>
            <a:off x="731520" y="1005840"/>
            <a:ext cx="7680960" cy="1828800"/>
          </a:xfrm>
          <a:prstGeom prst="rect">
            <a:avLst/>
          </a:prstGeom>
          <a:noFill/>
          <a:ln/>
        </p:spPr>
        <p:txBody>
          <a:bodyPr wrap="square" rtlCol="0" anchor="ctr"/>
          <a:lstStyle/>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LEADERSHIP</a:t>
            </a:r>
            <a:endParaRPr lang="en-US" sz="4400" dirty="0"/>
          </a:p>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ACADEMY</a:t>
            </a:r>
            <a:endParaRPr lang="en-US" sz="4400" dirty="0"/>
          </a:p>
        </p:txBody>
      </p:sp>
      <p:sp>
        <p:nvSpPr>
          <p:cNvPr id="4" name="Shape 2"/>
          <p:cNvSpPr/>
          <p:nvPr/>
        </p:nvSpPr>
        <p:spPr>
          <a:xfrm>
            <a:off x="731520" y="2926080"/>
            <a:ext cx="1828800" cy="36576"/>
          </a:xfrm>
          <a:prstGeom prst="rect">
            <a:avLst/>
          </a:prstGeom>
          <a:solidFill>
            <a:srgbClr val="D4AF37"/>
          </a:solidFill>
          <a:ln/>
        </p:spPr>
        <p:txBody>
          <a:bodyPr/>
          <a:lstStyle/>
          <a:p>
            <a:endParaRPr lang="en-NG"/>
          </a:p>
        </p:txBody>
      </p:sp>
      <p:sp>
        <p:nvSpPr>
          <p:cNvPr id="5" name="Text 3"/>
          <p:cNvSpPr/>
          <p:nvPr/>
        </p:nvSpPr>
        <p:spPr>
          <a:xfrm>
            <a:off x="731520" y="3108960"/>
            <a:ext cx="3657600" cy="365760"/>
          </a:xfrm>
          <a:prstGeom prst="rect">
            <a:avLst/>
          </a:prstGeom>
          <a:noFill/>
          <a:ln/>
        </p:spPr>
        <p:txBody>
          <a:bodyPr wrap="square" rtlCol="0" anchor="ctr"/>
          <a:lstStyle/>
          <a:p>
            <a:pPr marL="0" indent="0">
              <a:buNone/>
            </a:pPr>
            <a:r>
              <a:rPr lang="en-US" sz="1400" kern="0" spc="400" dirty="0">
                <a:solidFill>
                  <a:srgbClr val="3D9B6B"/>
                </a:solidFill>
                <a:latin typeface="Calibri" pitchFamily="34" charset="0"/>
                <a:ea typeface="Calibri" pitchFamily="34" charset="-122"/>
                <a:cs typeface="Calibri" pitchFamily="34" charset="-120"/>
              </a:rPr>
              <a:t>JUNE 2026 COHORT</a:t>
            </a:r>
            <a:endParaRPr lang="en-US" sz="1400" dirty="0"/>
          </a:p>
        </p:txBody>
      </p:sp>
      <p:sp>
        <p:nvSpPr>
          <p:cNvPr id="6" name="Text 4"/>
          <p:cNvSpPr/>
          <p:nvPr/>
        </p:nvSpPr>
        <p:spPr>
          <a:xfrm>
            <a:off x="731520" y="3566160"/>
            <a:ext cx="7680960" cy="365760"/>
          </a:xfrm>
          <a:prstGeom prst="rect">
            <a:avLst/>
          </a:prstGeom>
          <a:noFill/>
          <a:ln/>
        </p:spPr>
        <p:txBody>
          <a:bodyPr wrap="square" rtlCol="0" anchor="ctr"/>
          <a:lstStyle/>
          <a:p>
            <a:pPr marL="0" indent="0">
              <a:buNone/>
            </a:pPr>
            <a:r>
              <a:rPr lang="en-US" sz="1600" i="1" dirty="0">
                <a:solidFill>
                  <a:srgbClr val="CCCCCC"/>
                </a:solidFill>
                <a:latin typeface="Georgia" pitchFamily="34" charset="0"/>
                <a:ea typeface="Georgia" pitchFamily="34" charset="-122"/>
                <a:cs typeface="Georgia" pitchFamily="34" charset="-120"/>
              </a:rPr>
              <a:t>Building Leaders for Sapphire 4.0</a:t>
            </a:r>
            <a:endParaRPr lang="en-US" sz="1600" dirty="0"/>
          </a:p>
        </p:txBody>
      </p:sp>
      <p:sp>
        <p:nvSpPr>
          <p:cNvPr id="7" name="Text 5"/>
          <p:cNvSpPr/>
          <p:nvPr/>
        </p:nvSpPr>
        <p:spPr>
          <a:xfrm>
            <a:off x="731520" y="3931920"/>
            <a:ext cx="7680960" cy="274320"/>
          </a:xfrm>
          <a:prstGeom prst="rect">
            <a:avLst/>
          </a:prstGeom>
          <a:noFill/>
          <a:ln/>
        </p:spPr>
        <p:txBody>
          <a:bodyPr wrap="square" rtlCol="0" anchor="ctr"/>
          <a:lstStyle/>
          <a:p>
            <a:pPr marL="0" indent="0">
              <a:buNone/>
            </a:pPr>
            <a:r>
              <a:rPr lang="en-US" sz="1100" dirty="0">
                <a:solidFill>
                  <a:srgbClr val="999999"/>
                </a:solidFill>
                <a:latin typeface="Calibri" pitchFamily="34" charset="0"/>
                <a:ea typeface="Calibri" pitchFamily="34" charset="-122"/>
                <a:cs typeface="Calibri" pitchFamily="34" charset="-120"/>
              </a:rPr>
              <a:t>A Leadership, Culture and Organizational Transformation Initiative</a:t>
            </a:r>
            <a:endParaRPr lang="en-US" sz="1100" dirty="0"/>
          </a:p>
        </p:txBody>
      </p:sp>
      <p:sp>
        <p:nvSpPr>
          <p:cNvPr id="8" name="Text 6"/>
          <p:cNvSpPr/>
          <p:nvPr/>
        </p:nvSpPr>
        <p:spPr>
          <a:xfrm>
            <a:off x="274320" y="4754880"/>
            <a:ext cx="4572000" cy="32004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Presented by Dimeji Matesun  |  Managing Director / CEO</a:t>
            </a:r>
            <a:endParaRPr lang="en-US" sz="900" dirty="0"/>
          </a:p>
        </p:txBody>
      </p:sp>
      <p:sp>
        <p:nvSpPr>
          <p:cNvPr id="9" name="Text 7"/>
          <p:cNvSpPr/>
          <p:nvPr/>
        </p:nvSpPr>
        <p:spPr>
          <a:xfrm>
            <a:off x="6400800" y="4754880"/>
            <a:ext cx="2468880" cy="320040"/>
          </a:xfrm>
          <a:prstGeom prst="rect">
            <a:avLst/>
          </a:prstGeom>
          <a:noFill/>
          <a:ln/>
        </p:spPr>
        <p:txBody>
          <a:bodyPr wrap="square"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914400"/>
            <a:ext cx="914400" cy="914400"/>
          </a:xfrm>
          <a:prstGeom prst="rect">
            <a:avLst/>
          </a:prstGeom>
          <a:noFill/>
          <a:ln/>
        </p:spPr>
        <p:txBody>
          <a:bodyPr wrap="square" rtlCol="0" anchor="ctr"/>
          <a:lstStyle/>
          <a:p>
            <a:pPr marL="0" indent="0">
              <a:buNone/>
            </a:pPr>
            <a:r>
              <a:rPr lang="en-US" sz="7200" dirty="0">
                <a:solidFill>
                  <a:srgbClr val="D4AF37"/>
                </a:solidFill>
                <a:latin typeface="Georgia" pitchFamily="34" charset="0"/>
                <a:ea typeface="Georgia" pitchFamily="34" charset="-122"/>
                <a:cs typeface="Georgia" pitchFamily="34" charset="-120"/>
              </a:rPr>
              <a:t>“</a:t>
            </a:r>
            <a:endParaRPr lang="en-US" sz="7200" dirty="0"/>
          </a:p>
        </p:txBody>
      </p:sp>
      <p:sp>
        <p:nvSpPr>
          <p:cNvPr id="3" name="Text 1"/>
          <p:cNvSpPr/>
          <p:nvPr/>
        </p:nvSpPr>
        <p:spPr>
          <a:xfrm>
            <a:off x="1371600" y="1280160"/>
            <a:ext cx="6858000" cy="1645920"/>
          </a:xfrm>
          <a:prstGeom prst="rect">
            <a:avLst/>
          </a:prstGeom>
          <a:noFill/>
          <a:ln/>
        </p:spPr>
        <p:txBody>
          <a:bodyPr wrap="square" rtlCol="0" anchor="ctr"/>
          <a:lstStyle/>
          <a:p>
            <a:pPr marL="0" indent="0">
              <a:lnSpc>
                <a:spcPct val="130000"/>
              </a:lnSpc>
              <a:buNone/>
            </a:pPr>
            <a:r>
              <a:rPr lang="en-US" sz="3000" i="1" dirty="0">
                <a:solidFill>
                  <a:srgbClr val="FFFFFF"/>
                </a:solidFill>
                <a:latin typeface="Georgia" pitchFamily="34" charset="0"/>
                <a:ea typeface="Georgia" pitchFamily="34" charset="-122"/>
                <a:cs typeface="Georgia" pitchFamily="34" charset="-120"/>
              </a:rPr>
              <a:t>Everything rises and falls</a:t>
            </a:r>
            <a:endParaRPr lang="en-US" sz="3000" dirty="0"/>
          </a:p>
          <a:p>
            <a:pPr marL="0" indent="0">
              <a:lnSpc>
                <a:spcPct val="130000"/>
              </a:lnSpc>
              <a:buNone/>
            </a:pPr>
            <a:r>
              <a:rPr lang="en-US" sz="3000" i="1" dirty="0">
                <a:solidFill>
                  <a:srgbClr val="FFFFFF"/>
                </a:solidFill>
                <a:latin typeface="Georgia" pitchFamily="34" charset="0"/>
                <a:ea typeface="Georgia" pitchFamily="34" charset="-122"/>
                <a:cs typeface="Georgia" pitchFamily="34" charset="-120"/>
              </a:rPr>
              <a:t>on leadership.</a:t>
            </a:r>
            <a:endParaRPr lang="en-US" sz="3000" dirty="0"/>
          </a:p>
        </p:txBody>
      </p:sp>
      <p:sp>
        <p:nvSpPr>
          <p:cNvPr id="4" name="Text 2"/>
          <p:cNvSpPr/>
          <p:nvPr/>
        </p:nvSpPr>
        <p:spPr>
          <a:xfrm>
            <a:off x="1371600" y="3017520"/>
            <a:ext cx="6858000" cy="365760"/>
          </a:xfrm>
          <a:prstGeom prst="rect">
            <a:avLst/>
          </a:prstGeom>
          <a:noFill/>
          <a:ln/>
        </p:spPr>
        <p:txBody>
          <a:bodyPr wrap="square" rtlCol="0" anchor="ctr"/>
          <a:lstStyle/>
          <a:p>
            <a:pPr marL="0" indent="0">
              <a:buNone/>
            </a:pPr>
            <a:r>
              <a:rPr lang="en-US" sz="1400" dirty="0">
                <a:solidFill>
                  <a:srgbClr val="D4AF37"/>
                </a:solidFill>
                <a:latin typeface="Calibri" pitchFamily="34" charset="0"/>
                <a:ea typeface="Calibri" pitchFamily="34" charset="-122"/>
                <a:cs typeface="Calibri" pitchFamily="34" charset="-120"/>
              </a:rPr>
              <a:t>— John C. Maxwell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20" y="1097280"/>
            <a:ext cx="7680960" cy="1463040"/>
          </a:xfrm>
          <a:prstGeom prst="rect">
            <a:avLst/>
          </a:prstGeom>
          <a:noFill/>
          <a:ln/>
        </p:spPr>
        <p:txBody>
          <a:bodyPr wrap="square"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AGENDA</a:t>
            </a:r>
            <a:endParaRPr lang="en-US" sz="3800" dirty="0"/>
          </a:p>
        </p:txBody>
      </p:sp>
      <p:sp>
        <p:nvSpPr>
          <p:cNvPr id="3" name="Text 1"/>
          <p:cNvSpPr/>
          <p:nvPr/>
        </p:nvSpPr>
        <p:spPr>
          <a:xfrm>
            <a:off x="731520" y="2651760"/>
            <a:ext cx="7680960" cy="731520"/>
          </a:xfrm>
          <a:prstGeom prst="rect">
            <a:avLst/>
          </a:prstGeom>
          <a:noFill/>
          <a:ln/>
        </p:spPr>
        <p:txBody>
          <a:bodyPr wrap="square" rtlCol="0" anchor="ctr"/>
          <a:lstStyle/>
          <a:p>
            <a:pPr marL="0" indent="0" algn="l">
              <a:buNone/>
            </a:pPr>
            <a:r>
              <a:rPr lang="en-US" sz="1800" i="1" dirty="0">
                <a:solidFill>
                  <a:srgbClr val="D4AF37"/>
                </a:solidFill>
                <a:latin typeface="Calibri" pitchFamily="34" charset="0"/>
                <a:ea typeface="Calibri" pitchFamily="34" charset="-122"/>
                <a:cs typeface="Calibri" pitchFamily="34" charset="-120"/>
              </a:rPr>
              <a:t>Presentation Outline</a:t>
            </a:r>
            <a:endParaRPr lang="en-US" sz="1800" dirty="0"/>
          </a:p>
        </p:txBody>
      </p:sp>
      <p:sp>
        <p:nvSpPr>
          <p:cNvPr id="4" name="Text 2"/>
          <p:cNvSpPr/>
          <p:nvPr/>
        </p:nvSpPr>
        <p:spPr>
          <a:xfrm>
            <a:off x="274320" y="4754880"/>
            <a:ext cx="4572000" cy="320040"/>
          </a:xfrm>
          <a:prstGeom prst="rect">
            <a:avLst/>
          </a:prstGeom>
          <a:noFill/>
          <a:ln/>
        </p:spPr>
        <p:txBody>
          <a:bodyPr wrap="square"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SAPPHIRE VIRTUAL NETWORKS LIMITED</a:t>
            </a:r>
            <a:endParaRPr lang="en-US" sz="900" dirty="0"/>
          </a:p>
        </p:txBody>
      </p:sp>
      <p:sp>
        <p:nvSpPr>
          <p:cNvPr id="5" name="Text 3"/>
          <p:cNvSpPr/>
          <p:nvPr/>
        </p:nvSpPr>
        <p:spPr>
          <a:xfrm>
            <a:off x="6400800" y="4754880"/>
            <a:ext cx="2468880" cy="320040"/>
          </a:xfrm>
          <a:prstGeom prst="rect">
            <a:avLst/>
          </a:prstGeom>
          <a:noFill/>
          <a:ln/>
        </p:spPr>
        <p:txBody>
          <a:bodyPr wrap="square"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B3A2D"/>
                </a:solidFill>
                <a:latin typeface="Georgia" pitchFamily="34" charset="0"/>
                <a:ea typeface="Georgia" pitchFamily="34" charset="-122"/>
                <a:cs typeface="Georgia" pitchFamily="34" charset="-120"/>
              </a:rPr>
              <a:t>Session Agenda</a:t>
            </a:r>
            <a:endParaRPr lang="en-US" sz="2400" dirty="0"/>
          </a:p>
        </p:txBody>
      </p:sp>
      <p:sp>
        <p:nvSpPr>
          <p:cNvPr id="3" name="Shape 1"/>
          <p:cNvSpPr/>
          <p:nvPr/>
        </p:nvSpPr>
        <p:spPr>
          <a:xfrm>
            <a:off x="457200" y="960120"/>
            <a:ext cx="457200" cy="320040"/>
          </a:xfrm>
          <a:prstGeom prst="rect">
            <a:avLst/>
          </a:prstGeom>
          <a:solidFill>
            <a:srgbClr val="2E7D52"/>
          </a:solidFill>
          <a:ln/>
        </p:spPr>
        <p:txBody>
          <a:bodyPr/>
          <a:lstStyle/>
          <a:p>
            <a:endParaRPr lang="en-NG"/>
          </a:p>
        </p:txBody>
      </p:sp>
      <p:sp>
        <p:nvSpPr>
          <p:cNvPr id="4" name="Text 2"/>
          <p:cNvSpPr/>
          <p:nvPr/>
        </p:nvSpPr>
        <p:spPr>
          <a:xfrm>
            <a:off x="457200" y="960120"/>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01</a:t>
            </a:r>
            <a:endParaRPr lang="en-US" sz="1100" dirty="0"/>
          </a:p>
        </p:txBody>
      </p:sp>
      <p:sp>
        <p:nvSpPr>
          <p:cNvPr id="5" name="Text 3"/>
          <p:cNvSpPr/>
          <p:nvPr/>
        </p:nvSpPr>
        <p:spPr>
          <a:xfrm>
            <a:off x="1051560" y="960120"/>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Context &amp; Strategic Case</a:t>
            </a:r>
            <a:endParaRPr lang="en-US" sz="1200" dirty="0"/>
          </a:p>
        </p:txBody>
      </p:sp>
      <p:sp>
        <p:nvSpPr>
          <p:cNvPr id="6" name="Text 4"/>
          <p:cNvSpPr/>
          <p:nvPr/>
        </p:nvSpPr>
        <p:spPr>
          <a:xfrm>
            <a:off x="4297680" y="960120"/>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Why leadership development, why now</a:t>
            </a:r>
            <a:endParaRPr lang="en-US" sz="1100" dirty="0"/>
          </a:p>
        </p:txBody>
      </p:sp>
      <p:sp>
        <p:nvSpPr>
          <p:cNvPr id="7" name="Shape 5"/>
          <p:cNvSpPr/>
          <p:nvPr/>
        </p:nvSpPr>
        <p:spPr>
          <a:xfrm>
            <a:off x="457200" y="1353312"/>
            <a:ext cx="457200" cy="320040"/>
          </a:xfrm>
          <a:prstGeom prst="rect">
            <a:avLst/>
          </a:prstGeom>
          <a:solidFill>
            <a:srgbClr val="2E7D52"/>
          </a:solidFill>
          <a:ln/>
        </p:spPr>
        <p:txBody>
          <a:bodyPr/>
          <a:lstStyle/>
          <a:p>
            <a:endParaRPr lang="en-NG"/>
          </a:p>
        </p:txBody>
      </p:sp>
      <p:sp>
        <p:nvSpPr>
          <p:cNvPr id="8" name="Text 6"/>
          <p:cNvSpPr/>
          <p:nvPr/>
        </p:nvSpPr>
        <p:spPr>
          <a:xfrm>
            <a:off x="457200" y="1353312"/>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02</a:t>
            </a:r>
            <a:endParaRPr lang="en-US" sz="1100" dirty="0"/>
          </a:p>
        </p:txBody>
      </p:sp>
      <p:sp>
        <p:nvSpPr>
          <p:cNvPr id="9" name="Text 7"/>
          <p:cNvSpPr/>
          <p:nvPr/>
        </p:nvSpPr>
        <p:spPr>
          <a:xfrm>
            <a:off x="1051560" y="1353312"/>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The 21 Laws Framework</a:t>
            </a:r>
            <a:endParaRPr lang="en-US" sz="1200" dirty="0"/>
          </a:p>
        </p:txBody>
      </p:sp>
      <p:sp>
        <p:nvSpPr>
          <p:cNvPr id="10" name="Text 8"/>
          <p:cNvSpPr/>
          <p:nvPr/>
        </p:nvSpPr>
        <p:spPr>
          <a:xfrm>
            <a:off x="4297680" y="1353312"/>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Why John Maxwell's framework for Sapphire</a:t>
            </a:r>
            <a:endParaRPr lang="en-US" sz="1100" dirty="0"/>
          </a:p>
        </p:txBody>
      </p:sp>
      <p:sp>
        <p:nvSpPr>
          <p:cNvPr id="11" name="Shape 9"/>
          <p:cNvSpPr/>
          <p:nvPr/>
        </p:nvSpPr>
        <p:spPr>
          <a:xfrm>
            <a:off x="457200" y="1746504"/>
            <a:ext cx="457200" cy="320040"/>
          </a:xfrm>
          <a:prstGeom prst="rect">
            <a:avLst/>
          </a:prstGeom>
          <a:solidFill>
            <a:srgbClr val="1B3A2D"/>
          </a:solidFill>
          <a:ln/>
        </p:spPr>
        <p:txBody>
          <a:bodyPr/>
          <a:lstStyle/>
          <a:p>
            <a:endParaRPr lang="en-NG"/>
          </a:p>
        </p:txBody>
      </p:sp>
      <p:sp>
        <p:nvSpPr>
          <p:cNvPr id="12" name="Text 10"/>
          <p:cNvSpPr/>
          <p:nvPr/>
        </p:nvSpPr>
        <p:spPr>
          <a:xfrm>
            <a:off x="457200" y="1746504"/>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03</a:t>
            </a:r>
            <a:endParaRPr lang="en-US" sz="1100" dirty="0"/>
          </a:p>
        </p:txBody>
      </p:sp>
      <p:sp>
        <p:nvSpPr>
          <p:cNvPr id="13" name="Text 11"/>
          <p:cNvSpPr/>
          <p:nvPr/>
        </p:nvSpPr>
        <p:spPr>
          <a:xfrm>
            <a:off x="1051560" y="1746504"/>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Dimeji Matesun — 4 Laws</a:t>
            </a:r>
            <a:endParaRPr lang="en-US" sz="1200" dirty="0"/>
          </a:p>
        </p:txBody>
      </p:sp>
      <p:sp>
        <p:nvSpPr>
          <p:cNvPr id="14" name="Text 12"/>
          <p:cNvSpPr/>
          <p:nvPr/>
        </p:nvSpPr>
        <p:spPr>
          <a:xfrm>
            <a:off x="4297680" y="1746504"/>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The Lid, Navigation, Priorities, Legacy</a:t>
            </a:r>
            <a:endParaRPr lang="en-US" sz="1100" dirty="0"/>
          </a:p>
        </p:txBody>
      </p:sp>
      <p:sp>
        <p:nvSpPr>
          <p:cNvPr id="15" name="Shape 13"/>
          <p:cNvSpPr/>
          <p:nvPr/>
        </p:nvSpPr>
        <p:spPr>
          <a:xfrm>
            <a:off x="457200" y="2139696"/>
            <a:ext cx="457200" cy="320040"/>
          </a:xfrm>
          <a:prstGeom prst="rect">
            <a:avLst/>
          </a:prstGeom>
          <a:solidFill>
            <a:srgbClr val="1B3A2D"/>
          </a:solidFill>
          <a:ln/>
        </p:spPr>
        <p:txBody>
          <a:bodyPr/>
          <a:lstStyle/>
          <a:p>
            <a:endParaRPr lang="en-NG"/>
          </a:p>
        </p:txBody>
      </p:sp>
      <p:sp>
        <p:nvSpPr>
          <p:cNvPr id="16" name="Text 14"/>
          <p:cNvSpPr/>
          <p:nvPr/>
        </p:nvSpPr>
        <p:spPr>
          <a:xfrm>
            <a:off x="457200" y="2139696"/>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04</a:t>
            </a:r>
            <a:endParaRPr lang="en-US" sz="1100" dirty="0"/>
          </a:p>
        </p:txBody>
      </p:sp>
      <p:sp>
        <p:nvSpPr>
          <p:cNvPr id="17" name="Text 15"/>
          <p:cNvSpPr/>
          <p:nvPr/>
        </p:nvSpPr>
        <p:spPr>
          <a:xfrm>
            <a:off x="1051560" y="2139696"/>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Dr Lola Matesun — 4 Laws</a:t>
            </a:r>
            <a:endParaRPr lang="en-US" sz="1200" dirty="0"/>
          </a:p>
        </p:txBody>
      </p:sp>
      <p:sp>
        <p:nvSpPr>
          <p:cNvPr id="18" name="Text 16"/>
          <p:cNvSpPr/>
          <p:nvPr/>
        </p:nvSpPr>
        <p:spPr>
          <a:xfrm>
            <a:off x="4297680" y="2139696"/>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Influence, Respect, Connection, Empowerment</a:t>
            </a:r>
            <a:endParaRPr lang="en-US" sz="1100" dirty="0"/>
          </a:p>
        </p:txBody>
      </p:sp>
      <p:sp>
        <p:nvSpPr>
          <p:cNvPr id="19" name="Shape 17"/>
          <p:cNvSpPr/>
          <p:nvPr/>
        </p:nvSpPr>
        <p:spPr>
          <a:xfrm>
            <a:off x="457200" y="2532888"/>
            <a:ext cx="457200" cy="320040"/>
          </a:xfrm>
          <a:prstGeom prst="rect">
            <a:avLst/>
          </a:prstGeom>
          <a:solidFill>
            <a:srgbClr val="1B3A2D"/>
          </a:solidFill>
          <a:ln/>
        </p:spPr>
        <p:txBody>
          <a:bodyPr/>
          <a:lstStyle/>
          <a:p>
            <a:endParaRPr lang="en-NG"/>
          </a:p>
        </p:txBody>
      </p:sp>
      <p:sp>
        <p:nvSpPr>
          <p:cNvPr id="20" name="Text 18"/>
          <p:cNvSpPr/>
          <p:nvPr/>
        </p:nvSpPr>
        <p:spPr>
          <a:xfrm>
            <a:off x="457200" y="2532888"/>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05</a:t>
            </a:r>
            <a:endParaRPr lang="en-US" sz="1100" dirty="0"/>
          </a:p>
        </p:txBody>
      </p:sp>
      <p:sp>
        <p:nvSpPr>
          <p:cNvPr id="21" name="Text 19"/>
          <p:cNvSpPr/>
          <p:nvPr/>
        </p:nvSpPr>
        <p:spPr>
          <a:xfrm>
            <a:off x="1051560" y="2532888"/>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Dotun — 3 Laws</a:t>
            </a:r>
            <a:endParaRPr lang="en-US" sz="1200" dirty="0"/>
          </a:p>
        </p:txBody>
      </p:sp>
      <p:sp>
        <p:nvSpPr>
          <p:cNvPr id="22" name="Text 20"/>
          <p:cNvSpPr/>
          <p:nvPr/>
        </p:nvSpPr>
        <p:spPr>
          <a:xfrm>
            <a:off x="4297680" y="2532888"/>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Process, Buy-In, Addition</a:t>
            </a:r>
            <a:endParaRPr lang="en-US" sz="1100" dirty="0"/>
          </a:p>
        </p:txBody>
      </p:sp>
      <p:sp>
        <p:nvSpPr>
          <p:cNvPr id="23" name="Shape 21"/>
          <p:cNvSpPr/>
          <p:nvPr/>
        </p:nvSpPr>
        <p:spPr>
          <a:xfrm>
            <a:off x="457200" y="2926080"/>
            <a:ext cx="457200" cy="320040"/>
          </a:xfrm>
          <a:prstGeom prst="rect">
            <a:avLst/>
          </a:prstGeom>
          <a:solidFill>
            <a:srgbClr val="1B3A2D"/>
          </a:solidFill>
          <a:ln/>
        </p:spPr>
        <p:txBody>
          <a:bodyPr/>
          <a:lstStyle/>
          <a:p>
            <a:endParaRPr lang="en-NG"/>
          </a:p>
        </p:txBody>
      </p:sp>
      <p:sp>
        <p:nvSpPr>
          <p:cNvPr id="24" name="Text 22"/>
          <p:cNvSpPr/>
          <p:nvPr/>
        </p:nvSpPr>
        <p:spPr>
          <a:xfrm>
            <a:off x="457200" y="2926080"/>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06</a:t>
            </a:r>
            <a:endParaRPr lang="en-US" sz="1100" dirty="0"/>
          </a:p>
        </p:txBody>
      </p:sp>
      <p:sp>
        <p:nvSpPr>
          <p:cNvPr id="25" name="Text 23"/>
          <p:cNvSpPr/>
          <p:nvPr/>
        </p:nvSpPr>
        <p:spPr>
          <a:xfrm>
            <a:off x="1051560" y="2926080"/>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Ayo — 3 Laws</a:t>
            </a:r>
            <a:endParaRPr lang="en-US" sz="1200" dirty="0"/>
          </a:p>
        </p:txBody>
      </p:sp>
      <p:sp>
        <p:nvSpPr>
          <p:cNvPr id="26" name="Text 24"/>
          <p:cNvSpPr/>
          <p:nvPr/>
        </p:nvSpPr>
        <p:spPr>
          <a:xfrm>
            <a:off x="4297680" y="2926080"/>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Intuition, Timing, Magnetism</a:t>
            </a:r>
            <a:endParaRPr lang="en-US" sz="1100" dirty="0"/>
          </a:p>
        </p:txBody>
      </p:sp>
      <p:sp>
        <p:nvSpPr>
          <p:cNvPr id="27" name="Shape 25"/>
          <p:cNvSpPr/>
          <p:nvPr/>
        </p:nvSpPr>
        <p:spPr>
          <a:xfrm>
            <a:off x="457200" y="3319272"/>
            <a:ext cx="457200" cy="320040"/>
          </a:xfrm>
          <a:prstGeom prst="rect">
            <a:avLst/>
          </a:prstGeom>
          <a:solidFill>
            <a:srgbClr val="1B3A2D"/>
          </a:solidFill>
          <a:ln/>
        </p:spPr>
        <p:txBody>
          <a:bodyPr/>
          <a:lstStyle/>
          <a:p>
            <a:endParaRPr lang="en-NG"/>
          </a:p>
        </p:txBody>
      </p:sp>
      <p:sp>
        <p:nvSpPr>
          <p:cNvPr id="28" name="Text 26"/>
          <p:cNvSpPr/>
          <p:nvPr/>
        </p:nvSpPr>
        <p:spPr>
          <a:xfrm>
            <a:off x="457200" y="3319272"/>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07</a:t>
            </a:r>
            <a:endParaRPr lang="en-US" sz="1100" dirty="0"/>
          </a:p>
        </p:txBody>
      </p:sp>
      <p:sp>
        <p:nvSpPr>
          <p:cNvPr id="29" name="Text 27"/>
          <p:cNvSpPr/>
          <p:nvPr/>
        </p:nvSpPr>
        <p:spPr>
          <a:xfrm>
            <a:off x="1051560" y="3319272"/>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Wale — 3 Laws</a:t>
            </a:r>
            <a:endParaRPr lang="en-US" sz="1200" dirty="0"/>
          </a:p>
        </p:txBody>
      </p:sp>
      <p:sp>
        <p:nvSpPr>
          <p:cNvPr id="30" name="Text 28"/>
          <p:cNvSpPr/>
          <p:nvPr/>
        </p:nvSpPr>
        <p:spPr>
          <a:xfrm>
            <a:off x="4297680" y="3319272"/>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Solid Ground, Sacrifice, Victory</a:t>
            </a:r>
            <a:endParaRPr lang="en-US" sz="1100" dirty="0"/>
          </a:p>
        </p:txBody>
      </p:sp>
      <p:sp>
        <p:nvSpPr>
          <p:cNvPr id="31" name="Shape 29"/>
          <p:cNvSpPr/>
          <p:nvPr/>
        </p:nvSpPr>
        <p:spPr>
          <a:xfrm>
            <a:off x="457200" y="3712464"/>
            <a:ext cx="457200" cy="320040"/>
          </a:xfrm>
          <a:prstGeom prst="rect">
            <a:avLst/>
          </a:prstGeom>
          <a:solidFill>
            <a:srgbClr val="1B3A2D"/>
          </a:solidFill>
          <a:ln/>
        </p:spPr>
        <p:txBody>
          <a:bodyPr/>
          <a:lstStyle/>
          <a:p>
            <a:endParaRPr lang="en-NG"/>
          </a:p>
        </p:txBody>
      </p:sp>
      <p:sp>
        <p:nvSpPr>
          <p:cNvPr id="32" name="Text 30"/>
          <p:cNvSpPr/>
          <p:nvPr/>
        </p:nvSpPr>
        <p:spPr>
          <a:xfrm>
            <a:off x="457200" y="3712464"/>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08</a:t>
            </a:r>
            <a:endParaRPr lang="en-US" sz="1100" dirty="0"/>
          </a:p>
        </p:txBody>
      </p:sp>
      <p:sp>
        <p:nvSpPr>
          <p:cNvPr id="33" name="Text 31"/>
          <p:cNvSpPr/>
          <p:nvPr/>
        </p:nvSpPr>
        <p:spPr>
          <a:xfrm>
            <a:off x="1051560" y="3712464"/>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Leke — 4 Laws</a:t>
            </a:r>
            <a:endParaRPr lang="en-US" sz="1200" dirty="0"/>
          </a:p>
        </p:txBody>
      </p:sp>
      <p:sp>
        <p:nvSpPr>
          <p:cNvPr id="34" name="Text 32"/>
          <p:cNvSpPr/>
          <p:nvPr/>
        </p:nvSpPr>
        <p:spPr>
          <a:xfrm>
            <a:off x="4297680" y="3712464"/>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Reproduction, Inner Circle, Explosive Growth, Big Mo</a:t>
            </a:r>
            <a:endParaRPr lang="en-US" sz="1100" dirty="0"/>
          </a:p>
        </p:txBody>
      </p:sp>
      <p:sp>
        <p:nvSpPr>
          <p:cNvPr id="35" name="Shape 33"/>
          <p:cNvSpPr/>
          <p:nvPr/>
        </p:nvSpPr>
        <p:spPr>
          <a:xfrm>
            <a:off x="457200" y="4105656"/>
            <a:ext cx="457200" cy="320040"/>
          </a:xfrm>
          <a:prstGeom prst="rect">
            <a:avLst/>
          </a:prstGeom>
          <a:solidFill>
            <a:srgbClr val="2E7D52"/>
          </a:solidFill>
          <a:ln/>
        </p:spPr>
        <p:txBody>
          <a:bodyPr/>
          <a:lstStyle/>
          <a:p>
            <a:endParaRPr lang="en-NG"/>
          </a:p>
        </p:txBody>
      </p:sp>
      <p:sp>
        <p:nvSpPr>
          <p:cNvPr id="36" name="Text 34"/>
          <p:cNvSpPr/>
          <p:nvPr/>
        </p:nvSpPr>
        <p:spPr>
          <a:xfrm>
            <a:off x="457200" y="4105656"/>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09</a:t>
            </a:r>
            <a:endParaRPr lang="en-US" sz="1100" dirty="0"/>
          </a:p>
        </p:txBody>
      </p:sp>
      <p:sp>
        <p:nvSpPr>
          <p:cNvPr id="37" name="Text 35"/>
          <p:cNvSpPr/>
          <p:nvPr/>
        </p:nvSpPr>
        <p:spPr>
          <a:xfrm>
            <a:off x="1051560" y="4105656"/>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Program Design &amp; Governance</a:t>
            </a:r>
            <a:endParaRPr lang="en-US" sz="1200" dirty="0"/>
          </a:p>
        </p:txBody>
      </p:sp>
      <p:sp>
        <p:nvSpPr>
          <p:cNvPr id="38" name="Text 36"/>
          <p:cNvSpPr/>
          <p:nvPr/>
        </p:nvSpPr>
        <p:spPr>
          <a:xfrm>
            <a:off x="4297680" y="4105656"/>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Structure, mentorship, assessment, graduation</a:t>
            </a:r>
            <a:endParaRPr lang="en-US" sz="1100" dirty="0"/>
          </a:p>
        </p:txBody>
      </p:sp>
      <p:sp>
        <p:nvSpPr>
          <p:cNvPr id="39" name="Shape 37"/>
          <p:cNvSpPr/>
          <p:nvPr/>
        </p:nvSpPr>
        <p:spPr>
          <a:xfrm>
            <a:off x="457200" y="4498848"/>
            <a:ext cx="457200" cy="320040"/>
          </a:xfrm>
          <a:prstGeom prst="rect">
            <a:avLst/>
          </a:prstGeom>
          <a:solidFill>
            <a:srgbClr val="2E7D52"/>
          </a:solidFill>
          <a:ln/>
        </p:spPr>
        <p:txBody>
          <a:bodyPr/>
          <a:lstStyle/>
          <a:p>
            <a:endParaRPr lang="en-NG"/>
          </a:p>
        </p:txBody>
      </p:sp>
      <p:sp>
        <p:nvSpPr>
          <p:cNvPr id="40" name="Text 38"/>
          <p:cNvSpPr/>
          <p:nvPr/>
        </p:nvSpPr>
        <p:spPr>
          <a:xfrm>
            <a:off x="457200" y="4498848"/>
            <a:ext cx="457200" cy="3200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10</a:t>
            </a:r>
            <a:endParaRPr lang="en-US" sz="1100" dirty="0"/>
          </a:p>
        </p:txBody>
      </p:sp>
      <p:sp>
        <p:nvSpPr>
          <p:cNvPr id="41" name="Text 39"/>
          <p:cNvSpPr/>
          <p:nvPr/>
        </p:nvSpPr>
        <p:spPr>
          <a:xfrm>
            <a:off x="1051560" y="4498848"/>
            <a:ext cx="3200400" cy="320040"/>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Culture Transformation Roadmap</a:t>
            </a:r>
            <a:endParaRPr lang="en-US" sz="1200" dirty="0"/>
          </a:p>
        </p:txBody>
      </p:sp>
      <p:sp>
        <p:nvSpPr>
          <p:cNvPr id="42" name="Text 40"/>
          <p:cNvSpPr/>
          <p:nvPr/>
        </p:nvSpPr>
        <p:spPr>
          <a:xfrm>
            <a:off x="4297680" y="4498848"/>
            <a:ext cx="438912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Phase 1–5: From academy to institute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1097280"/>
            <a:ext cx="7680960" cy="1463040"/>
          </a:xfrm>
          <a:prstGeom prst="rect">
            <a:avLst/>
          </a:prstGeom>
          <a:noFill/>
          <a:ln/>
        </p:spPr>
        <p:txBody>
          <a:bodyPr wrap="square"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CONTEXT</a:t>
            </a:r>
            <a:endParaRPr lang="en-US" sz="3800" dirty="0"/>
          </a:p>
        </p:txBody>
      </p:sp>
      <p:sp>
        <p:nvSpPr>
          <p:cNvPr id="3" name="Text 1"/>
          <p:cNvSpPr/>
          <p:nvPr/>
        </p:nvSpPr>
        <p:spPr>
          <a:xfrm>
            <a:off x="731520" y="2651760"/>
            <a:ext cx="7680960" cy="731520"/>
          </a:xfrm>
          <a:prstGeom prst="rect">
            <a:avLst/>
          </a:prstGeom>
          <a:noFill/>
          <a:ln/>
        </p:spPr>
        <p:txBody>
          <a:bodyPr wrap="square" rtlCol="0" anchor="ctr"/>
          <a:lstStyle/>
          <a:p>
            <a:pPr marL="0" indent="0" algn="l">
              <a:buNone/>
            </a:pPr>
            <a:r>
              <a:rPr lang="en-US" sz="1800" i="1" dirty="0">
                <a:solidFill>
                  <a:srgbClr val="D4AF37"/>
                </a:solidFill>
                <a:latin typeface="Calibri" pitchFamily="34" charset="0"/>
                <a:ea typeface="Calibri" pitchFamily="34" charset="-122"/>
                <a:cs typeface="Calibri" pitchFamily="34" charset="-120"/>
              </a:rPr>
              <a:t>This is not a training programme.</a:t>
            </a:r>
            <a:endParaRPr lang="en-US" sz="1800" dirty="0"/>
          </a:p>
        </p:txBody>
      </p:sp>
      <p:sp>
        <p:nvSpPr>
          <p:cNvPr id="4" name="Text 2"/>
          <p:cNvSpPr/>
          <p:nvPr/>
        </p:nvSpPr>
        <p:spPr>
          <a:xfrm>
            <a:off x="731520" y="3474720"/>
            <a:ext cx="7680960" cy="457200"/>
          </a:xfrm>
          <a:prstGeom prst="rect">
            <a:avLst/>
          </a:prstGeom>
          <a:noFill/>
          <a:ln/>
        </p:spPr>
        <p:txBody>
          <a:bodyPr wrap="square" rtlCol="0" anchor="ctr"/>
          <a:lstStyle/>
          <a:p>
            <a:pPr marL="0" indent="0" algn="l">
              <a:buNone/>
            </a:pPr>
            <a:r>
              <a:rPr lang="en-US" sz="1200" i="1" dirty="0">
                <a:solidFill>
                  <a:srgbClr val="AAAAAA"/>
                </a:solidFill>
                <a:latin typeface="Calibri" pitchFamily="34" charset="0"/>
                <a:ea typeface="Calibri" pitchFamily="34" charset="-122"/>
                <a:cs typeface="Calibri" pitchFamily="34" charset="-120"/>
              </a:rPr>
              <a:t>This is a strategic organizational development initiative.</a:t>
            </a:r>
            <a:endParaRPr lang="en-US" sz="1200" dirty="0"/>
          </a:p>
        </p:txBody>
      </p:sp>
      <p:sp>
        <p:nvSpPr>
          <p:cNvPr id="5" name="Text 3"/>
          <p:cNvSpPr/>
          <p:nvPr/>
        </p:nvSpPr>
        <p:spPr>
          <a:xfrm>
            <a:off x="274320" y="4754880"/>
            <a:ext cx="4572000" cy="320040"/>
          </a:xfrm>
          <a:prstGeom prst="rect">
            <a:avLst/>
          </a:prstGeom>
          <a:noFill/>
          <a:ln/>
        </p:spPr>
        <p:txBody>
          <a:bodyPr wrap="square"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SAPPHIRE VIRTUAL NETWORKS LIMITED</a:t>
            </a:r>
            <a:endParaRPr lang="en-US" sz="900" dirty="0"/>
          </a:p>
        </p:txBody>
      </p:sp>
      <p:sp>
        <p:nvSpPr>
          <p:cNvPr id="6" name="Text 4"/>
          <p:cNvSpPr/>
          <p:nvPr/>
        </p:nvSpPr>
        <p:spPr>
          <a:xfrm>
            <a:off x="6400800" y="4754880"/>
            <a:ext cx="2468880" cy="320040"/>
          </a:xfrm>
          <a:prstGeom prst="rect">
            <a:avLst/>
          </a:prstGeom>
          <a:noFill/>
          <a:ln/>
        </p:spPr>
        <p:txBody>
          <a:bodyPr wrap="square"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Why Leadership Development, Why Now</a:t>
            </a:r>
            <a:endParaRPr lang="en-US" sz="2200" dirty="0"/>
          </a:p>
        </p:txBody>
      </p:sp>
      <p:sp>
        <p:nvSpPr>
          <p:cNvPr id="3" name="Text 1"/>
          <p:cNvSpPr/>
          <p:nvPr/>
        </p:nvSpPr>
        <p:spPr>
          <a:xfrm>
            <a:off x="457200" y="914400"/>
            <a:ext cx="8229600" cy="731520"/>
          </a:xfrm>
          <a:prstGeom prst="rect">
            <a:avLst/>
          </a:prstGeom>
          <a:noFill/>
          <a:ln/>
        </p:spPr>
        <p:txBody>
          <a:bodyPr wrap="square" rtlCol="0" anchor="ctr"/>
          <a:lstStyle/>
          <a:p>
            <a:pPr marL="0" indent="0">
              <a:lnSpc>
                <a:spcPct val="130000"/>
              </a:lnSpc>
              <a:buNone/>
            </a:pPr>
            <a:r>
              <a:rPr lang="en-US" sz="1300" dirty="0">
                <a:solidFill>
                  <a:srgbClr val="2D2D2D"/>
                </a:solidFill>
                <a:latin typeface="Calibri" pitchFamily="34" charset="0"/>
                <a:ea typeface="Calibri" pitchFamily="34" charset="-122"/>
                <a:cs typeface="Calibri" pitchFamily="34" charset="-120"/>
              </a:rPr>
              <a:t>Sapphire is transitioning from a founder-driven and hero-driven organization into a scalable, leadership-driven enterprise. Over the past 12 months, we have launched and are simultaneously scaling seven major initiatives:</a:t>
            </a:r>
            <a:endParaRPr lang="en-US" sz="1300" dirty="0"/>
          </a:p>
        </p:txBody>
      </p:sp>
      <p:sp>
        <p:nvSpPr>
          <p:cNvPr id="4" name="Shape 2"/>
          <p:cNvSpPr/>
          <p:nvPr/>
        </p:nvSpPr>
        <p:spPr>
          <a:xfrm>
            <a:off x="457200" y="1828800"/>
            <a:ext cx="3840480" cy="347472"/>
          </a:xfrm>
          <a:prstGeom prst="rect">
            <a:avLst/>
          </a:prstGeom>
          <a:solidFill>
            <a:srgbClr val="E8F5ED"/>
          </a:solidFill>
          <a:ln/>
        </p:spPr>
        <p:txBody>
          <a:bodyPr/>
          <a:lstStyle/>
          <a:p>
            <a:endParaRPr lang="en-NG"/>
          </a:p>
        </p:txBody>
      </p:sp>
      <p:sp>
        <p:nvSpPr>
          <p:cNvPr id="5" name="Shape 3"/>
          <p:cNvSpPr/>
          <p:nvPr/>
        </p:nvSpPr>
        <p:spPr>
          <a:xfrm>
            <a:off x="457200" y="1828800"/>
            <a:ext cx="45720" cy="347472"/>
          </a:xfrm>
          <a:prstGeom prst="rect">
            <a:avLst/>
          </a:prstGeom>
          <a:solidFill>
            <a:srgbClr val="2E7D52"/>
          </a:solidFill>
          <a:ln/>
        </p:spPr>
        <p:txBody>
          <a:bodyPr/>
          <a:lstStyle/>
          <a:p>
            <a:endParaRPr lang="en-NG"/>
          </a:p>
        </p:txBody>
      </p:sp>
      <p:sp>
        <p:nvSpPr>
          <p:cNvPr id="6" name="Text 4"/>
          <p:cNvSpPr/>
          <p:nvPr/>
        </p:nvSpPr>
        <p:spPr>
          <a:xfrm>
            <a:off x="640080" y="1828800"/>
            <a:ext cx="3474720" cy="347472"/>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DevFin</a:t>
            </a:r>
            <a:endParaRPr lang="en-US" sz="1200" dirty="0"/>
          </a:p>
        </p:txBody>
      </p:sp>
      <p:sp>
        <p:nvSpPr>
          <p:cNvPr id="7" name="Shape 5"/>
          <p:cNvSpPr/>
          <p:nvPr/>
        </p:nvSpPr>
        <p:spPr>
          <a:xfrm>
            <a:off x="457200" y="2240280"/>
            <a:ext cx="3840480" cy="347472"/>
          </a:xfrm>
          <a:prstGeom prst="rect">
            <a:avLst/>
          </a:prstGeom>
          <a:solidFill>
            <a:srgbClr val="E8F5ED"/>
          </a:solidFill>
          <a:ln/>
        </p:spPr>
        <p:txBody>
          <a:bodyPr/>
          <a:lstStyle/>
          <a:p>
            <a:endParaRPr lang="en-NG"/>
          </a:p>
        </p:txBody>
      </p:sp>
      <p:sp>
        <p:nvSpPr>
          <p:cNvPr id="8" name="Shape 6"/>
          <p:cNvSpPr/>
          <p:nvPr/>
        </p:nvSpPr>
        <p:spPr>
          <a:xfrm>
            <a:off x="457200" y="2240280"/>
            <a:ext cx="45720" cy="347472"/>
          </a:xfrm>
          <a:prstGeom prst="rect">
            <a:avLst/>
          </a:prstGeom>
          <a:solidFill>
            <a:srgbClr val="2E7D52"/>
          </a:solidFill>
          <a:ln/>
        </p:spPr>
        <p:txBody>
          <a:bodyPr/>
          <a:lstStyle/>
          <a:p>
            <a:endParaRPr lang="en-NG"/>
          </a:p>
        </p:txBody>
      </p:sp>
      <p:sp>
        <p:nvSpPr>
          <p:cNvPr id="9" name="Text 7"/>
          <p:cNvSpPr/>
          <p:nvPr/>
        </p:nvSpPr>
        <p:spPr>
          <a:xfrm>
            <a:off x="640080" y="2240280"/>
            <a:ext cx="3474720" cy="347472"/>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DevPro</a:t>
            </a:r>
            <a:endParaRPr lang="en-US" sz="1200" dirty="0"/>
          </a:p>
        </p:txBody>
      </p:sp>
      <p:sp>
        <p:nvSpPr>
          <p:cNvPr id="10" name="Shape 8"/>
          <p:cNvSpPr/>
          <p:nvPr/>
        </p:nvSpPr>
        <p:spPr>
          <a:xfrm>
            <a:off x="457200" y="2651760"/>
            <a:ext cx="3840480" cy="347472"/>
          </a:xfrm>
          <a:prstGeom prst="rect">
            <a:avLst/>
          </a:prstGeom>
          <a:solidFill>
            <a:srgbClr val="E8F5ED"/>
          </a:solidFill>
          <a:ln/>
        </p:spPr>
        <p:txBody>
          <a:bodyPr/>
          <a:lstStyle/>
          <a:p>
            <a:endParaRPr lang="en-NG"/>
          </a:p>
        </p:txBody>
      </p:sp>
      <p:sp>
        <p:nvSpPr>
          <p:cNvPr id="11" name="Shape 9"/>
          <p:cNvSpPr/>
          <p:nvPr/>
        </p:nvSpPr>
        <p:spPr>
          <a:xfrm>
            <a:off x="457200" y="2651760"/>
            <a:ext cx="45720" cy="347472"/>
          </a:xfrm>
          <a:prstGeom prst="rect">
            <a:avLst/>
          </a:prstGeom>
          <a:solidFill>
            <a:srgbClr val="2E7D52"/>
          </a:solidFill>
          <a:ln/>
        </p:spPr>
        <p:txBody>
          <a:bodyPr/>
          <a:lstStyle/>
          <a:p>
            <a:endParaRPr lang="en-NG"/>
          </a:p>
        </p:txBody>
      </p:sp>
      <p:sp>
        <p:nvSpPr>
          <p:cNvPr id="12" name="Text 10"/>
          <p:cNvSpPr/>
          <p:nvPr/>
        </p:nvSpPr>
        <p:spPr>
          <a:xfrm>
            <a:off x="640080" y="2651760"/>
            <a:ext cx="3474720" cy="347472"/>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STEP (Scan To Earn Program)</a:t>
            </a:r>
            <a:endParaRPr lang="en-US" sz="1200" dirty="0"/>
          </a:p>
        </p:txBody>
      </p:sp>
      <p:sp>
        <p:nvSpPr>
          <p:cNvPr id="13" name="Shape 11"/>
          <p:cNvSpPr/>
          <p:nvPr/>
        </p:nvSpPr>
        <p:spPr>
          <a:xfrm>
            <a:off x="457200" y="3063240"/>
            <a:ext cx="3840480" cy="347472"/>
          </a:xfrm>
          <a:prstGeom prst="rect">
            <a:avLst/>
          </a:prstGeom>
          <a:solidFill>
            <a:srgbClr val="E8F5ED"/>
          </a:solidFill>
          <a:ln/>
        </p:spPr>
        <p:txBody>
          <a:bodyPr/>
          <a:lstStyle/>
          <a:p>
            <a:endParaRPr lang="en-NG"/>
          </a:p>
        </p:txBody>
      </p:sp>
      <p:sp>
        <p:nvSpPr>
          <p:cNvPr id="14" name="Shape 12"/>
          <p:cNvSpPr/>
          <p:nvPr/>
        </p:nvSpPr>
        <p:spPr>
          <a:xfrm>
            <a:off x="457200" y="3063240"/>
            <a:ext cx="45720" cy="347472"/>
          </a:xfrm>
          <a:prstGeom prst="rect">
            <a:avLst/>
          </a:prstGeom>
          <a:solidFill>
            <a:srgbClr val="2E7D52"/>
          </a:solidFill>
          <a:ln/>
        </p:spPr>
        <p:txBody>
          <a:bodyPr/>
          <a:lstStyle/>
          <a:p>
            <a:endParaRPr lang="en-NG"/>
          </a:p>
        </p:txBody>
      </p:sp>
      <p:sp>
        <p:nvSpPr>
          <p:cNvPr id="15" name="Text 13"/>
          <p:cNvSpPr/>
          <p:nvPr/>
        </p:nvSpPr>
        <p:spPr>
          <a:xfrm>
            <a:off x="640080" y="3063240"/>
            <a:ext cx="3474720" cy="347472"/>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Automation Office</a:t>
            </a:r>
            <a:endParaRPr lang="en-US" sz="1200" dirty="0"/>
          </a:p>
        </p:txBody>
      </p:sp>
      <p:sp>
        <p:nvSpPr>
          <p:cNvPr id="16" name="Shape 14"/>
          <p:cNvSpPr/>
          <p:nvPr/>
        </p:nvSpPr>
        <p:spPr>
          <a:xfrm>
            <a:off x="4754880" y="1828800"/>
            <a:ext cx="3840480" cy="347472"/>
          </a:xfrm>
          <a:prstGeom prst="rect">
            <a:avLst/>
          </a:prstGeom>
          <a:solidFill>
            <a:srgbClr val="E8F5ED"/>
          </a:solidFill>
          <a:ln/>
        </p:spPr>
        <p:txBody>
          <a:bodyPr/>
          <a:lstStyle/>
          <a:p>
            <a:endParaRPr lang="en-NG"/>
          </a:p>
        </p:txBody>
      </p:sp>
      <p:sp>
        <p:nvSpPr>
          <p:cNvPr id="17" name="Shape 15"/>
          <p:cNvSpPr/>
          <p:nvPr/>
        </p:nvSpPr>
        <p:spPr>
          <a:xfrm>
            <a:off x="4754880" y="1828800"/>
            <a:ext cx="45720" cy="347472"/>
          </a:xfrm>
          <a:prstGeom prst="rect">
            <a:avLst/>
          </a:prstGeom>
          <a:solidFill>
            <a:srgbClr val="2E7D52"/>
          </a:solidFill>
          <a:ln/>
        </p:spPr>
        <p:txBody>
          <a:bodyPr/>
          <a:lstStyle/>
          <a:p>
            <a:endParaRPr lang="en-NG"/>
          </a:p>
        </p:txBody>
      </p:sp>
      <p:sp>
        <p:nvSpPr>
          <p:cNvPr id="18" name="Text 16"/>
          <p:cNvSpPr/>
          <p:nvPr/>
        </p:nvSpPr>
        <p:spPr>
          <a:xfrm>
            <a:off x="4937760" y="1828800"/>
            <a:ext cx="3474720" cy="347472"/>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Recovery Transformation</a:t>
            </a:r>
            <a:endParaRPr lang="en-US" sz="1200" dirty="0"/>
          </a:p>
        </p:txBody>
      </p:sp>
      <p:sp>
        <p:nvSpPr>
          <p:cNvPr id="19" name="Shape 17"/>
          <p:cNvSpPr/>
          <p:nvPr/>
        </p:nvSpPr>
        <p:spPr>
          <a:xfrm>
            <a:off x="4754880" y="2240280"/>
            <a:ext cx="3840480" cy="347472"/>
          </a:xfrm>
          <a:prstGeom prst="rect">
            <a:avLst/>
          </a:prstGeom>
          <a:solidFill>
            <a:srgbClr val="E8F5ED"/>
          </a:solidFill>
          <a:ln/>
        </p:spPr>
        <p:txBody>
          <a:bodyPr/>
          <a:lstStyle/>
          <a:p>
            <a:endParaRPr lang="en-NG"/>
          </a:p>
        </p:txBody>
      </p:sp>
      <p:sp>
        <p:nvSpPr>
          <p:cNvPr id="20" name="Shape 18"/>
          <p:cNvSpPr/>
          <p:nvPr/>
        </p:nvSpPr>
        <p:spPr>
          <a:xfrm>
            <a:off x="4754880" y="2240280"/>
            <a:ext cx="45720" cy="347472"/>
          </a:xfrm>
          <a:prstGeom prst="rect">
            <a:avLst/>
          </a:prstGeom>
          <a:solidFill>
            <a:srgbClr val="2E7D52"/>
          </a:solidFill>
          <a:ln/>
        </p:spPr>
        <p:txBody>
          <a:bodyPr/>
          <a:lstStyle/>
          <a:p>
            <a:endParaRPr lang="en-NG"/>
          </a:p>
        </p:txBody>
      </p:sp>
      <p:sp>
        <p:nvSpPr>
          <p:cNvPr id="21" name="Text 19"/>
          <p:cNvSpPr/>
          <p:nvPr/>
        </p:nvSpPr>
        <p:spPr>
          <a:xfrm>
            <a:off x="4937760" y="2240280"/>
            <a:ext cx="3474720" cy="347472"/>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Onyx</a:t>
            </a:r>
            <a:endParaRPr lang="en-US" sz="1200" dirty="0"/>
          </a:p>
        </p:txBody>
      </p:sp>
      <p:sp>
        <p:nvSpPr>
          <p:cNvPr id="22" name="Shape 20"/>
          <p:cNvSpPr/>
          <p:nvPr/>
        </p:nvSpPr>
        <p:spPr>
          <a:xfrm>
            <a:off x="4754880" y="2651760"/>
            <a:ext cx="3840480" cy="347472"/>
          </a:xfrm>
          <a:prstGeom prst="rect">
            <a:avLst/>
          </a:prstGeom>
          <a:solidFill>
            <a:srgbClr val="E8F5ED"/>
          </a:solidFill>
          <a:ln/>
        </p:spPr>
        <p:txBody>
          <a:bodyPr/>
          <a:lstStyle/>
          <a:p>
            <a:endParaRPr lang="en-NG"/>
          </a:p>
        </p:txBody>
      </p:sp>
      <p:sp>
        <p:nvSpPr>
          <p:cNvPr id="23" name="Shape 21"/>
          <p:cNvSpPr/>
          <p:nvPr/>
        </p:nvSpPr>
        <p:spPr>
          <a:xfrm>
            <a:off x="4754880" y="2651760"/>
            <a:ext cx="45720" cy="347472"/>
          </a:xfrm>
          <a:prstGeom prst="rect">
            <a:avLst/>
          </a:prstGeom>
          <a:solidFill>
            <a:srgbClr val="2E7D52"/>
          </a:solidFill>
          <a:ln/>
        </p:spPr>
        <p:txBody>
          <a:bodyPr/>
          <a:lstStyle/>
          <a:p>
            <a:endParaRPr lang="en-NG"/>
          </a:p>
        </p:txBody>
      </p:sp>
      <p:sp>
        <p:nvSpPr>
          <p:cNvPr id="24" name="Text 22"/>
          <p:cNvSpPr/>
          <p:nvPr/>
        </p:nvSpPr>
        <p:spPr>
          <a:xfrm>
            <a:off x="4937760" y="2651760"/>
            <a:ext cx="3474720" cy="347472"/>
          </a:xfrm>
          <a:prstGeom prst="rect">
            <a:avLst/>
          </a:prstGeom>
          <a:noFill/>
          <a:ln/>
        </p:spPr>
        <p:txBody>
          <a:bodyPr wrap="square" lIns="0" tIns="0" rIns="0" bIns="0"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Enterprise Partnerships</a:t>
            </a:r>
            <a:endParaRPr lang="en-US" sz="1200" dirty="0"/>
          </a:p>
        </p:txBody>
      </p:sp>
      <p:sp>
        <p:nvSpPr>
          <p:cNvPr id="25" name="Text 23"/>
          <p:cNvSpPr/>
          <p:nvPr/>
        </p:nvSpPr>
        <p:spPr>
          <a:xfrm>
            <a:off x="457200" y="3566160"/>
            <a:ext cx="8229600" cy="457200"/>
          </a:xfrm>
          <a:prstGeom prst="rect">
            <a:avLst/>
          </a:prstGeom>
          <a:noFill/>
          <a:ln/>
        </p:spPr>
        <p:txBody>
          <a:bodyPr wrap="square" rtlCol="0" anchor="ctr"/>
          <a:lstStyle/>
          <a:p>
            <a:pPr marL="0" indent="0">
              <a:buNone/>
            </a:pPr>
            <a:r>
              <a:rPr lang="en-US" sz="1300" b="1" i="1" dirty="0">
                <a:solidFill>
                  <a:srgbClr val="2E7D52"/>
                </a:solidFill>
                <a:latin typeface="Calibri" pitchFamily="34" charset="0"/>
                <a:ea typeface="Calibri" pitchFamily="34" charset="-122"/>
                <a:cs typeface="Calibri" pitchFamily="34" charset="-120"/>
              </a:rPr>
              <a:t>The increasing complexity means our future growth depends less on technology and capital, and more on leadership capacity.</a:t>
            </a:r>
            <a:endParaRPr lang="en-US" sz="1300" dirty="0"/>
          </a:p>
        </p:txBody>
      </p:sp>
      <p:sp>
        <p:nvSpPr>
          <p:cNvPr id="26" name="Text 24"/>
          <p:cNvSpPr/>
          <p:nvPr/>
        </p:nvSpPr>
        <p:spPr>
          <a:xfrm>
            <a:off x="457200" y="4023360"/>
            <a:ext cx="8229600" cy="548640"/>
          </a:xfrm>
          <a:prstGeom prst="rect">
            <a:avLst/>
          </a:prstGeom>
          <a:noFill/>
          <a:ln/>
        </p:spPr>
        <p:txBody>
          <a:bodyPr wrap="square" rtlCol="0" anchor="ctr"/>
          <a:lstStyle/>
          <a:p>
            <a:pPr marL="0" indent="0">
              <a:lnSpc>
                <a:spcPct val="120000"/>
              </a:lnSpc>
              <a:buNone/>
            </a:pPr>
            <a:r>
              <a:rPr lang="en-US" sz="1200" dirty="0">
                <a:solidFill>
                  <a:srgbClr val="6B7280"/>
                </a:solidFill>
                <a:latin typeface="Calibri" pitchFamily="34" charset="0"/>
                <a:ea typeface="Calibri" pitchFamily="34" charset="-122"/>
                <a:cs typeface="Calibri" pitchFamily="34" charset="-120"/>
              </a:rPr>
              <a:t>We require leaders who can: think strategically, build teams, delegate effectively, empower others, make sound decisions, communicate clearly, lead through influence, and develop future leaders.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Why This Initiative Is Needed Now</a:t>
            </a:r>
            <a:endParaRPr lang="en-US" sz="2200" dirty="0"/>
          </a:p>
        </p:txBody>
      </p:sp>
      <p:sp>
        <p:nvSpPr>
          <p:cNvPr id="3" name="Shape 1"/>
          <p:cNvSpPr/>
          <p:nvPr/>
        </p:nvSpPr>
        <p:spPr>
          <a:xfrm>
            <a:off x="457200" y="1005840"/>
            <a:ext cx="2606040" cy="178308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4" name="Shape 2"/>
          <p:cNvSpPr/>
          <p:nvPr/>
        </p:nvSpPr>
        <p:spPr>
          <a:xfrm>
            <a:off x="457200" y="1005840"/>
            <a:ext cx="2606040" cy="36576"/>
          </a:xfrm>
          <a:prstGeom prst="rect">
            <a:avLst/>
          </a:prstGeom>
          <a:solidFill>
            <a:srgbClr val="2E7D52"/>
          </a:solidFill>
          <a:ln/>
        </p:spPr>
        <p:txBody>
          <a:bodyPr/>
          <a:lstStyle/>
          <a:p>
            <a:endParaRPr lang="en-NG"/>
          </a:p>
        </p:txBody>
      </p:sp>
      <p:sp>
        <p:nvSpPr>
          <p:cNvPr id="5" name="Text 3"/>
          <p:cNvSpPr/>
          <p:nvPr/>
        </p:nvSpPr>
        <p:spPr>
          <a:xfrm>
            <a:off x="594360" y="1143000"/>
            <a:ext cx="2331720" cy="32004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Hero Culture</a:t>
            </a:r>
            <a:endParaRPr lang="en-US" sz="1300" dirty="0"/>
          </a:p>
        </p:txBody>
      </p:sp>
      <p:sp>
        <p:nvSpPr>
          <p:cNvPr id="6" name="Text 4"/>
          <p:cNvSpPr/>
          <p:nvPr/>
        </p:nvSpPr>
        <p:spPr>
          <a:xfrm>
            <a:off x="594360" y="1508760"/>
            <a:ext cx="2331720" cy="1097280"/>
          </a:xfrm>
          <a:prstGeom prst="rect">
            <a:avLst/>
          </a:prstGeom>
          <a:noFill/>
          <a:ln/>
        </p:spPr>
        <p:txBody>
          <a:bodyPr wrap="square" lIns="0" tIns="0" rIns="0" bIns="0" rtlCol="0" anchor="t"/>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Too much knowledge concentrated in few individuals. Unsustainable for scaling.</a:t>
            </a:r>
            <a:endParaRPr lang="en-US" sz="1100" dirty="0"/>
          </a:p>
        </p:txBody>
      </p:sp>
      <p:sp>
        <p:nvSpPr>
          <p:cNvPr id="7" name="Shape 5"/>
          <p:cNvSpPr/>
          <p:nvPr/>
        </p:nvSpPr>
        <p:spPr>
          <a:xfrm>
            <a:off x="3291840" y="1005840"/>
            <a:ext cx="2606040" cy="178308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3291840" y="1005840"/>
            <a:ext cx="2606040" cy="36576"/>
          </a:xfrm>
          <a:prstGeom prst="rect">
            <a:avLst/>
          </a:prstGeom>
          <a:solidFill>
            <a:srgbClr val="2E7D52"/>
          </a:solidFill>
          <a:ln/>
        </p:spPr>
        <p:txBody>
          <a:bodyPr/>
          <a:lstStyle/>
          <a:p>
            <a:endParaRPr lang="en-NG"/>
          </a:p>
        </p:txBody>
      </p:sp>
      <p:sp>
        <p:nvSpPr>
          <p:cNvPr id="9" name="Text 7"/>
          <p:cNvSpPr/>
          <p:nvPr/>
        </p:nvSpPr>
        <p:spPr>
          <a:xfrm>
            <a:off x="3429000" y="1143000"/>
            <a:ext cx="2331720" cy="32004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Delegation Gaps</a:t>
            </a:r>
            <a:endParaRPr lang="en-US" sz="1300" dirty="0"/>
          </a:p>
        </p:txBody>
      </p:sp>
      <p:sp>
        <p:nvSpPr>
          <p:cNvPr id="10" name="Text 8"/>
          <p:cNvSpPr/>
          <p:nvPr/>
        </p:nvSpPr>
        <p:spPr>
          <a:xfrm>
            <a:off x="3429000" y="1508760"/>
            <a:ext cx="2331720" cy="1097280"/>
          </a:xfrm>
          <a:prstGeom prst="rect">
            <a:avLst/>
          </a:prstGeom>
          <a:noFill/>
          <a:ln/>
        </p:spPr>
        <p:txBody>
          <a:bodyPr wrap="square" lIns="0" tIns="0" rIns="0" bIns="0" rtlCol="0" anchor="t"/>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Managers executing tasks personally rather than achieving results through teams.</a:t>
            </a:r>
            <a:endParaRPr lang="en-US" sz="1100" dirty="0"/>
          </a:p>
        </p:txBody>
      </p:sp>
      <p:sp>
        <p:nvSpPr>
          <p:cNvPr id="11" name="Shape 9"/>
          <p:cNvSpPr/>
          <p:nvPr/>
        </p:nvSpPr>
        <p:spPr>
          <a:xfrm>
            <a:off x="6126480" y="1005840"/>
            <a:ext cx="2606040" cy="178308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2" name="Shape 10"/>
          <p:cNvSpPr/>
          <p:nvPr/>
        </p:nvSpPr>
        <p:spPr>
          <a:xfrm>
            <a:off x="6126480" y="1005840"/>
            <a:ext cx="2606040" cy="36576"/>
          </a:xfrm>
          <a:prstGeom prst="rect">
            <a:avLst/>
          </a:prstGeom>
          <a:solidFill>
            <a:srgbClr val="2E7D52"/>
          </a:solidFill>
          <a:ln/>
        </p:spPr>
        <p:txBody>
          <a:bodyPr/>
          <a:lstStyle/>
          <a:p>
            <a:endParaRPr lang="en-NG"/>
          </a:p>
        </p:txBody>
      </p:sp>
      <p:sp>
        <p:nvSpPr>
          <p:cNvPr id="13" name="Text 11"/>
          <p:cNvSpPr/>
          <p:nvPr/>
        </p:nvSpPr>
        <p:spPr>
          <a:xfrm>
            <a:off x="6263640" y="1143000"/>
            <a:ext cx="2331720" cy="32004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Communication Gaps</a:t>
            </a:r>
            <a:endParaRPr lang="en-US" sz="1300" dirty="0"/>
          </a:p>
        </p:txBody>
      </p:sp>
      <p:sp>
        <p:nvSpPr>
          <p:cNvPr id="14" name="Text 12"/>
          <p:cNvSpPr/>
          <p:nvPr/>
        </p:nvSpPr>
        <p:spPr>
          <a:xfrm>
            <a:off x="6263640" y="1508760"/>
            <a:ext cx="2331720" cy="1097280"/>
          </a:xfrm>
          <a:prstGeom prst="rect">
            <a:avLst/>
          </a:prstGeom>
          <a:noFill/>
          <a:ln/>
        </p:spPr>
        <p:txBody>
          <a:bodyPr wrap="square" lIns="0" tIns="0" rIns="0" bIns="0" rtlCol="0" anchor="t"/>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Information flow inconsistent as the org grows. Misaligned priorities.</a:t>
            </a:r>
            <a:endParaRPr lang="en-US" sz="1100" dirty="0"/>
          </a:p>
        </p:txBody>
      </p:sp>
      <p:sp>
        <p:nvSpPr>
          <p:cNvPr id="15" name="Shape 13"/>
          <p:cNvSpPr/>
          <p:nvPr/>
        </p:nvSpPr>
        <p:spPr>
          <a:xfrm>
            <a:off x="457200" y="2971800"/>
            <a:ext cx="2606040" cy="178308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6" name="Shape 14"/>
          <p:cNvSpPr/>
          <p:nvPr/>
        </p:nvSpPr>
        <p:spPr>
          <a:xfrm>
            <a:off x="457200" y="2971800"/>
            <a:ext cx="2606040" cy="36576"/>
          </a:xfrm>
          <a:prstGeom prst="rect">
            <a:avLst/>
          </a:prstGeom>
          <a:solidFill>
            <a:srgbClr val="2E7D52"/>
          </a:solidFill>
          <a:ln/>
        </p:spPr>
        <p:txBody>
          <a:bodyPr/>
          <a:lstStyle/>
          <a:p>
            <a:endParaRPr lang="en-NG"/>
          </a:p>
        </p:txBody>
      </p:sp>
      <p:sp>
        <p:nvSpPr>
          <p:cNvPr id="17" name="Text 15"/>
          <p:cNvSpPr/>
          <p:nvPr/>
        </p:nvSpPr>
        <p:spPr>
          <a:xfrm>
            <a:off x="594360" y="3108960"/>
            <a:ext cx="2331720" cy="32004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Ownership Gaps</a:t>
            </a:r>
            <a:endParaRPr lang="en-US" sz="1300" dirty="0"/>
          </a:p>
        </p:txBody>
      </p:sp>
      <p:sp>
        <p:nvSpPr>
          <p:cNvPr id="18" name="Text 16"/>
          <p:cNvSpPr/>
          <p:nvPr/>
        </p:nvSpPr>
        <p:spPr>
          <a:xfrm>
            <a:off x="594360" y="3474720"/>
            <a:ext cx="2331720" cy="1097280"/>
          </a:xfrm>
          <a:prstGeom prst="rect">
            <a:avLst/>
          </a:prstGeom>
          <a:noFill/>
          <a:ln/>
        </p:spPr>
        <p:txBody>
          <a:bodyPr wrap="square" lIns="0" tIns="0" rIns="0" bIns="0" rtlCol="0" anchor="t"/>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Critical initiatives lack clear accountability. Delayed execution.</a:t>
            </a:r>
            <a:endParaRPr lang="en-US" sz="1100" dirty="0"/>
          </a:p>
        </p:txBody>
      </p:sp>
      <p:sp>
        <p:nvSpPr>
          <p:cNvPr id="19" name="Shape 17"/>
          <p:cNvSpPr/>
          <p:nvPr/>
        </p:nvSpPr>
        <p:spPr>
          <a:xfrm>
            <a:off x="3291840" y="2971800"/>
            <a:ext cx="2606040" cy="178308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20" name="Shape 18"/>
          <p:cNvSpPr/>
          <p:nvPr/>
        </p:nvSpPr>
        <p:spPr>
          <a:xfrm>
            <a:off x="3291840" y="2971800"/>
            <a:ext cx="2606040" cy="36576"/>
          </a:xfrm>
          <a:prstGeom prst="rect">
            <a:avLst/>
          </a:prstGeom>
          <a:solidFill>
            <a:srgbClr val="2E7D52"/>
          </a:solidFill>
          <a:ln/>
        </p:spPr>
        <p:txBody>
          <a:bodyPr/>
          <a:lstStyle/>
          <a:p>
            <a:endParaRPr lang="en-NG"/>
          </a:p>
        </p:txBody>
      </p:sp>
      <p:sp>
        <p:nvSpPr>
          <p:cNvPr id="21" name="Text 19"/>
          <p:cNvSpPr/>
          <p:nvPr/>
        </p:nvSpPr>
        <p:spPr>
          <a:xfrm>
            <a:off x="3429000" y="3108960"/>
            <a:ext cx="2331720" cy="32004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Pipeline Risk</a:t>
            </a:r>
            <a:endParaRPr lang="en-US" sz="1300" dirty="0"/>
          </a:p>
        </p:txBody>
      </p:sp>
      <p:sp>
        <p:nvSpPr>
          <p:cNvPr id="22" name="Text 20"/>
          <p:cNvSpPr/>
          <p:nvPr/>
        </p:nvSpPr>
        <p:spPr>
          <a:xfrm>
            <a:off x="3429000" y="3474720"/>
            <a:ext cx="2331720" cy="1097280"/>
          </a:xfrm>
          <a:prstGeom prst="rect">
            <a:avLst/>
          </a:prstGeom>
          <a:noFill/>
          <a:ln/>
        </p:spPr>
        <p:txBody>
          <a:bodyPr wrap="square" lIns="0" tIns="0" rIns="0" bIns="0" rtlCol="0" anchor="t"/>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Future leaders not intentionally developed. Succession vulnerability.</a:t>
            </a:r>
            <a:endParaRPr lang="en-US" sz="1100" dirty="0"/>
          </a:p>
        </p:txBody>
      </p:sp>
      <p:sp>
        <p:nvSpPr>
          <p:cNvPr id="23" name="Shape 21"/>
          <p:cNvSpPr/>
          <p:nvPr/>
        </p:nvSpPr>
        <p:spPr>
          <a:xfrm>
            <a:off x="6126480" y="2971800"/>
            <a:ext cx="2606040" cy="178308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24" name="Shape 22"/>
          <p:cNvSpPr/>
          <p:nvPr/>
        </p:nvSpPr>
        <p:spPr>
          <a:xfrm>
            <a:off x="6126480" y="2971800"/>
            <a:ext cx="2606040" cy="36576"/>
          </a:xfrm>
          <a:prstGeom prst="rect">
            <a:avLst/>
          </a:prstGeom>
          <a:solidFill>
            <a:srgbClr val="2E7D52"/>
          </a:solidFill>
          <a:ln/>
        </p:spPr>
        <p:txBody>
          <a:bodyPr/>
          <a:lstStyle/>
          <a:p>
            <a:endParaRPr lang="en-NG"/>
          </a:p>
        </p:txBody>
      </p:sp>
      <p:sp>
        <p:nvSpPr>
          <p:cNvPr id="25" name="Text 23"/>
          <p:cNvSpPr/>
          <p:nvPr/>
        </p:nvSpPr>
        <p:spPr>
          <a:xfrm>
            <a:off x="6263640" y="3108960"/>
            <a:ext cx="2331720" cy="32004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Scaling Constraint</a:t>
            </a:r>
            <a:endParaRPr lang="en-US" sz="1300" dirty="0"/>
          </a:p>
        </p:txBody>
      </p:sp>
      <p:sp>
        <p:nvSpPr>
          <p:cNvPr id="26" name="Text 24"/>
          <p:cNvSpPr/>
          <p:nvPr/>
        </p:nvSpPr>
        <p:spPr>
          <a:xfrm>
            <a:off x="6263640" y="3474720"/>
            <a:ext cx="2331720" cy="1097280"/>
          </a:xfrm>
          <a:prstGeom prst="rect">
            <a:avLst/>
          </a:prstGeom>
          <a:noFill/>
          <a:ln/>
        </p:spPr>
        <p:txBody>
          <a:bodyPr wrap="square" lIns="0" tIns="0" rIns="0" bIns="0" rtlCol="0" anchor="t"/>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Leadership capability not growing at pace with business complexity.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Why John Maxwell's 21 Irrefutable Laws</a:t>
            </a:r>
            <a:endParaRPr lang="en-US" sz="22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200" i="1" dirty="0">
                <a:solidFill>
                  <a:srgbClr val="6B7280"/>
                </a:solidFill>
              </a:rPr>
              <a:t>“Leadership is influence — nothing more, nothing less.”</a:t>
            </a:r>
            <a:endParaRPr lang="en-US" sz="1200" dirty="0"/>
          </a:p>
        </p:txBody>
      </p:sp>
      <p:sp>
        <p:nvSpPr>
          <p:cNvPr id="4" name="Shape 2"/>
          <p:cNvSpPr/>
          <p:nvPr/>
        </p:nvSpPr>
        <p:spPr>
          <a:xfrm>
            <a:off x="457200" y="1188720"/>
            <a:ext cx="8229600" cy="7772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188720"/>
            <a:ext cx="54864" cy="777240"/>
          </a:xfrm>
          <a:prstGeom prst="rect">
            <a:avLst/>
          </a:prstGeom>
          <a:solidFill>
            <a:srgbClr val="D4AF37"/>
          </a:solidFill>
          <a:ln/>
        </p:spPr>
        <p:txBody>
          <a:bodyPr/>
          <a:lstStyle/>
          <a:p>
            <a:endParaRPr lang="en-NG"/>
          </a:p>
        </p:txBody>
      </p:sp>
      <p:sp>
        <p:nvSpPr>
          <p:cNvPr id="6" name="Text 4"/>
          <p:cNvSpPr/>
          <p:nvPr/>
        </p:nvSpPr>
        <p:spPr>
          <a:xfrm>
            <a:off x="685800" y="1261872"/>
            <a:ext cx="7772400" cy="27432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Practicality &amp; Simplicity</a:t>
            </a:r>
            <a:endParaRPr lang="en-US" sz="1300" dirty="0"/>
          </a:p>
        </p:txBody>
      </p:sp>
      <p:sp>
        <p:nvSpPr>
          <p:cNvPr id="7" name="Text 5"/>
          <p:cNvSpPr/>
          <p:nvPr/>
        </p:nvSpPr>
        <p:spPr>
          <a:xfrm>
            <a:off x="685800" y="1554480"/>
            <a:ext cx="7772400" cy="32004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Distills complex leadership concepts into actionable, immediately applicable principles.</a:t>
            </a:r>
            <a:endParaRPr lang="en-US" sz="1150" dirty="0"/>
          </a:p>
        </p:txBody>
      </p:sp>
      <p:sp>
        <p:nvSpPr>
          <p:cNvPr id="8" name="Shape 6"/>
          <p:cNvSpPr/>
          <p:nvPr/>
        </p:nvSpPr>
        <p:spPr>
          <a:xfrm>
            <a:off x="457200" y="2103120"/>
            <a:ext cx="8229600" cy="77724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9" name="Shape 7"/>
          <p:cNvSpPr/>
          <p:nvPr/>
        </p:nvSpPr>
        <p:spPr>
          <a:xfrm>
            <a:off x="457200" y="2103120"/>
            <a:ext cx="54864" cy="777240"/>
          </a:xfrm>
          <a:prstGeom prst="rect">
            <a:avLst/>
          </a:prstGeom>
          <a:solidFill>
            <a:srgbClr val="D4AF37"/>
          </a:solidFill>
          <a:ln/>
        </p:spPr>
        <p:txBody>
          <a:bodyPr/>
          <a:lstStyle/>
          <a:p>
            <a:endParaRPr lang="en-NG"/>
          </a:p>
        </p:txBody>
      </p:sp>
      <p:sp>
        <p:nvSpPr>
          <p:cNvPr id="10" name="Text 8"/>
          <p:cNvSpPr/>
          <p:nvPr/>
        </p:nvSpPr>
        <p:spPr>
          <a:xfrm>
            <a:off x="685800" y="2176272"/>
            <a:ext cx="7772400" cy="27432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Universal Applicability</a:t>
            </a:r>
            <a:endParaRPr lang="en-US" sz="1300" dirty="0"/>
          </a:p>
        </p:txBody>
      </p:sp>
      <p:sp>
        <p:nvSpPr>
          <p:cNvPr id="11" name="Text 9"/>
          <p:cNvSpPr/>
          <p:nvPr/>
        </p:nvSpPr>
        <p:spPr>
          <a:xfrm>
            <a:off x="685800" y="2468880"/>
            <a:ext cx="7772400" cy="32004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Works across all levels and business units. Creates a common leadership language for Sapphire.</a:t>
            </a:r>
            <a:endParaRPr lang="en-US" sz="1150" dirty="0"/>
          </a:p>
        </p:txBody>
      </p:sp>
      <p:sp>
        <p:nvSpPr>
          <p:cNvPr id="12" name="Shape 10"/>
          <p:cNvSpPr/>
          <p:nvPr/>
        </p:nvSpPr>
        <p:spPr>
          <a:xfrm>
            <a:off x="457200" y="3017520"/>
            <a:ext cx="8229600" cy="7772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57200" y="3017520"/>
            <a:ext cx="54864" cy="777240"/>
          </a:xfrm>
          <a:prstGeom prst="rect">
            <a:avLst/>
          </a:prstGeom>
          <a:solidFill>
            <a:srgbClr val="D4AF37"/>
          </a:solidFill>
          <a:ln/>
        </p:spPr>
        <p:txBody>
          <a:bodyPr/>
          <a:lstStyle/>
          <a:p>
            <a:endParaRPr lang="en-NG"/>
          </a:p>
        </p:txBody>
      </p:sp>
      <p:sp>
        <p:nvSpPr>
          <p:cNvPr id="14" name="Text 12"/>
          <p:cNvSpPr/>
          <p:nvPr/>
        </p:nvSpPr>
        <p:spPr>
          <a:xfrm>
            <a:off x="685800" y="3090672"/>
            <a:ext cx="7772400" cy="27432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Business Relevance</a:t>
            </a:r>
            <a:endParaRPr lang="en-US" sz="1300" dirty="0"/>
          </a:p>
        </p:txBody>
      </p:sp>
      <p:sp>
        <p:nvSpPr>
          <p:cNvPr id="15" name="Text 13"/>
          <p:cNvSpPr/>
          <p:nvPr/>
        </p:nvSpPr>
        <p:spPr>
          <a:xfrm>
            <a:off x="685800" y="3383280"/>
            <a:ext cx="7772400" cy="32004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Directly addresses challenges of scaling: influence, process, navigation, momentum.</a:t>
            </a:r>
            <a:endParaRPr lang="en-US" sz="1150" dirty="0"/>
          </a:p>
        </p:txBody>
      </p:sp>
      <p:sp>
        <p:nvSpPr>
          <p:cNvPr id="16" name="Shape 14"/>
          <p:cNvSpPr/>
          <p:nvPr/>
        </p:nvSpPr>
        <p:spPr>
          <a:xfrm>
            <a:off x="457200" y="3931920"/>
            <a:ext cx="8229600" cy="77724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7" name="Shape 15"/>
          <p:cNvSpPr/>
          <p:nvPr/>
        </p:nvSpPr>
        <p:spPr>
          <a:xfrm>
            <a:off x="457200" y="3931920"/>
            <a:ext cx="54864" cy="777240"/>
          </a:xfrm>
          <a:prstGeom prst="rect">
            <a:avLst/>
          </a:prstGeom>
          <a:solidFill>
            <a:srgbClr val="D4AF37"/>
          </a:solidFill>
          <a:ln/>
        </p:spPr>
        <p:txBody>
          <a:bodyPr/>
          <a:lstStyle/>
          <a:p>
            <a:endParaRPr lang="en-NG"/>
          </a:p>
        </p:txBody>
      </p:sp>
      <p:sp>
        <p:nvSpPr>
          <p:cNvPr id="18" name="Text 16"/>
          <p:cNvSpPr/>
          <p:nvPr/>
        </p:nvSpPr>
        <p:spPr>
          <a:xfrm>
            <a:off x="685800" y="4005072"/>
            <a:ext cx="7772400" cy="27432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Emerging Leader Focus</a:t>
            </a:r>
            <a:endParaRPr lang="en-US" sz="1300" dirty="0"/>
          </a:p>
        </p:txBody>
      </p:sp>
      <p:sp>
        <p:nvSpPr>
          <p:cNvPr id="19" name="Text 17"/>
          <p:cNvSpPr/>
          <p:nvPr/>
        </p:nvSpPr>
        <p:spPr>
          <a:xfrm>
            <a:off x="685800" y="4297680"/>
            <a:ext cx="7772400" cy="32004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Comprehensive roadmap for the next generation — trust, empowerment, explosive growth.</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Program Objectives</a:t>
            </a:r>
            <a:endParaRPr lang="en-US" sz="22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At the conclusion of the SLA, participants will demonstrate measurable improvements in:</a:t>
            </a:r>
            <a:endParaRPr lang="en-US" sz="1200" dirty="0"/>
          </a:p>
        </p:txBody>
      </p:sp>
      <p:sp>
        <p:nvSpPr>
          <p:cNvPr id="4" name="Shape 2"/>
          <p:cNvSpPr/>
          <p:nvPr/>
        </p:nvSpPr>
        <p:spPr>
          <a:xfrm>
            <a:off x="457200" y="123444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234440"/>
            <a:ext cx="1508760" cy="36576"/>
          </a:xfrm>
          <a:prstGeom prst="rect">
            <a:avLst/>
          </a:prstGeom>
          <a:solidFill>
            <a:srgbClr val="2E7D52"/>
          </a:solidFill>
          <a:ln/>
        </p:spPr>
        <p:txBody>
          <a:bodyPr/>
          <a:lstStyle/>
          <a:p>
            <a:endParaRPr lang="en-NG"/>
          </a:p>
        </p:txBody>
      </p:sp>
      <p:sp>
        <p:nvSpPr>
          <p:cNvPr id="6" name="Text 4"/>
          <p:cNvSpPr/>
          <p:nvPr/>
        </p:nvSpPr>
        <p:spPr>
          <a:xfrm>
            <a:off x="548640" y="137160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548640" y="173736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Leadership Awareness</a:t>
            </a:r>
            <a:endParaRPr lang="en-US" sz="1200" dirty="0"/>
          </a:p>
        </p:txBody>
      </p:sp>
      <p:sp>
        <p:nvSpPr>
          <p:cNvPr id="8" name="Shape 6"/>
          <p:cNvSpPr/>
          <p:nvPr/>
        </p:nvSpPr>
        <p:spPr>
          <a:xfrm>
            <a:off x="2148840" y="123444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9" name="Shape 7"/>
          <p:cNvSpPr/>
          <p:nvPr/>
        </p:nvSpPr>
        <p:spPr>
          <a:xfrm>
            <a:off x="2148840" y="1234440"/>
            <a:ext cx="1508760" cy="36576"/>
          </a:xfrm>
          <a:prstGeom prst="rect">
            <a:avLst/>
          </a:prstGeom>
          <a:solidFill>
            <a:srgbClr val="2E7D52"/>
          </a:solidFill>
          <a:ln/>
        </p:spPr>
        <p:txBody>
          <a:bodyPr/>
          <a:lstStyle/>
          <a:p>
            <a:endParaRPr lang="en-NG"/>
          </a:p>
        </p:txBody>
      </p:sp>
      <p:sp>
        <p:nvSpPr>
          <p:cNvPr id="10" name="Text 8"/>
          <p:cNvSpPr/>
          <p:nvPr/>
        </p:nvSpPr>
        <p:spPr>
          <a:xfrm>
            <a:off x="2240280" y="137160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2240280" y="173736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Delegation</a:t>
            </a:r>
            <a:endParaRPr lang="en-US" sz="1200" dirty="0"/>
          </a:p>
        </p:txBody>
      </p:sp>
      <p:sp>
        <p:nvSpPr>
          <p:cNvPr id="12" name="Shape 10"/>
          <p:cNvSpPr/>
          <p:nvPr/>
        </p:nvSpPr>
        <p:spPr>
          <a:xfrm>
            <a:off x="3840480" y="123444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3840480" y="1234440"/>
            <a:ext cx="1508760" cy="36576"/>
          </a:xfrm>
          <a:prstGeom prst="rect">
            <a:avLst/>
          </a:prstGeom>
          <a:solidFill>
            <a:srgbClr val="2E7D52"/>
          </a:solidFill>
          <a:ln/>
        </p:spPr>
        <p:txBody>
          <a:bodyPr/>
          <a:lstStyle/>
          <a:p>
            <a:endParaRPr lang="en-NG"/>
          </a:p>
        </p:txBody>
      </p:sp>
      <p:sp>
        <p:nvSpPr>
          <p:cNvPr id="14" name="Text 12"/>
          <p:cNvSpPr/>
          <p:nvPr/>
        </p:nvSpPr>
        <p:spPr>
          <a:xfrm>
            <a:off x="3931920" y="137160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3931920" y="173736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Communication</a:t>
            </a:r>
            <a:endParaRPr lang="en-US" sz="1200" dirty="0"/>
          </a:p>
        </p:txBody>
      </p:sp>
      <p:sp>
        <p:nvSpPr>
          <p:cNvPr id="16" name="Shape 14"/>
          <p:cNvSpPr/>
          <p:nvPr/>
        </p:nvSpPr>
        <p:spPr>
          <a:xfrm>
            <a:off x="5532120" y="123444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17" name="Shape 15"/>
          <p:cNvSpPr/>
          <p:nvPr/>
        </p:nvSpPr>
        <p:spPr>
          <a:xfrm>
            <a:off x="5532120" y="1234440"/>
            <a:ext cx="1508760" cy="36576"/>
          </a:xfrm>
          <a:prstGeom prst="rect">
            <a:avLst/>
          </a:prstGeom>
          <a:solidFill>
            <a:srgbClr val="2E7D52"/>
          </a:solidFill>
          <a:ln/>
        </p:spPr>
        <p:txBody>
          <a:bodyPr/>
          <a:lstStyle/>
          <a:p>
            <a:endParaRPr lang="en-NG"/>
          </a:p>
        </p:txBody>
      </p:sp>
      <p:sp>
        <p:nvSpPr>
          <p:cNvPr id="18" name="Text 16"/>
          <p:cNvSpPr/>
          <p:nvPr/>
        </p:nvSpPr>
        <p:spPr>
          <a:xfrm>
            <a:off x="5623560" y="137160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5623560" y="173736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Decision Making</a:t>
            </a:r>
            <a:endParaRPr lang="en-US" sz="1200" dirty="0"/>
          </a:p>
        </p:txBody>
      </p:sp>
      <p:sp>
        <p:nvSpPr>
          <p:cNvPr id="20" name="Shape 18"/>
          <p:cNvSpPr/>
          <p:nvPr/>
        </p:nvSpPr>
        <p:spPr>
          <a:xfrm>
            <a:off x="7223760" y="123444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21" name="Shape 19"/>
          <p:cNvSpPr/>
          <p:nvPr/>
        </p:nvSpPr>
        <p:spPr>
          <a:xfrm>
            <a:off x="7223760" y="1234440"/>
            <a:ext cx="1508760" cy="36576"/>
          </a:xfrm>
          <a:prstGeom prst="rect">
            <a:avLst/>
          </a:prstGeom>
          <a:solidFill>
            <a:srgbClr val="2E7D52"/>
          </a:solidFill>
          <a:ln/>
        </p:spPr>
        <p:txBody>
          <a:bodyPr/>
          <a:lstStyle/>
          <a:p>
            <a:endParaRPr lang="en-NG"/>
          </a:p>
        </p:txBody>
      </p:sp>
      <p:sp>
        <p:nvSpPr>
          <p:cNvPr id="22" name="Text 20"/>
          <p:cNvSpPr/>
          <p:nvPr/>
        </p:nvSpPr>
        <p:spPr>
          <a:xfrm>
            <a:off x="7315200" y="137160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5</a:t>
            </a:r>
            <a:endParaRPr lang="en-US" sz="1600" dirty="0"/>
          </a:p>
        </p:txBody>
      </p:sp>
      <p:sp>
        <p:nvSpPr>
          <p:cNvPr id="23" name="Text 21"/>
          <p:cNvSpPr/>
          <p:nvPr/>
        </p:nvSpPr>
        <p:spPr>
          <a:xfrm>
            <a:off x="7315200" y="173736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Accountability</a:t>
            </a:r>
            <a:endParaRPr lang="en-US" sz="1200" dirty="0"/>
          </a:p>
        </p:txBody>
      </p:sp>
      <p:sp>
        <p:nvSpPr>
          <p:cNvPr id="24" name="Shape 22"/>
          <p:cNvSpPr/>
          <p:nvPr/>
        </p:nvSpPr>
        <p:spPr>
          <a:xfrm>
            <a:off x="457200" y="310896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25" name="Shape 23"/>
          <p:cNvSpPr/>
          <p:nvPr/>
        </p:nvSpPr>
        <p:spPr>
          <a:xfrm>
            <a:off x="457200" y="3108960"/>
            <a:ext cx="1508760" cy="36576"/>
          </a:xfrm>
          <a:prstGeom prst="rect">
            <a:avLst/>
          </a:prstGeom>
          <a:solidFill>
            <a:srgbClr val="D4AF37"/>
          </a:solidFill>
          <a:ln/>
        </p:spPr>
        <p:txBody>
          <a:bodyPr/>
          <a:lstStyle/>
          <a:p>
            <a:endParaRPr lang="en-NG"/>
          </a:p>
        </p:txBody>
      </p:sp>
      <p:sp>
        <p:nvSpPr>
          <p:cNvPr id="26" name="Text 24"/>
          <p:cNvSpPr/>
          <p:nvPr/>
        </p:nvSpPr>
        <p:spPr>
          <a:xfrm>
            <a:off x="548640" y="324612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548640" y="361188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Stakeholder Management</a:t>
            </a:r>
            <a:endParaRPr lang="en-US" sz="1200" dirty="0"/>
          </a:p>
        </p:txBody>
      </p:sp>
      <p:sp>
        <p:nvSpPr>
          <p:cNvPr id="28" name="Shape 26"/>
          <p:cNvSpPr/>
          <p:nvPr/>
        </p:nvSpPr>
        <p:spPr>
          <a:xfrm>
            <a:off x="2148840" y="310896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29" name="Shape 27"/>
          <p:cNvSpPr/>
          <p:nvPr/>
        </p:nvSpPr>
        <p:spPr>
          <a:xfrm>
            <a:off x="2148840" y="3108960"/>
            <a:ext cx="1508760" cy="36576"/>
          </a:xfrm>
          <a:prstGeom prst="rect">
            <a:avLst/>
          </a:prstGeom>
          <a:solidFill>
            <a:srgbClr val="D4AF37"/>
          </a:solidFill>
          <a:ln/>
        </p:spPr>
        <p:txBody>
          <a:bodyPr/>
          <a:lstStyle/>
          <a:p>
            <a:endParaRPr lang="en-NG"/>
          </a:p>
        </p:txBody>
      </p:sp>
      <p:sp>
        <p:nvSpPr>
          <p:cNvPr id="30" name="Text 28"/>
          <p:cNvSpPr/>
          <p:nvPr/>
        </p:nvSpPr>
        <p:spPr>
          <a:xfrm>
            <a:off x="2240280" y="324612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7</a:t>
            </a:r>
            <a:endParaRPr lang="en-US" sz="1600" dirty="0"/>
          </a:p>
        </p:txBody>
      </p:sp>
      <p:sp>
        <p:nvSpPr>
          <p:cNvPr id="31" name="Text 29"/>
          <p:cNvSpPr/>
          <p:nvPr/>
        </p:nvSpPr>
        <p:spPr>
          <a:xfrm>
            <a:off x="2240280" y="361188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Team Development</a:t>
            </a:r>
            <a:endParaRPr lang="en-US" sz="1200" dirty="0"/>
          </a:p>
        </p:txBody>
      </p:sp>
      <p:sp>
        <p:nvSpPr>
          <p:cNvPr id="32" name="Shape 30"/>
          <p:cNvSpPr/>
          <p:nvPr/>
        </p:nvSpPr>
        <p:spPr>
          <a:xfrm>
            <a:off x="3840480" y="310896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33" name="Shape 31"/>
          <p:cNvSpPr/>
          <p:nvPr/>
        </p:nvSpPr>
        <p:spPr>
          <a:xfrm>
            <a:off x="3840480" y="3108960"/>
            <a:ext cx="1508760" cy="36576"/>
          </a:xfrm>
          <a:prstGeom prst="rect">
            <a:avLst/>
          </a:prstGeom>
          <a:solidFill>
            <a:srgbClr val="D4AF37"/>
          </a:solidFill>
          <a:ln/>
        </p:spPr>
        <p:txBody>
          <a:bodyPr/>
          <a:lstStyle/>
          <a:p>
            <a:endParaRPr lang="en-NG"/>
          </a:p>
        </p:txBody>
      </p:sp>
      <p:sp>
        <p:nvSpPr>
          <p:cNvPr id="34" name="Text 32"/>
          <p:cNvSpPr/>
          <p:nvPr/>
        </p:nvSpPr>
        <p:spPr>
          <a:xfrm>
            <a:off x="3931920" y="324612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8</a:t>
            </a:r>
            <a:endParaRPr lang="en-US" sz="1600" dirty="0"/>
          </a:p>
        </p:txBody>
      </p:sp>
      <p:sp>
        <p:nvSpPr>
          <p:cNvPr id="35" name="Text 33"/>
          <p:cNvSpPr/>
          <p:nvPr/>
        </p:nvSpPr>
        <p:spPr>
          <a:xfrm>
            <a:off x="3931920" y="361188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Coaching</a:t>
            </a:r>
            <a:endParaRPr lang="en-US" sz="1200" dirty="0"/>
          </a:p>
        </p:txBody>
      </p:sp>
      <p:sp>
        <p:nvSpPr>
          <p:cNvPr id="36" name="Shape 34"/>
          <p:cNvSpPr/>
          <p:nvPr/>
        </p:nvSpPr>
        <p:spPr>
          <a:xfrm>
            <a:off x="5532120" y="310896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37" name="Shape 35"/>
          <p:cNvSpPr/>
          <p:nvPr/>
        </p:nvSpPr>
        <p:spPr>
          <a:xfrm>
            <a:off x="5532120" y="3108960"/>
            <a:ext cx="1508760" cy="36576"/>
          </a:xfrm>
          <a:prstGeom prst="rect">
            <a:avLst/>
          </a:prstGeom>
          <a:solidFill>
            <a:srgbClr val="D4AF37"/>
          </a:solidFill>
          <a:ln/>
        </p:spPr>
        <p:txBody>
          <a:bodyPr/>
          <a:lstStyle/>
          <a:p>
            <a:endParaRPr lang="en-NG"/>
          </a:p>
        </p:txBody>
      </p:sp>
      <p:sp>
        <p:nvSpPr>
          <p:cNvPr id="38" name="Text 36"/>
          <p:cNvSpPr/>
          <p:nvPr/>
        </p:nvSpPr>
        <p:spPr>
          <a:xfrm>
            <a:off x="5623560" y="324612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9</a:t>
            </a:r>
            <a:endParaRPr lang="en-US" sz="1600" dirty="0"/>
          </a:p>
        </p:txBody>
      </p:sp>
      <p:sp>
        <p:nvSpPr>
          <p:cNvPr id="39" name="Text 37"/>
          <p:cNvSpPr/>
          <p:nvPr/>
        </p:nvSpPr>
        <p:spPr>
          <a:xfrm>
            <a:off x="5623560" y="361188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Influence</a:t>
            </a:r>
            <a:endParaRPr lang="en-US" sz="1200" dirty="0"/>
          </a:p>
        </p:txBody>
      </p:sp>
      <p:sp>
        <p:nvSpPr>
          <p:cNvPr id="40" name="Shape 38"/>
          <p:cNvSpPr/>
          <p:nvPr/>
        </p:nvSpPr>
        <p:spPr>
          <a:xfrm>
            <a:off x="7223760" y="3108960"/>
            <a:ext cx="1508760" cy="16459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NG"/>
          </a:p>
        </p:txBody>
      </p:sp>
      <p:sp>
        <p:nvSpPr>
          <p:cNvPr id="41" name="Shape 39"/>
          <p:cNvSpPr/>
          <p:nvPr/>
        </p:nvSpPr>
        <p:spPr>
          <a:xfrm>
            <a:off x="7223760" y="3108960"/>
            <a:ext cx="1508760" cy="36576"/>
          </a:xfrm>
          <a:prstGeom prst="rect">
            <a:avLst/>
          </a:prstGeom>
          <a:solidFill>
            <a:srgbClr val="D4AF37"/>
          </a:solidFill>
          <a:ln/>
        </p:spPr>
        <p:txBody>
          <a:bodyPr/>
          <a:lstStyle/>
          <a:p>
            <a:endParaRPr lang="en-NG"/>
          </a:p>
        </p:txBody>
      </p:sp>
      <p:sp>
        <p:nvSpPr>
          <p:cNvPr id="42" name="Text 40"/>
          <p:cNvSpPr/>
          <p:nvPr/>
        </p:nvSpPr>
        <p:spPr>
          <a:xfrm>
            <a:off x="7315200" y="3246120"/>
            <a:ext cx="320040" cy="320040"/>
          </a:xfrm>
          <a:prstGeom prst="rect">
            <a:avLst/>
          </a:prstGeom>
          <a:noFill/>
          <a:ln/>
        </p:spPr>
        <p:txBody>
          <a:bodyPr wrap="square" lIns="0" tIns="0" rIns="0" bIns="0" rtlCol="0" anchor="ctr"/>
          <a:lstStyle/>
          <a:p>
            <a:pPr marL="0" indent="0">
              <a:buNone/>
            </a:pPr>
            <a:r>
              <a:rPr lang="en-US" sz="1600" b="1" dirty="0">
                <a:solidFill>
                  <a:srgbClr val="2E7D52"/>
                </a:solidFill>
                <a:latin typeface="Georgia" pitchFamily="34" charset="0"/>
                <a:ea typeface="Georgia" pitchFamily="34" charset="-122"/>
                <a:cs typeface="Georgia" pitchFamily="34" charset="-120"/>
              </a:rPr>
              <a:t>10</a:t>
            </a:r>
            <a:endParaRPr lang="en-US" sz="1600" dirty="0"/>
          </a:p>
        </p:txBody>
      </p:sp>
      <p:sp>
        <p:nvSpPr>
          <p:cNvPr id="43" name="Text 41"/>
          <p:cNvSpPr/>
          <p:nvPr/>
        </p:nvSpPr>
        <p:spPr>
          <a:xfrm>
            <a:off x="7315200" y="3611880"/>
            <a:ext cx="1325880" cy="1005840"/>
          </a:xfrm>
          <a:prstGeom prst="rect">
            <a:avLst/>
          </a:prstGeom>
          <a:noFill/>
          <a:ln/>
        </p:spPr>
        <p:txBody>
          <a:bodyPr wrap="square" lIns="0" tIns="0" rIns="0" bIns="0" rtlCol="0" anchor="t"/>
          <a:lstStyle/>
          <a:p>
            <a:pPr marL="0" indent="0">
              <a:buNone/>
            </a:pPr>
            <a:r>
              <a:rPr lang="en-US" sz="1200" b="1" dirty="0">
                <a:solidFill>
                  <a:srgbClr val="1B3A2D"/>
                </a:solidFill>
                <a:latin typeface="Calibri" pitchFamily="34" charset="0"/>
                <a:ea typeface="Calibri" pitchFamily="34" charset="-122"/>
                <a:cs typeface="Calibri" pitchFamily="34" charset="-120"/>
              </a:rPr>
              <a:t>Execution Excellence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June 2026 Cohort  —  20 Participants</a:t>
            </a:r>
            <a:endParaRPr lang="en-US" sz="22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Sapphire’s next-generation leadership bench. High-potential talent crucial to our future success.</a:t>
            </a:r>
            <a:endParaRPr lang="en-US" sz="1200" dirty="0"/>
          </a:p>
        </p:txBody>
      </p:sp>
      <p:sp>
        <p:nvSpPr>
          <p:cNvPr id="4" name="Shape 2"/>
          <p:cNvSpPr/>
          <p:nvPr/>
        </p:nvSpPr>
        <p:spPr>
          <a:xfrm>
            <a:off x="457200" y="11887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5" name="Text 3"/>
          <p:cNvSpPr/>
          <p:nvPr/>
        </p:nvSpPr>
        <p:spPr>
          <a:xfrm>
            <a:off x="457200" y="11887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Lilian</a:t>
            </a:r>
            <a:endParaRPr lang="en-US" sz="1200" dirty="0"/>
          </a:p>
        </p:txBody>
      </p:sp>
      <p:sp>
        <p:nvSpPr>
          <p:cNvPr id="6" name="Shape 4"/>
          <p:cNvSpPr/>
          <p:nvPr/>
        </p:nvSpPr>
        <p:spPr>
          <a:xfrm>
            <a:off x="2148840" y="11887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2148840" y="11887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Jide</a:t>
            </a:r>
            <a:endParaRPr lang="en-US" sz="1200" dirty="0"/>
          </a:p>
        </p:txBody>
      </p:sp>
      <p:sp>
        <p:nvSpPr>
          <p:cNvPr id="8" name="Shape 6"/>
          <p:cNvSpPr/>
          <p:nvPr/>
        </p:nvSpPr>
        <p:spPr>
          <a:xfrm>
            <a:off x="3840480" y="11887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3840480" y="11887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Dolapo</a:t>
            </a:r>
            <a:endParaRPr lang="en-US" sz="1200" dirty="0"/>
          </a:p>
        </p:txBody>
      </p:sp>
      <p:sp>
        <p:nvSpPr>
          <p:cNvPr id="10" name="Shape 8"/>
          <p:cNvSpPr/>
          <p:nvPr/>
        </p:nvSpPr>
        <p:spPr>
          <a:xfrm>
            <a:off x="5532120" y="11887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532120" y="11887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Seyi</a:t>
            </a:r>
            <a:endParaRPr lang="en-US" sz="1200" dirty="0"/>
          </a:p>
        </p:txBody>
      </p:sp>
      <p:sp>
        <p:nvSpPr>
          <p:cNvPr id="12" name="Shape 10"/>
          <p:cNvSpPr/>
          <p:nvPr/>
        </p:nvSpPr>
        <p:spPr>
          <a:xfrm>
            <a:off x="7223760" y="11887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13" name="Text 11"/>
          <p:cNvSpPr/>
          <p:nvPr/>
        </p:nvSpPr>
        <p:spPr>
          <a:xfrm>
            <a:off x="7223760" y="11887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Joshua</a:t>
            </a:r>
            <a:endParaRPr lang="en-US" sz="1200" dirty="0"/>
          </a:p>
        </p:txBody>
      </p:sp>
      <p:sp>
        <p:nvSpPr>
          <p:cNvPr id="14" name="Shape 12"/>
          <p:cNvSpPr/>
          <p:nvPr/>
        </p:nvSpPr>
        <p:spPr>
          <a:xfrm>
            <a:off x="457200" y="21031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15" name="Text 13"/>
          <p:cNvSpPr/>
          <p:nvPr/>
        </p:nvSpPr>
        <p:spPr>
          <a:xfrm>
            <a:off x="457200" y="21031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Titi</a:t>
            </a:r>
            <a:endParaRPr lang="en-US" sz="1200" dirty="0"/>
          </a:p>
        </p:txBody>
      </p:sp>
      <p:sp>
        <p:nvSpPr>
          <p:cNvPr id="16" name="Shape 14"/>
          <p:cNvSpPr/>
          <p:nvPr/>
        </p:nvSpPr>
        <p:spPr>
          <a:xfrm>
            <a:off x="2148840" y="21031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17" name="Text 15"/>
          <p:cNvSpPr/>
          <p:nvPr/>
        </p:nvSpPr>
        <p:spPr>
          <a:xfrm>
            <a:off x="2148840" y="21031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Nnena</a:t>
            </a:r>
            <a:endParaRPr lang="en-US" sz="1200" dirty="0"/>
          </a:p>
        </p:txBody>
      </p:sp>
      <p:sp>
        <p:nvSpPr>
          <p:cNvPr id="18" name="Shape 16"/>
          <p:cNvSpPr/>
          <p:nvPr/>
        </p:nvSpPr>
        <p:spPr>
          <a:xfrm>
            <a:off x="3840480" y="21031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19" name="Text 17"/>
          <p:cNvSpPr/>
          <p:nvPr/>
        </p:nvSpPr>
        <p:spPr>
          <a:xfrm>
            <a:off x="3840480" y="21031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Chinyere</a:t>
            </a:r>
            <a:endParaRPr lang="en-US" sz="1200" dirty="0"/>
          </a:p>
        </p:txBody>
      </p:sp>
      <p:sp>
        <p:nvSpPr>
          <p:cNvPr id="20" name="Shape 18"/>
          <p:cNvSpPr/>
          <p:nvPr/>
        </p:nvSpPr>
        <p:spPr>
          <a:xfrm>
            <a:off x="5532120" y="21031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21" name="Text 19"/>
          <p:cNvSpPr/>
          <p:nvPr/>
        </p:nvSpPr>
        <p:spPr>
          <a:xfrm>
            <a:off x="5532120" y="21031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Yemisi</a:t>
            </a:r>
            <a:endParaRPr lang="en-US" sz="1200" dirty="0"/>
          </a:p>
        </p:txBody>
      </p:sp>
      <p:sp>
        <p:nvSpPr>
          <p:cNvPr id="22" name="Shape 20"/>
          <p:cNvSpPr/>
          <p:nvPr/>
        </p:nvSpPr>
        <p:spPr>
          <a:xfrm>
            <a:off x="7223760" y="21031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23" name="Text 21"/>
          <p:cNvSpPr/>
          <p:nvPr/>
        </p:nvSpPr>
        <p:spPr>
          <a:xfrm>
            <a:off x="7223760" y="21031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Gabriel</a:t>
            </a:r>
            <a:endParaRPr lang="en-US" sz="1200" dirty="0"/>
          </a:p>
        </p:txBody>
      </p:sp>
      <p:sp>
        <p:nvSpPr>
          <p:cNvPr id="24" name="Shape 22"/>
          <p:cNvSpPr/>
          <p:nvPr/>
        </p:nvSpPr>
        <p:spPr>
          <a:xfrm>
            <a:off x="457200" y="30175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25" name="Text 23"/>
          <p:cNvSpPr/>
          <p:nvPr/>
        </p:nvSpPr>
        <p:spPr>
          <a:xfrm>
            <a:off x="457200" y="30175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Ajayi</a:t>
            </a:r>
            <a:endParaRPr lang="en-US" sz="1200" dirty="0"/>
          </a:p>
        </p:txBody>
      </p:sp>
      <p:sp>
        <p:nvSpPr>
          <p:cNvPr id="26" name="Shape 24"/>
          <p:cNvSpPr/>
          <p:nvPr/>
        </p:nvSpPr>
        <p:spPr>
          <a:xfrm>
            <a:off x="2148840" y="30175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27" name="Text 25"/>
          <p:cNvSpPr/>
          <p:nvPr/>
        </p:nvSpPr>
        <p:spPr>
          <a:xfrm>
            <a:off x="2148840" y="30175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Babatunde</a:t>
            </a:r>
            <a:endParaRPr lang="en-US" sz="1200" dirty="0"/>
          </a:p>
        </p:txBody>
      </p:sp>
      <p:sp>
        <p:nvSpPr>
          <p:cNvPr id="28" name="Shape 26"/>
          <p:cNvSpPr/>
          <p:nvPr/>
        </p:nvSpPr>
        <p:spPr>
          <a:xfrm>
            <a:off x="3840480" y="30175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29" name="Text 27"/>
          <p:cNvSpPr/>
          <p:nvPr/>
        </p:nvSpPr>
        <p:spPr>
          <a:xfrm>
            <a:off x="3840480" y="30175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Chile</a:t>
            </a:r>
            <a:endParaRPr lang="en-US" sz="1200" dirty="0"/>
          </a:p>
        </p:txBody>
      </p:sp>
      <p:sp>
        <p:nvSpPr>
          <p:cNvPr id="30" name="Shape 28"/>
          <p:cNvSpPr/>
          <p:nvPr/>
        </p:nvSpPr>
        <p:spPr>
          <a:xfrm>
            <a:off x="5532120" y="30175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31" name="Text 29"/>
          <p:cNvSpPr/>
          <p:nvPr/>
        </p:nvSpPr>
        <p:spPr>
          <a:xfrm>
            <a:off x="5532120" y="30175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Mohammed</a:t>
            </a:r>
            <a:endParaRPr lang="en-US" sz="1200" dirty="0"/>
          </a:p>
        </p:txBody>
      </p:sp>
      <p:sp>
        <p:nvSpPr>
          <p:cNvPr id="32" name="Shape 30"/>
          <p:cNvSpPr/>
          <p:nvPr/>
        </p:nvSpPr>
        <p:spPr>
          <a:xfrm>
            <a:off x="7223760" y="30175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33" name="Text 31"/>
          <p:cNvSpPr/>
          <p:nvPr/>
        </p:nvSpPr>
        <p:spPr>
          <a:xfrm>
            <a:off x="7223760" y="30175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Timileyin</a:t>
            </a:r>
            <a:endParaRPr lang="en-US" sz="1200" dirty="0"/>
          </a:p>
        </p:txBody>
      </p:sp>
      <p:sp>
        <p:nvSpPr>
          <p:cNvPr id="34" name="Shape 32"/>
          <p:cNvSpPr/>
          <p:nvPr/>
        </p:nvSpPr>
        <p:spPr>
          <a:xfrm>
            <a:off x="457200" y="39319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35" name="Text 33"/>
          <p:cNvSpPr/>
          <p:nvPr/>
        </p:nvSpPr>
        <p:spPr>
          <a:xfrm>
            <a:off x="457200" y="39319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Favour Akinyemi</a:t>
            </a:r>
            <a:endParaRPr lang="en-US" sz="1200" dirty="0"/>
          </a:p>
        </p:txBody>
      </p:sp>
      <p:sp>
        <p:nvSpPr>
          <p:cNvPr id="36" name="Shape 34"/>
          <p:cNvSpPr/>
          <p:nvPr/>
        </p:nvSpPr>
        <p:spPr>
          <a:xfrm>
            <a:off x="2148840" y="39319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37" name="Text 35"/>
          <p:cNvSpPr/>
          <p:nvPr/>
        </p:nvSpPr>
        <p:spPr>
          <a:xfrm>
            <a:off x="2148840" y="39319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Favour Timothy</a:t>
            </a:r>
            <a:endParaRPr lang="en-US" sz="1200" dirty="0"/>
          </a:p>
        </p:txBody>
      </p:sp>
      <p:sp>
        <p:nvSpPr>
          <p:cNvPr id="38" name="Shape 36"/>
          <p:cNvSpPr/>
          <p:nvPr/>
        </p:nvSpPr>
        <p:spPr>
          <a:xfrm>
            <a:off x="3840480" y="39319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39" name="Text 37"/>
          <p:cNvSpPr/>
          <p:nvPr/>
        </p:nvSpPr>
        <p:spPr>
          <a:xfrm>
            <a:off x="3840480" y="39319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Maureen</a:t>
            </a:r>
            <a:endParaRPr lang="en-US" sz="1200" dirty="0"/>
          </a:p>
        </p:txBody>
      </p:sp>
      <p:sp>
        <p:nvSpPr>
          <p:cNvPr id="40" name="Shape 38"/>
          <p:cNvSpPr/>
          <p:nvPr/>
        </p:nvSpPr>
        <p:spPr>
          <a:xfrm>
            <a:off x="5532120" y="39319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41" name="Text 39"/>
          <p:cNvSpPr/>
          <p:nvPr/>
        </p:nvSpPr>
        <p:spPr>
          <a:xfrm>
            <a:off x="5532120" y="39319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Yinka</a:t>
            </a:r>
            <a:endParaRPr lang="en-US" sz="1200" dirty="0"/>
          </a:p>
        </p:txBody>
      </p:sp>
      <p:sp>
        <p:nvSpPr>
          <p:cNvPr id="42" name="Shape 40"/>
          <p:cNvSpPr/>
          <p:nvPr/>
        </p:nvSpPr>
        <p:spPr>
          <a:xfrm>
            <a:off x="7223760" y="3931920"/>
            <a:ext cx="1508760" cy="73152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43" name="Text 41"/>
          <p:cNvSpPr/>
          <p:nvPr/>
        </p:nvSpPr>
        <p:spPr>
          <a:xfrm>
            <a:off x="7223760" y="3931920"/>
            <a:ext cx="1508760" cy="731520"/>
          </a:xfrm>
          <a:prstGeom prst="rect">
            <a:avLst/>
          </a:prstGeom>
          <a:noFill/>
          <a:ln/>
        </p:spPr>
        <p:txBody>
          <a:bodyPr wrap="square" rtlCol="0" anchor="ctr"/>
          <a:lstStyle/>
          <a:p>
            <a:pPr marL="0" indent="0" algn="ctr">
              <a:buNone/>
            </a:pPr>
            <a:r>
              <a:rPr lang="en-US" sz="1200" b="1" dirty="0">
                <a:solidFill>
                  <a:srgbClr val="1B3A2D"/>
                </a:solidFill>
                <a:latin typeface="Calibri" pitchFamily="34" charset="0"/>
                <a:ea typeface="Calibri" pitchFamily="34" charset="-122"/>
                <a:cs typeface="Calibri" pitchFamily="34" charset="-120"/>
              </a:rPr>
              <a:t>Efe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Executive Faculty  —  EXCO as Teachers</a:t>
            </a:r>
            <a:endParaRPr lang="en-US" sz="22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Leadership from the top down. Each EXCO member facilitates and mentors directly.</a:t>
            </a:r>
            <a:endParaRPr lang="en-US" sz="1200" dirty="0"/>
          </a:p>
        </p:txBody>
      </p:sp>
      <p:sp>
        <p:nvSpPr>
          <p:cNvPr id="4" name="Shape 2"/>
          <p:cNvSpPr/>
          <p:nvPr/>
        </p:nvSpPr>
        <p:spPr>
          <a:xfrm>
            <a:off x="457200" y="1188720"/>
            <a:ext cx="2606040" cy="17830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188720"/>
            <a:ext cx="2606040" cy="36576"/>
          </a:xfrm>
          <a:prstGeom prst="rect">
            <a:avLst/>
          </a:prstGeom>
          <a:solidFill>
            <a:srgbClr val="D4AF37"/>
          </a:solidFill>
          <a:ln/>
        </p:spPr>
        <p:txBody>
          <a:bodyPr/>
          <a:lstStyle/>
          <a:p>
            <a:endParaRPr lang="en-NG"/>
          </a:p>
        </p:txBody>
      </p:sp>
      <p:sp>
        <p:nvSpPr>
          <p:cNvPr id="6" name="Text 4"/>
          <p:cNvSpPr/>
          <p:nvPr/>
        </p:nvSpPr>
        <p:spPr>
          <a:xfrm>
            <a:off x="594360" y="1325880"/>
            <a:ext cx="23317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Dimeji Matesun</a:t>
            </a:r>
            <a:endParaRPr lang="en-US" sz="1400" dirty="0"/>
          </a:p>
        </p:txBody>
      </p:sp>
      <p:sp>
        <p:nvSpPr>
          <p:cNvPr id="7" name="Text 5"/>
          <p:cNvSpPr/>
          <p:nvPr/>
        </p:nvSpPr>
        <p:spPr>
          <a:xfrm>
            <a:off x="594360" y="1645920"/>
            <a:ext cx="233172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4 Laws</a:t>
            </a:r>
            <a:endParaRPr lang="en-US" sz="1100" dirty="0"/>
          </a:p>
        </p:txBody>
      </p:sp>
      <p:sp>
        <p:nvSpPr>
          <p:cNvPr id="8" name="Text 6"/>
          <p:cNvSpPr/>
          <p:nvPr/>
        </p:nvSpPr>
        <p:spPr>
          <a:xfrm>
            <a:off x="594360" y="1965960"/>
            <a:ext cx="2331720" cy="822960"/>
          </a:xfrm>
          <a:prstGeom prst="rect">
            <a:avLst/>
          </a:prstGeom>
          <a:noFill/>
          <a:ln/>
        </p:spPr>
        <p:txBody>
          <a:bodyPr wrap="square" lIns="0" tIns="0" rIns="0" bIns="0" rtlCol="0" anchor="t"/>
          <a:lstStyle/>
          <a:p>
            <a:pPr marL="0" indent="0">
              <a:lnSpc>
                <a:spcPct val="130000"/>
              </a:lnSpc>
              <a:buNone/>
            </a:pPr>
            <a:r>
              <a:rPr lang="en-US" sz="1050" dirty="0">
                <a:solidFill>
                  <a:srgbClr val="CCCCCC"/>
                </a:solidFill>
                <a:latin typeface="Calibri" pitchFamily="34" charset="0"/>
                <a:ea typeface="Calibri" pitchFamily="34" charset="-122"/>
                <a:cs typeface="Calibri" pitchFamily="34" charset="-120"/>
              </a:rPr>
              <a:t>The Lid • Navigation • Priorities • Legacy</a:t>
            </a:r>
            <a:endParaRPr lang="en-US" sz="1050" dirty="0"/>
          </a:p>
        </p:txBody>
      </p:sp>
      <p:sp>
        <p:nvSpPr>
          <p:cNvPr id="9" name="Shape 7"/>
          <p:cNvSpPr/>
          <p:nvPr/>
        </p:nvSpPr>
        <p:spPr>
          <a:xfrm>
            <a:off x="3291840" y="1188720"/>
            <a:ext cx="2606040" cy="17830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0" name="Shape 8"/>
          <p:cNvSpPr/>
          <p:nvPr/>
        </p:nvSpPr>
        <p:spPr>
          <a:xfrm>
            <a:off x="3291840" y="1188720"/>
            <a:ext cx="2606040" cy="36576"/>
          </a:xfrm>
          <a:prstGeom prst="rect">
            <a:avLst/>
          </a:prstGeom>
          <a:solidFill>
            <a:srgbClr val="D4AF37"/>
          </a:solidFill>
          <a:ln/>
        </p:spPr>
        <p:txBody>
          <a:bodyPr/>
          <a:lstStyle/>
          <a:p>
            <a:endParaRPr lang="en-NG"/>
          </a:p>
        </p:txBody>
      </p:sp>
      <p:sp>
        <p:nvSpPr>
          <p:cNvPr id="11" name="Text 9"/>
          <p:cNvSpPr/>
          <p:nvPr/>
        </p:nvSpPr>
        <p:spPr>
          <a:xfrm>
            <a:off x="3429000" y="1325880"/>
            <a:ext cx="23317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Dr Lola Matesun</a:t>
            </a:r>
            <a:endParaRPr lang="en-US" sz="1400" dirty="0"/>
          </a:p>
        </p:txBody>
      </p:sp>
      <p:sp>
        <p:nvSpPr>
          <p:cNvPr id="12" name="Text 10"/>
          <p:cNvSpPr/>
          <p:nvPr/>
        </p:nvSpPr>
        <p:spPr>
          <a:xfrm>
            <a:off x="3429000" y="1645920"/>
            <a:ext cx="233172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4 Laws</a:t>
            </a:r>
            <a:endParaRPr lang="en-US" sz="1100" dirty="0"/>
          </a:p>
        </p:txBody>
      </p:sp>
      <p:sp>
        <p:nvSpPr>
          <p:cNvPr id="13" name="Text 11"/>
          <p:cNvSpPr/>
          <p:nvPr/>
        </p:nvSpPr>
        <p:spPr>
          <a:xfrm>
            <a:off x="3429000" y="1965960"/>
            <a:ext cx="2331720" cy="822960"/>
          </a:xfrm>
          <a:prstGeom prst="rect">
            <a:avLst/>
          </a:prstGeom>
          <a:noFill/>
          <a:ln/>
        </p:spPr>
        <p:txBody>
          <a:bodyPr wrap="square" lIns="0" tIns="0" rIns="0" bIns="0" rtlCol="0" anchor="t"/>
          <a:lstStyle/>
          <a:p>
            <a:pPr marL="0" indent="0">
              <a:lnSpc>
                <a:spcPct val="130000"/>
              </a:lnSpc>
              <a:buNone/>
            </a:pPr>
            <a:r>
              <a:rPr lang="en-US" sz="1050" dirty="0">
                <a:solidFill>
                  <a:srgbClr val="CCCCCC"/>
                </a:solidFill>
                <a:latin typeface="Calibri" pitchFamily="34" charset="0"/>
                <a:ea typeface="Calibri" pitchFamily="34" charset="-122"/>
                <a:cs typeface="Calibri" pitchFamily="34" charset="-120"/>
              </a:rPr>
              <a:t>Influence • Respect • Connection • Empowerment</a:t>
            </a:r>
            <a:endParaRPr lang="en-US" sz="1050" dirty="0"/>
          </a:p>
        </p:txBody>
      </p:sp>
      <p:sp>
        <p:nvSpPr>
          <p:cNvPr id="14" name="Shape 12"/>
          <p:cNvSpPr/>
          <p:nvPr/>
        </p:nvSpPr>
        <p:spPr>
          <a:xfrm>
            <a:off x="6126480" y="1188720"/>
            <a:ext cx="2606040" cy="17830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5" name="Shape 13"/>
          <p:cNvSpPr/>
          <p:nvPr/>
        </p:nvSpPr>
        <p:spPr>
          <a:xfrm>
            <a:off x="6126480" y="1188720"/>
            <a:ext cx="2606040" cy="36576"/>
          </a:xfrm>
          <a:prstGeom prst="rect">
            <a:avLst/>
          </a:prstGeom>
          <a:solidFill>
            <a:srgbClr val="D4AF37"/>
          </a:solidFill>
          <a:ln/>
        </p:spPr>
        <p:txBody>
          <a:bodyPr/>
          <a:lstStyle/>
          <a:p>
            <a:endParaRPr lang="en-NG"/>
          </a:p>
        </p:txBody>
      </p:sp>
      <p:sp>
        <p:nvSpPr>
          <p:cNvPr id="16" name="Text 14"/>
          <p:cNvSpPr/>
          <p:nvPr/>
        </p:nvSpPr>
        <p:spPr>
          <a:xfrm>
            <a:off x="6263640" y="1325880"/>
            <a:ext cx="23317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Dotun</a:t>
            </a:r>
            <a:endParaRPr lang="en-US" sz="1400" dirty="0"/>
          </a:p>
        </p:txBody>
      </p:sp>
      <p:sp>
        <p:nvSpPr>
          <p:cNvPr id="17" name="Text 15"/>
          <p:cNvSpPr/>
          <p:nvPr/>
        </p:nvSpPr>
        <p:spPr>
          <a:xfrm>
            <a:off x="6263640" y="1645920"/>
            <a:ext cx="233172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3 Laws</a:t>
            </a:r>
            <a:endParaRPr lang="en-US" sz="1100" dirty="0"/>
          </a:p>
        </p:txBody>
      </p:sp>
      <p:sp>
        <p:nvSpPr>
          <p:cNvPr id="18" name="Text 16"/>
          <p:cNvSpPr/>
          <p:nvPr/>
        </p:nvSpPr>
        <p:spPr>
          <a:xfrm>
            <a:off x="6263640" y="1965960"/>
            <a:ext cx="2331720" cy="822960"/>
          </a:xfrm>
          <a:prstGeom prst="rect">
            <a:avLst/>
          </a:prstGeom>
          <a:noFill/>
          <a:ln/>
        </p:spPr>
        <p:txBody>
          <a:bodyPr wrap="square" lIns="0" tIns="0" rIns="0" bIns="0" rtlCol="0" anchor="t"/>
          <a:lstStyle/>
          <a:p>
            <a:pPr marL="0" indent="0">
              <a:lnSpc>
                <a:spcPct val="130000"/>
              </a:lnSpc>
              <a:buNone/>
            </a:pPr>
            <a:r>
              <a:rPr lang="en-US" sz="1050" dirty="0">
                <a:solidFill>
                  <a:srgbClr val="CCCCCC"/>
                </a:solidFill>
                <a:latin typeface="Calibri" pitchFamily="34" charset="0"/>
                <a:ea typeface="Calibri" pitchFamily="34" charset="-122"/>
                <a:cs typeface="Calibri" pitchFamily="34" charset="-120"/>
              </a:rPr>
              <a:t>Process • Buy-In • Addition</a:t>
            </a:r>
            <a:endParaRPr lang="en-US" sz="1050" dirty="0"/>
          </a:p>
        </p:txBody>
      </p:sp>
      <p:sp>
        <p:nvSpPr>
          <p:cNvPr id="19" name="Shape 17"/>
          <p:cNvSpPr/>
          <p:nvPr/>
        </p:nvSpPr>
        <p:spPr>
          <a:xfrm>
            <a:off x="457200" y="3154680"/>
            <a:ext cx="2606040" cy="17830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20" name="Shape 18"/>
          <p:cNvSpPr/>
          <p:nvPr/>
        </p:nvSpPr>
        <p:spPr>
          <a:xfrm>
            <a:off x="457200" y="3154680"/>
            <a:ext cx="2606040" cy="36576"/>
          </a:xfrm>
          <a:prstGeom prst="rect">
            <a:avLst/>
          </a:prstGeom>
          <a:solidFill>
            <a:srgbClr val="D4AF37"/>
          </a:solidFill>
          <a:ln/>
        </p:spPr>
        <p:txBody>
          <a:bodyPr/>
          <a:lstStyle/>
          <a:p>
            <a:endParaRPr lang="en-NG"/>
          </a:p>
        </p:txBody>
      </p:sp>
      <p:sp>
        <p:nvSpPr>
          <p:cNvPr id="21" name="Text 19"/>
          <p:cNvSpPr/>
          <p:nvPr/>
        </p:nvSpPr>
        <p:spPr>
          <a:xfrm>
            <a:off x="594360" y="3291840"/>
            <a:ext cx="23317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Wale</a:t>
            </a:r>
            <a:endParaRPr lang="en-US" sz="1400" dirty="0"/>
          </a:p>
        </p:txBody>
      </p:sp>
      <p:sp>
        <p:nvSpPr>
          <p:cNvPr id="22" name="Text 20"/>
          <p:cNvSpPr/>
          <p:nvPr/>
        </p:nvSpPr>
        <p:spPr>
          <a:xfrm>
            <a:off x="594360" y="3611880"/>
            <a:ext cx="233172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3 Laws</a:t>
            </a:r>
            <a:endParaRPr lang="en-US" sz="1100" dirty="0"/>
          </a:p>
        </p:txBody>
      </p:sp>
      <p:sp>
        <p:nvSpPr>
          <p:cNvPr id="23" name="Text 21"/>
          <p:cNvSpPr/>
          <p:nvPr/>
        </p:nvSpPr>
        <p:spPr>
          <a:xfrm>
            <a:off x="594360" y="3931920"/>
            <a:ext cx="2331720" cy="822960"/>
          </a:xfrm>
          <a:prstGeom prst="rect">
            <a:avLst/>
          </a:prstGeom>
          <a:noFill/>
          <a:ln/>
        </p:spPr>
        <p:txBody>
          <a:bodyPr wrap="square" lIns="0" tIns="0" rIns="0" bIns="0" rtlCol="0" anchor="t"/>
          <a:lstStyle/>
          <a:p>
            <a:pPr marL="0" indent="0">
              <a:lnSpc>
                <a:spcPct val="130000"/>
              </a:lnSpc>
              <a:buNone/>
            </a:pPr>
            <a:r>
              <a:rPr lang="en-US" sz="1050" dirty="0">
                <a:solidFill>
                  <a:srgbClr val="CCCCCC"/>
                </a:solidFill>
                <a:latin typeface="Calibri" pitchFamily="34" charset="0"/>
                <a:ea typeface="Calibri" pitchFamily="34" charset="-122"/>
                <a:cs typeface="Calibri" pitchFamily="34" charset="-120"/>
              </a:rPr>
              <a:t>Solid Ground • Sacrifice • Victory</a:t>
            </a:r>
            <a:endParaRPr lang="en-US" sz="1050" dirty="0"/>
          </a:p>
        </p:txBody>
      </p:sp>
      <p:sp>
        <p:nvSpPr>
          <p:cNvPr id="24" name="Shape 22"/>
          <p:cNvSpPr/>
          <p:nvPr/>
        </p:nvSpPr>
        <p:spPr>
          <a:xfrm>
            <a:off x="3291840" y="3154680"/>
            <a:ext cx="2606040" cy="17830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25" name="Shape 23"/>
          <p:cNvSpPr/>
          <p:nvPr/>
        </p:nvSpPr>
        <p:spPr>
          <a:xfrm>
            <a:off x="3291840" y="3154680"/>
            <a:ext cx="2606040" cy="36576"/>
          </a:xfrm>
          <a:prstGeom prst="rect">
            <a:avLst/>
          </a:prstGeom>
          <a:solidFill>
            <a:srgbClr val="D4AF37"/>
          </a:solidFill>
          <a:ln/>
        </p:spPr>
        <p:txBody>
          <a:bodyPr/>
          <a:lstStyle/>
          <a:p>
            <a:endParaRPr lang="en-NG"/>
          </a:p>
        </p:txBody>
      </p:sp>
      <p:sp>
        <p:nvSpPr>
          <p:cNvPr id="26" name="Text 24"/>
          <p:cNvSpPr/>
          <p:nvPr/>
        </p:nvSpPr>
        <p:spPr>
          <a:xfrm>
            <a:off x="3429000" y="3291840"/>
            <a:ext cx="23317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Ayo</a:t>
            </a:r>
            <a:endParaRPr lang="en-US" sz="1400" dirty="0"/>
          </a:p>
        </p:txBody>
      </p:sp>
      <p:sp>
        <p:nvSpPr>
          <p:cNvPr id="27" name="Text 25"/>
          <p:cNvSpPr/>
          <p:nvPr/>
        </p:nvSpPr>
        <p:spPr>
          <a:xfrm>
            <a:off x="3429000" y="3611880"/>
            <a:ext cx="233172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3 Laws</a:t>
            </a:r>
            <a:endParaRPr lang="en-US" sz="1100" dirty="0"/>
          </a:p>
        </p:txBody>
      </p:sp>
      <p:sp>
        <p:nvSpPr>
          <p:cNvPr id="28" name="Text 26"/>
          <p:cNvSpPr/>
          <p:nvPr/>
        </p:nvSpPr>
        <p:spPr>
          <a:xfrm>
            <a:off x="3429000" y="3931920"/>
            <a:ext cx="2331720" cy="822960"/>
          </a:xfrm>
          <a:prstGeom prst="rect">
            <a:avLst/>
          </a:prstGeom>
          <a:noFill/>
          <a:ln/>
        </p:spPr>
        <p:txBody>
          <a:bodyPr wrap="square" lIns="0" tIns="0" rIns="0" bIns="0" rtlCol="0" anchor="t"/>
          <a:lstStyle/>
          <a:p>
            <a:pPr marL="0" indent="0">
              <a:lnSpc>
                <a:spcPct val="130000"/>
              </a:lnSpc>
              <a:buNone/>
            </a:pPr>
            <a:r>
              <a:rPr lang="en-US" sz="1050" dirty="0">
                <a:solidFill>
                  <a:srgbClr val="CCCCCC"/>
                </a:solidFill>
                <a:latin typeface="Calibri" pitchFamily="34" charset="0"/>
                <a:ea typeface="Calibri" pitchFamily="34" charset="-122"/>
                <a:cs typeface="Calibri" pitchFamily="34" charset="-120"/>
              </a:rPr>
              <a:t>Intuition • Timing • Magnetism</a:t>
            </a:r>
            <a:endParaRPr lang="en-US" sz="1050" dirty="0"/>
          </a:p>
        </p:txBody>
      </p:sp>
      <p:sp>
        <p:nvSpPr>
          <p:cNvPr id="29" name="Shape 27"/>
          <p:cNvSpPr/>
          <p:nvPr/>
        </p:nvSpPr>
        <p:spPr>
          <a:xfrm>
            <a:off x="6126480" y="3154680"/>
            <a:ext cx="2606040" cy="17830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30" name="Shape 28"/>
          <p:cNvSpPr/>
          <p:nvPr/>
        </p:nvSpPr>
        <p:spPr>
          <a:xfrm>
            <a:off x="6126480" y="3154680"/>
            <a:ext cx="2606040" cy="36576"/>
          </a:xfrm>
          <a:prstGeom prst="rect">
            <a:avLst/>
          </a:prstGeom>
          <a:solidFill>
            <a:srgbClr val="D4AF37"/>
          </a:solidFill>
          <a:ln/>
        </p:spPr>
        <p:txBody>
          <a:bodyPr/>
          <a:lstStyle/>
          <a:p>
            <a:endParaRPr lang="en-NG"/>
          </a:p>
        </p:txBody>
      </p:sp>
      <p:sp>
        <p:nvSpPr>
          <p:cNvPr id="31" name="Text 29"/>
          <p:cNvSpPr/>
          <p:nvPr/>
        </p:nvSpPr>
        <p:spPr>
          <a:xfrm>
            <a:off x="6263640" y="3291840"/>
            <a:ext cx="233172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Leke</a:t>
            </a:r>
            <a:endParaRPr lang="en-US" sz="1400" dirty="0"/>
          </a:p>
        </p:txBody>
      </p:sp>
      <p:sp>
        <p:nvSpPr>
          <p:cNvPr id="32" name="Text 30"/>
          <p:cNvSpPr/>
          <p:nvPr/>
        </p:nvSpPr>
        <p:spPr>
          <a:xfrm>
            <a:off x="6263640" y="3611880"/>
            <a:ext cx="233172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4 Laws</a:t>
            </a:r>
            <a:endParaRPr lang="en-US" sz="1100" dirty="0"/>
          </a:p>
        </p:txBody>
      </p:sp>
      <p:sp>
        <p:nvSpPr>
          <p:cNvPr id="33" name="Text 31"/>
          <p:cNvSpPr/>
          <p:nvPr/>
        </p:nvSpPr>
        <p:spPr>
          <a:xfrm>
            <a:off x="6263640" y="3931920"/>
            <a:ext cx="2331720" cy="822960"/>
          </a:xfrm>
          <a:prstGeom prst="rect">
            <a:avLst/>
          </a:prstGeom>
          <a:noFill/>
          <a:ln/>
        </p:spPr>
        <p:txBody>
          <a:bodyPr wrap="square" lIns="0" tIns="0" rIns="0" bIns="0" rtlCol="0" anchor="t"/>
          <a:lstStyle/>
          <a:p>
            <a:pPr marL="0" indent="0">
              <a:lnSpc>
                <a:spcPct val="130000"/>
              </a:lnSpc>
              <a:buNone/>
            </a:pPr>
            <a:r>
              <a:rPr lang="en-US" sz="1050" dirty="0">
                <a:solidFill>
                  <a:srgbClr val="CCCCCC"/>
                </a:solidFill>
                <a:latin typeface="Calibri" pitchFamily="34" charset="0"/>
                <a:ea typeface="Calibri" pitchFamily="34" charset="-122"/>
                <a:cs typeface="Calibri" pitchFamily="34" charset="-120"/>
              </a:rPr>
              <a:t>Reproduction • Inner Circle • Explosive Growth • Big Mo</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20" y="548640"/>
            <a:ext cx="7680960" cy="914400"/>
          </a:xfrm>
          <a:prstGeom prst="rect">
            <a:avLst/>
          </a:prstGeom>
          <a:noFill/>
          <a:ln/>
        </p:spPr>
        <p:txBody>
          <a:bodyPr wrap="square" rtlCol="0" anchor="ctr"/>
          <a:lstStyle/>
          <a:p>
            <a:pPr marL="0" indent="0">
              <a:buNone/>
            </a:pPr>
            <a:r>
              <a:rPr lang="en-US" sz="3600" b="1" kern="0" spc="400" dirty="0">
                <a:solidFill>
                  <a:srgbClr val="FFFFFF"/>
                </a:solidFill>
                <a:latin typeface="Georgia" pitchFamily="34" charset="0"/>
                <a:ea typeface="Georgia" pitchFamily="34" charset="-122"/>
                <a:cs typeface="Georgia" pitchFamily="34" charset="-120"/>
              </a:rPr>
              <a:t>DIMEJI MATESUN</a:t>
            </a:r>
            <a:endParaRPr lang="en-US" sz="3600" dirty="0"/>
          </a:p>
        </p:txBody>
      </p:sp>
      <p:sp>
        <p:nvSpPr>
          <p:cNvPr id="3" name="Text 1"/>
          <p:cNvSpPr/>
          <p:nvPr/>
        </p:nvSpPr>
        <p:spPr>
          <a:xfrm>
            <a:off x="731520" y="1371600"/>
            <a:ext cx="7680960" cy="457200"/>
          </a:xfrm>
          <a:prstGeom prst="rect">
            <a:avLst/>
          </a:prstGeom>
          <a:noFill/>
          <a:ln/>
        </p:spPr>
        <p:txBody>
          <a:bodyPr wrap="square" rtlCol="0" anchor="ctr"/>
          <a:lstStyle/>
          <a:p>
            <a:pPr marL="0" indent="0">
              <a:buNone/>
            </a:pPr>
            <a:r>
              <a:rPr lang="en-US" sz="1600" dirty="0">
                <a:solidFill>
                  <a:srgbClr val="D4AF37"/>
                </a:solidFill>
                <a:latin typeface="Calibri" pitchFamily="34" charset="0"/>
                <a:ea typeface="Calibri" pitchFamily="34" charset="-122"/>
                <a:cs typeface="Calibri" pitchFamily="34" charset="-120"/>
              </a:rPr>
              <a:t>Managing Director / CEO  |  Executive Faculty</a:t>
            </a:r>
            <a:endParaRPr lang="en-US" sz="1600" dirty="0"/>
          </a:p>
        </p:txBody>
      </p:sp>
      <p:sp>
        <p:nvSpPr>
          <p:cNvPr id="4" name="Text 2"/>
          <p:cNvSpPr/>
          <p:nvPr/>
        </p:nvSpPr>
        <p:spPr>
          <a:xfrm>
            <a:off x="731520" y="2103120"/>
            <a:ext cx="7680960" cy="1463040"/>
          </a:xfrm>
          <a:prstGeom prst="rect">
            <a:avLst/>
          </a:prstGeom>
          <a:noFill/>
          <a:ln/>
        </p:spPr>
        <p:txBody>
          <a:bodyPr wrap="square" rtlCol="0" anchor="ctr"/>
          <a:lstStyle/>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 — The Law of the Lid</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2 — The Law of Navigation</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3 — The Law of Priorities</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4 — The Law of Legacy</a:t>
            </a:r>
            <a:endParaRPr lang="en-US" sz="1500" dirty="0"/>
          </a:p>
        </p:txBody>
      </p:sp>
      <p:sp>
        <p:nvSpPr>
          <p:cNvPr id="5" name="Text 3"/>
          <p:cNvSpPr/>
          <p:nvPr/>
        </p:nvSpPr>
        <p:spPr>
          <a:xfrm>
            <a:off x="731520" y="3657600"/>
            <a:ext cx="7680960" cy="914400"/>
          </a:xfrm>
          <a:prstGeom prst="rect">
            <a:avLst/>
          </a:prstGeom>
          <a:noFill/>
          <a:ln/>
        </p:spPr>
        <p:txBody>
          <a:bodyPr wrap="square" rtlCol="0" anchor="ctr"/>
          <a:lstStyle/>
          <a:p>
            <a:pPr marL="0" indent="0">
              <a:buNone/>
            </a:pPr>
            <a:r>
              <a:rPr lang="en-US" sz="2800" dirty="0">
                <a:solidFill>
                  <a:srgbClr val="D4AF37"/>
                </a:solidFill>
                <a:latin typeface="Georgia" pitchFamily="34" charset="0"/>
                <a:ea typeface="Georgia" pitchFamily="34" charset="-122"/>
                <a:cs typeface="Georgia" pitchFamily="34" charset="-120"/>
              </a:rPr>
              <a:t>“</a:t>
            </a:r>
            <a:r>
              <a:rPr lang="en-US" sz="1300" i="1" dirty="0">
                <a:solidFill>
                  <a:srgbClr val="DDDDDD"/>
                </a:solidFill>
                <a:latin typeface="Georgia" pitchFamily="34" charset="0"/>
                <a:ea typeface="Georgia" pitchFamily="34" charset="-122"/>
                <a:cs typeface="Georgia" pitchFamily="34" charset="-120"/>
              </a:rPr>
              <a:t>The single biggest way to impact an organization is to focus on leadership development.</a:t>
            </a:r>
            <a:r>
              <a:rPr lang="en-US" sz="2800" dirty="0">
                <a:solidFill>
                  <a:srgbClr val="D4AF37"/>
                </a:solidFill>
                <a:latin typeface="Georgia" pitchFamily="34" charset="0"/>
                <a:ea typeface="Georgia" pitchFamily="34" charset="-122"/>
                <a:cs typeface="Georgia" pitchFamily="34" charset="-120"/>
              </a:rPr>
              <a:t>”</a:t>
            </a:r>
            <a:endParaRPr lang="en-US" sz="2800" dirty="0"/>
          </a:p>
          <a:p>
            <a:pPr marL="0" indent="0">
              <a:buNone/>
            </a:pPr>
            <a:r>
              <a:rPr lang="en-US" sz="1100" dirty="0">
                <a:solidFill>
                  <a:srgbClr val="AAAAAA"/>
                </a:solidFill>
                <a:latin typeface="Calibri" pitchFamily="34" charset="0"/>
                <a:ea typeface="Calibri" pitchFamily="34" charset="-122"/>
                <a:cs typeface="Calibri" pitchFamily="34" charset="-120"/>
              </a:rPr>
              <a:t>— John C. Maxwell</a:t>
            </a:r>
            <a:endParaRPr lang="en-US" sz="2800" dirty="0"/>
          </a:p>
        </p:txBody>
      </p:sp>
      <p:sp>
        <p:nvSpPr>
          <p:cNvPr id="6" name="Text 4"/>
          <p:cNvSpPr/>
          <p:nvPr/>
        </p:nvSpPr>
        <p:spPr>
          <a:xfrm>
            <a:off x="274320" y="4754880"/>
            <a:ext cx="8595360" cy="320040"/>
          </a:xfrm>
          <a:prstGeom prst="rect">
            <a:avLst/>
          </a:prstGeom>
          <a:noFill/>
          <a:ln/>
        </p:spPr>
        <p:txBody>
          <a:bodyPr wrap="square" rtlCol="0" anchor="ctr"/>
          <a:lstStyle/>
          <a:p>
            <a:pPr marL="0" indent="0" algn="ctr">
              <a:buNone/>
            </a:pPr>
            <a:r>
              <a:rPr lang="en-US" sz="900" kern="0" spc="200" dirty="0">
                <a:solidFill>
                  <a:srgbClr val="FFFFFF"/>
                </a:solidFill>
                <a:latin typeface="Calibri" pitchFamily="34" charset="0"/>
                <a:ea typeface="Calibri" pitchFamily="34" charset="-122"/>
                <a:cs typeface="Calibri" pitchFamily="34" charset="-120"/>
              </a:rPr>
              <a:t>SAPPHIRE LEADERSHIP ACADEMY  |  JUNE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the Lid</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Leadership ability determines effectiveness  |  Speaker: Dimeji Matesun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A person’s leadership ability acts as a “lid” on their potential and their organization’s potential. If your leadership rates an 8, your effectiveness can never be greater than a 7.</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You cannot outgrow your leadership capacity. If a team is underperforming, it’s almost always a leadership deficit, not a technical skills gap. Raising the lid raises the entire organization.</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As Sapphire launches complex products like DevFin, technical brilliance alone is insufficient. Project managers must raise their leadership lids to coordinate cross-functional teams.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Your leadership ability is the ceiling on your team’s performance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Technical skill without leadership skill creates stagnation</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Self-awareness of your lid is the first step to raising it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Seek mentorship and feedback to identify blind spots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Raising your lid has a multiplier effect on everyone around you</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 of 21  |  Sapphire Leadership Academy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 The Lid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Dimeji Matesun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brilliant senior developer is promoted to lead DevPro. While he writes flawless code, he cannot communicate vision or resolve conflicts. Team output stagnates because his leadership lid is low, despite high technical capability.</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The same developer realizes his limitation and actively seeks mentorship. He delegates coding tasks and focuses on removing roadblocks. By raising his leadership lid, DevPro accelerates delivery by 20%.</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How would you rate your current leadership lid on a scale of 1–10?</a:t>
            </a:r>
            <a:endParaRPr lang="en-US" sz="1000" dirty="0"/>
          </a:p>
          <a:p>
            <a:pPr marL="0" indent="0">
              <a:lnSpc>
                <a:spcPct val="130000"/>
              </a:lnSpc>
              <a:buNone/>
            </a:pPr>
            <a:r>
              <a:rPr lang="en-US" sz="1100" dirty="0">
                <a:solidFill>
                  <a:srgbClr val="2D2D2D"/>
                </a:solidFill>
              </a:rPr>
              <a:t>2. What specific actions can you take to raise your lid this quarter?</a:t>
            </a:r>
            <a:endParaRPr lang="en-US" sz="1000" dirty="0"/>
          </a:p>
          <a:p>
            <a:pPr marL="0" indent="0">
              <a:lnSpc>
                <a:spcPct val="130000"/>
              </a:lnSpc>
              <a:buNone/>
            </a:pPr>
            <a:r>
              <a:rPr lang="en-US" sz="1100" dirty="0">
                <a:solidFill>
                  <a:srgbClr val="2D2D2D"/>
                </a:solidFill>
              </a:rPr>
              <a:t>3. Can you identify a time a project failed because the leadership lid was too low?</a:t>
            </a:r>
            <a:endParaRPr lang="en-US" sz="1000" dirty="0"/>
          </a:p>
          <a:p>
            <a:pPr marL="0" indent="0">
              <a:lnSpc>
                <a:spcPct val="130000"/>
              </a:lnSpc>
              <a:buNone/>
            </a:pPr>
            <a:r>
              <a:rPr lang="en-US" sz="1100" dirty="0">
                <a:solidFill>
                  <a:srgbClr val="2D2D2D"/>
                </a:solidFill>
              </a:rPr>
              <a:t>4. What happens to high-performers when their manager has a low lid?</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What is the hardest truth I need to accept about my current leadership limitations?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Navigation</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It takes a leader to chart the course  |  Speaker: Dimeji Matesun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Anyone can steer the ship, but it takes a leader to chart the course. Leaders see more, see farther, and see before others do.</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Without clear navigation, teams waste energy on wrong priorities. A leader must anticipate obstacles, plan ahead, and guide the team safely to the destination.</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When implementing the Recovery Transformation Program, leaders must map potential resistance, resource constraints, and operational impacts before executing.</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Planning is not the opposite of agility — it enables it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Leaders must see obstacles before they become crises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The PREP model: Predetermine action, lay out goals, adjust priorities, notify key people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Consult stakeholders before setting the course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A navigator’s confidence comes from preparation, not optimism</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2 of 21  |  Sapphire Leadership Academy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2: Navigation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Dimeji Matesun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manager launches STEP with great enthusiasm but no roadmap. Two weeks in, the team hits unforeseen compliance issues, and the project stalls because no one anticipated regulatory hurdles.</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Before launching the Automation Office, the leader spends a week mapping the process, consulting stakeholders, and anticipating technical debt. When challenges arise, contingency plans are already in place.</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What is the difference between steering the ship and charting the course?</a:t>
            </a:r>
            <a:endParaRPr lang="en-US" sz="1000" dirty="0"/>
          </a:p>
          <a:p>
            <a:pPr marL="0" indent="0">
              <a:lnSpc>
                <a:spcPct val="130000"/>
              </a:lnSpc>
              <a:buNone/>
            </a:pPr>
            <a:r>
              <a:rPr lang="en-US" sz="1100" dirty="0">
                <a:solidFill>
                  <a:srgbClr val="2D2D2D"/>
                </a:solidFill>
              </a:rPr>
              <a:t>2. How do you balance optimism with realistic planning?</a:t>
            </a:r>
            <a:endParaRPr lang="en-US" sz="1000" dirty="0"/>
          </a:p>
          <a:p>
            <a:pPr marL="0" indent="0">
              <a:lnSpc>
                <a:spcPct val="130000"/>
              </a:lnSpc>
              <a:buNone/>
            </a:pPr>
            <a:r>
              <a:rPr lang="en-US" sz="1100" dirty="0">
                <a:solidFill>
                  <a:srgbClr val="2D2D2D"/>
                </a:solidFill>
              </a:rPr>
              <a:t>3. What tools do you use to anticipate problems before they occur?</a:t>
            </a:r>
            <a:endParaRPr lang="en-US" sz="1000" dirty="0"/>
          </a:p>
          <a:p>
            <a:pPr marL="0" indent="0">
              <a:lnSpc>
                <a:spcPct val="130000"/>
              </a:lnSpc>
              <a:buNone/>
            </a:pPr>
            <a:r>
              <a:rPr lang="en-US" sz="1100" dirty="0">
                <a:solidFill>
                  <a:srgbClr val="2D2D2D"/>
                </a:solidFill>
              </a:rPr>
              <a:t>4. Describe a time when poor navigation led to project failure.</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currently just steering the ship, or am I truly charting the course for my team’s future?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Priorities</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Activity is not necessarily accomplishment  |  Speaker: Dimeji Matesun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Leaders understand that activity is not accomplishment. Prioritizing requires thinking ahead, knowing what’s important, seeing how everything relates to the vision, and applying the 80/20 rule.</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Busyness does not equal productivity. Leaders must ruthlessly prioritize tasks that align with strategic goals, delegating or eliminating the rest.</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With Onyx and Enterprise Partnerships running concurrently, leaders must focus teams on high-impact activities rather than low-value administrative tasks.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The Pareto Principle: 20% of activities yield 80% of results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Saying “no” to good ideas is necessary to focus on great ones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Audit your calendar weekly — how much is activity vs. accomplishment?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The “Top 3” rule: identify three critical tasks each morning</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Leaders must teach their teams to prioritize, not just do it themselves</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3 of 21  |  Sapphire Leadership Academy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3: Priorities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Dimeji Matesun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team lead spends 80% of their week on emails, status meetings, and minor bugs, leaving no time for the strategic roadmap. The Enterprise Partnership falls through due to lack of strategic focus.</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manager applies the 80/20 rule, identifying that 20% of clients generate 80% of revenue. They restructure the team to prioritize high-touch service, achieving 30% increase in client retention.</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Why do we confuse activity with accomplishment?</a:t>
            </a:r>
            <a:endParaRPr lang="en-US" sz="1000" dirty="0"/>
          </a:p>
          <a:p>
            <a:pPr marL="0" indent="0">
              <a:lnSpc>
                <a:spcPct val="130000"/>
              </a:lnSpc>
              <a:buNone/>
            </a:pPr>
            <a:r>
              <a:rPr lang="en-US" sz="1100" dirty="0">
                <a:solidFill>
                  <a:srgbClr val="2D2D2D"/>
                </a:solidFill>
              </a:rPr>
              <a:t>2. What are the top 20% of your activities that yield 80% of results?</a:t>
            </a:r>
            <a:endParaRPr lang="en-US" sz="1000" dirty="0"/>
          </a:p>
          <a:p>
            <a:pPr marL="0" indent="0">
              <a:lnSpc>
                <a:spcPct val="130000"/>
              </a:lnSpc>
              <a:buNone/>
            </a:pPr>
            <a:r>
              <a:rPr lang="en-US" sz="1100" dirty="0">
                <a:solidFill>
                  <a:srgbClr val="2D2D2D"/>
                </a:solidFill>
              </a:rPr>
              <a:t>3. How do you say “no” to good ideas to focus on great ones?</a:t>
            </a:r>
            <a:endParaRPr lang="en-US" sz="1000" dirty="0"/>
          </a:p>
          <a:p>
            <a:pPr marL="0" indent="0">
              <a:lnSpc>
                <a:spcPct val="130000"/>
              </a:lnSpc>
              <a:buNone/>
            </a:pPr>
            <a:r>
              <a:rPr lang="en-US" sz="1100" dirty="0">
                <a:solidFill>
                  <a:srgbClr val="2D2D2D"/>
                </a:solidFill>
              </a:rPr>
              <a:t>4. How can you help your team prioritize when everything seems urgent?</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What am I doing right now that keeps me busy but does not actually move the needle forward?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Legacy</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 leader’s lasting value is measured by succession  |  Speaker: Dimeji Matesun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True leadership involves developing other leaders who can carry on the vision long after the original leader is gone. If an organization collapses when a leader leaves, they were not a successful leader.</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Sustainable success requires intentional succession planning and building a deep bench of talent. Legacy is not about what you built — it’s about who you built.</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As Sapphire transitions from founder-driven, the ultimate EXCO success measure is the capability of SLA participants to run the business independently.</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If your team cannot function without you, you have failed as a leader</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Succession planning is not for retirement — it’s for right now</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Intentionally mentor at least two people who could replace you</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Legacy = developing leaders who develop other leaders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The best leaders make themselves dispensable, not indispensable</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4 of 21  |  Sapphire Leadership Academy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4: Legacy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Dimeji Matesun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brilliant department head hoards all key relationships and critical knowledge. When she unexpectedly resigns, the division falls into chaos and client relationships are lost.</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senior manager intentionally mentors two high-potential employees, gradually handing over key accounts. When promoted to EXCO, one mentee seamlessly steps in without any disruption.</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Who are you currently developing to eventually take your job?</a:t>
            </a:r>
            <a:endParaRPr lang="en-US" sz="1000" dirty="0"/>
          </a:p>
          <a:p>
            <a:pPr marL="0" indent="0">
              <a:lnSpc>
                <a:spcPct val="130000"/>
              </a:lnSpc>
              <a:buNone/>
            </a:pPr>
            <a:r>
              <a:rPr lang="en-US" sz="1100" dirty="0">
                <a:solidFill>
                  <a:srgbClr val="2D2D2D"/>
                </a:solidFill>
              </a:rPr>
              <a:t>2. Why do some leaders fear developing their successors?</a:t>
            </a:r>
            <a:endParaRPr lang="en-US" sz="1000" dirty="0"/>
          </a:p>
          <a:p>
            <a:pPr marL="0" indent="0">
              <a:lnSpc>
                <a:spcPct val="130000"/>
              </a:lnSpc>
              <a:buNone/>
            </a:pPr>
            <a:r>
              <a:rPr lang="en-US" sz="1100" dirty="0">
                <a:solidFill>
                  <a:srgbClr val="2D2D2D"/>
                </a:solidFill>
              </a:rPr>
              <a:t>3. What is the difference between building a team and building a legacy?</a:t>
            </a:r>
            <a:endParaRPr lang="en-US" sz="1000" dirty="0"/>
          </a:p>
          <a:p>
            <a:pPr marL="0" indent="0">
              <a:lnSpc>
                <a:spcPct val="130000"/>
              </a:lnSpc>
              <a:buNone/>
            </a:pPr>
            <a:r>
              <a:rPr lang="en-US" sz="1100" dirty="0">
                <a:solidFill>
                  <a:srgbClr val="2D2D2D"/>
                </a:solidFill>
              </a:rPr>
              <a:t>4. If you left Sapphire tomorrow, what would happen to your team?</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If I were to leave Sapphire tomorrow, what would happen to my team, and what does that say about my leadership?</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31520" y="548640"/>
            <a:ext cx="7680960" cy="914400"/>
          </a:xfrm>
          <a:prstGeom prst="rect">
            <a:avLst/>
          </a:prstGeom>
          <a:noFill/>
          <a:ln/>
        </p:spPr>
        <p:txBody>
          <a:bodyPr wrap="square" rtlCol="0" anchor="ctr"/>
          <a:lstStyle/>
          <a:p>
            <a:pPr marL="0" indent="0">
              <a:buNone/>
            </a:pPr>
            <a:r>
              <a:rPr lang="en-US" sz="3600" b="1" kern="0" spc="400" dirty="0">
                <a:solidFill>
                  <a:srgbClr val="FFFFFF"/>
                </a:solidFill>
                <a:latin typeface="Georgia" pitchFamily="34" charset="0"/>
                <a:ea typeface="Georgia" pitchFamily="34" charset="-122"/>
                <a:cs typeface="Georgia" pitchFamily="34" charset="-120"/>
              </a:rPr>
              <a:t>DR LOLA MATESUN</a:t>
            </a:r>
            <a:endParaRPr lang="en-US" sz="3600" dirty="0"/>
          </a:p>
        </p:txBody>
      </p:sp>
      <p:sp>
        <p:nvSpPr>
          <p:cNvPr id="3" name="Text 1"/>
          <p:cNvSpPr/>
          <p:nvPr/>
        </p:nvSpPr>
        <p:spPr>
          <a:xfrm>
            <a:off x="731520" y="1371600"/>
            <a:ext cx="7680960" cy="457200"/>
          </a:xfrm>
          <a:prstGeom prst="rect">
            <a:avLst/>
          </a:prstGeom>
          <a:noFill/>
          <a:ln/>
        </p:spPr>
        <p:txBody>
          <a:bodyPr wrap="square" rtlCol="0" anchor="ctr"/>
          <a:lstStyle/>
          <a:p>
            <a:pPr marL="0" indent="0">
              <a:buNone/>
            </a:pPr>
            <a:r>
              <a:rPr lang="en-US" sz="1600" dirty="0">
                <a:solidFill>
                  <a:srgbClr val="D4AF37"/>
                </a:solidFill>
                <a:latin typeface="Calibri" pitchFamily="34" charset="0"/>
                <a:ea typeface="Calibri" pitchFamily="34" charset="-122"/>
                <a:cs typeface="Calibri" pitchFamily="34" charset="-120"/>
              </a:rPr>
              <a:t>Executive Faculty</a:t>
            </a:r>
            <a:endParaRPr lang="en-US" sz="1600" dirty="0"/>
          </a:p>
        </p:txBody>
      </p:sp>
      <p:sp>
        <p:nvSpPr>
          <p:cNvPr id="4" name="Text 2"/>
          <p:cNvSpPr/>
          <p:nvPr/>
        </p:nvSpPr>
        <p:spPr>
          <a:xfrm>
            <a:off x="731520" y="2103120"/>
            <a:ext cx="7680960" cy="1463040"/>
          </a:xfrm>
          <a:prstGeom prst="rect">
            <a:avLst/>
          </a:prstGeom>
          <a:noFill/>
          <a:ln/>
        </p:spPr>
        <p:txBody>
          <a:bodyPr wrap="square" rtlCol="0" anchor="ctr"/>
          <a:lstStyle/>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5 — The Law of Influence</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6 — The Law of Respect</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7 — The Law of Connection</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8 — The Law of Empowerment</a:t>
            </a:r>
            <a:endParaRPr lang="en-US" sz="1500" dirty="0"/>
          </a:p>
        </p:txBody>
      </p:sp>
      <p:sp>
        <p:nvSpPr>
          <p:cNvPr id="5" name="Text 3"/>
          <p:cNvSpPr/>
          <p:nvPr/>
        </p:nvSpPr>
        <p:spPr>
          <a:xfrm>
            <a:off x="731520" y="3657600"/>
            <a:ext cx="7680960" cy="914400"/>
          </a:xfrm>
          <a:prstGeom prst="rect">
            <a:avLst/>
          </a:prstGeom>
          <a:noFill/>
          <a:ln/>
        </p:spPr>
        <p:txBody>
          <a:bodyPr wrap="square" rtlCol="0" anchor="ctr"/>
          <a:lstStyle/>
          <a:p>
            <a:pPr marL="0" indent="0">
              <a:buNone/>
            </a:pPr>
            <a:r>
              <a:rPr lang="en-US" sz="2800" dirty="0">
                <a:solidFill>
                  <a:srgbClr val="D4AF37"/>
                </a:solidFill>
                <a:latin typeface="Georgia" pitchFamily="34" charset="0"/>
                <a:ea typeface="Georgia" pitchFamily="34" charset="-122"/>
                <a:cs typeface="Georgia" pitchFamily="34" charset="-120"/>
              </a:rPr>
              <a:t>“</a:t>
            </a:r>
            <a:r>
              <a:rPr lang="en-US" sz="1300" i="1" dirty="0">
                <a:solidFill>
                  <a:srgbClr val="DDDDDD"/>
                </a:solidFill>
                <a:latin typeface="Georgia" pitchFamily="34" charset="0"/>
                <a:ea typeface="Georgia" pitchFamily="34" charset="-122"/>
                <a:cs typeface="Georgia" pitchFamily="34" charset="-120"/>
              </a:rPr>
              <a:t>The leader finds the dream and then the people. The people find the leader and then the dream.</a:t>
            </a:r>
            <a:r>
              <a:rPr lang="en-US" sz="2800" dirty="0">
                <a:solidFill>
                  <a:srgbClr val="D4AF37"/>
                </a:solidFill>
                <a:latin typeface="Georgia" pitchFamily="34" charset="0"/>
                <a:ea typeface="Georgia" pitchFamily="34" charset="-122"/>
                <a:cs typeface="Georgia" pitchFamily="34" charset="-120"/>
              </a:rPr>
              <a:t>”</a:t>
            </a:r>
            <a:endParaRPr lang="en-US" sz="2800" dirty="0"/>
          </a:p>
          <a:p>
            <a:pPr marL="0" indent="0">
              <a:buNone/>
            </a:pPr>
            <a:r>
              <a:rPr lang="en-US" sz="1100" dirty="0">
                <a:solidFill>
                  <a:srgbClr val="AAAAAA"/>
                </a:solidFill>
                <a:latin typeface="Calibri" pitchFamily="34" charset="0"/>
                <a:ea typeface="Calibri" pitchFamily="34" charset="-122"/>
                <a:cs typeface="Calibri" pitchFamily="34" charset="-120"/>
              </a:rPr>
              <a:t>— John C. Maxwell</a:t>
            </a:r>
            <a:endParaRPr lang="en-US" sz="2800" dirty="0"/>
          </a:p>
        </p:txBody>
      </p:sp>
      <p:sp>
        <p:nvSpPr>
          <p:cNvPr id="6" name="Text 4"/>
          <p:cNvSpPr/>
          <p:nvPr/>
        </p:nvSpPr>
        <p:spPr>
          <a:xfrm>
            <a:off x="274320" y="4754880"/>
            <a:ext cx="8595360" cy="320040"/>
          </a:xfrm>
          <a:prstGeom prst="rect">
            <a:avLst/>
          </a:prstGeom>
          <a:noFill/>
          <a:ln/>
        </p:spPr>
        <p:txBody>
          <a:bodyPr wrap="square" rtlCol="0" anchor="ctr"/>
          <a:lstStyle/>
          <a:p>
            <a:pPr marL="0" indent="0" algn="ctr">
              <a:buNone/>
            </a:pPr>
            <a:r>
              <a:rPr lang="en-US" sz="900" kern="0" spc="200" dirty="0">
                <a:solidFill>
                  <a:srgbClr val="FFFFFF"/>
                </a:solidFill>
                <a:latin typeface="Calibri" pitchFamily="34" charset="0"/>
                <a:ea typeface="Calibri" pitchFamily="34" charset="-122"/>
                <a:cs typeface="Calibri" pitchFamily="34" charset="-120"/>
              </a:rPr>
              <a:t>SAPPHIRE LEADERSHIP ACADEMY  |  JUNE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Influence</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Leadership is influence — nothing more, nothing less  |  Speaker: Dr Lola Matesun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True leadership cannot be awarded, appointed, or assigned. It comes only from influence, and that must be earned. A title only buys a little time.</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Cross-functional collaboration requires the ability to influence peers over whom you have no direct authority. Without influence, people will not follow you regardless of your title.</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When rolling out STEP, project leaders must influence Tech, Marketing, and Finance to adopt new processes through relationships and persuasion, not reporting lines.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Title gives position; influence gives power</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Build influence before you need it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Influence is earned through character, relationships, knowledge, and intuition</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Cross-functional leadership depends entirely on influence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If your title were stripped away, would anyone still follow?</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5 of 21  |  Sapphire Leadership Academy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5: Influence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Dr Lola Matesun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newly appointed manager relies solely on their title, issuing demands and pulling rank. Team morale plummets and other departments avoid collaborating with them.</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mid-level employee without a formal title consistently helps peers and demonstrates deep expertise. During a crisis, the entire department naturally looks to this person for direction.</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What is the difference between positional authority and true influence?</a:t>
            </a:r>
            <a:endParaRPr lang="en-US" sz="1000" dirty="0"/>
          </a:p>
          <a:p>
            <a:pPr marL="0" indent="0">
              <a:lnSpc>
                <a:spcPct val="130000"/>
              </a:lnSpc>
              <a:buNone/>
            </a:pPr>
            <a:r>
              <a:rPr lang="en-US" sz="1100" dirty="0">
                <a:solidFill>
                  <a:srgbClr val="2D2D2D"/>
                </a:solidFill>
              </a:rPr>
              <a:t>2. How do you build influence with people who don’t report to you?</a:t>
            </a:r>
            <a:endParaRPr lang="en-US" sz="1000" dirty="0"/>
          </a:p>
          <a:p>
            <a:pPr marL="0" indent="0">
              <a:lnSpc>
                <a:spcPct val="130000"/>
              </a:lnSpc>
              <a:buNone/>
            </a:pPr>
            <a:r>
              <a:rPr lang="en-US" sz="1100" dirty="0">
                <a:solidFill>
                  <a:srgbClr val="2D2D2D"/>
                </a:solidFill>
              </a:rPr>
              <a:t>3. Think of someone you willingly follow. Why do they have influence?</a:t>
            </a:r>
            <a:endParaRPr lang="en-US" sz="1000" dirty="0"/>
          </a:p>
          <a:p>
            <a:pPr marL="0" indent="0">
              <a:lnSpc>
                <a:spcPct val="130000"/>
              </a:lnSpc>
              <a:buNone/>
            </a:pPr>
            <a:r>
              <a:rPr lang="en-US" sz="1100" dirty="0">
                <a:solidFill>
                  <a:srgbClr val="2D2D2D"/>
                </a:solidFill>
              </a:rPr>
              <a:t>4. What behaviors quickly destroy a leader’s influence?</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If my title were stripped away today, would anyone still follow my lead?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Respect</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People naturally follow leaders stronger than themselves  |  Speaker: Dr Lola Matesun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People don’t follow others by accident; they follow individuals whose leadership they respect. Respect is earned through consistent character, competence, and care for others.</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Respect is the currency of leadership. Without it, you cannot demand excellence or drive change. It is earned, never commanded.</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As Sapphire transitions culture, leaders must earn team respect by modelling the new behaviours — accountability, transparency — rather than just demanding them.</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Respect is earned through three Cs: Character, Competence, and Care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Taking credit for wins and deflecting blame destroys respect instantly</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Respect is built in small daily actions, not grand gestures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You can respect someone’s skills but not their leadership</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Rebuilding lost respect takes ten times the effort of building it</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6 of 21  |  Sapphire Leadership Academy</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6: Respect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Dr Lola Matesun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leader frequently takes credit for successes but blames individuals when things go wrong. The team loses all respect, resulting in high turnover and minimal effort.</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During a major DevFin outage, the team lead stays late with developers, orders food, runs interference with stakeholders, and takes full responsibility to EXCO. Team respect skyrockets.</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How do leaders earn respect in a professional environment?</a:t>
            </a:r>
            <a:endParaRPr lang="en-US" sz="1000" dirty="0"/>
          </a:p>
          <a:p>
            <a:pPr marL="0" indent="0">
              <a:lnSpc>
                <a:spcPct val="130000"/>
              </a:lnSpc>
              <a:buNone/>
            </a:pPr>
            <a:r>
              <a:rPr lang="en-US" sz="1100" dirty="0">
                <a:solidFill>
                  <a:srgbClr val="2D2D2D"/>
                </a:solidFill>
              </a:rPr>
              <a:t>2. Can you respect someone’s technical skills but not their leadership?</a:t>
            </a:r>
            <a:endParaRPr lang="en-US" sz="1000" dirty="0"/>
          </a:p>
          <a:p>
            <a:pPr marL="0" indent="0">
              <a:lnSpc>
                <a:spcPct val="130000"/>
              </a:lnSpc>
              <a:buNone/>
            </a:pPr>
            <a:r>
              <a:rPr lang="en-US" sz="1100" dirty="0">
                <a:solidFill>
                  <a:srgbClr val="2D2D2D"/>
                </a:solidFill>
              </a:rPr>
              <a:t>3. What is the fastest way a leader can lose your respect?</a:t>
            </a:r>
            <a:endParaRPr lang="en-US" sz="1000" dirty="0"/>
          </a:p>
          <a:p>
            <a:pPr marL="0" indent="0">
              <a:lnSpc>
                <a:spcPct val="130000"/>
              </a:lnSpc>
              <a:buNone/>
            </a:pPr>
            <a:r>
              <a:rPr lang="en-US" sz="1100" dirty="0">
                <a:solidFill>
                  <a:srgbClr val="2D2D2D"/>
                </a:solidFill>
              </a:rPr>
              <a:t>4. How do you rebuild respect once it has been lost?</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Do my daily actions inspire respect from those who observe me?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7</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Connection</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Touch a heart before you ask for a hand  |  Speaker: Dr Lola Matesun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You cannot move people to action unless you first move them with emotion. People don’t care how much you know until they know how much you care.</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Strong emotional connections build loyalty, trust, and the willingness to go above and beyond. Connection transforms compliance into commitment.</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When asking teams to work intensely on the Automation Office, leaders must connect the project’s goals to the team’s personal growth, not just assign tasks.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It is the LEADER’s responsibility to initiate connection</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Know what motivates each team member individually</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Connection is not communication — it’s emotional resonance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Remote work makes intentional connection harder but more important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15 minutes of genuine non-work conversation builds weeks of goodwill</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7 of 21  |  Sapphire Leadership Academy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7: Connection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Dr Lola Matesun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manager walks in, ignores everyone, goes to their desk, and sends demanding emails about deadlines. The team complies out of fear, but engagement and creativity are non-existent.</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leader takes time every Monday to walk the floor, asking about weekends and checking on well-being. When the leader later asks the team to push for a Friday deadline, they willingly do so.</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Why is it important to touch a heart before asking for a hand?</a:t>
            </a:r>
            <a:endParaRPr lang="en-US" sz="1000" dirty="0"/>
          </a:p>
          <a:p>
            <a:pPr marL="0" indent="0">
              <a:lnSpc>
                <a:spcPct val="130000"/>
              </a:lnSpc>
              <a:buNone/>
            </a:pPr>
            <a:r>
              <a:rPr lang="en-US" sz="1100" dirty="0">
                <a:solidFill>
                  <a:srgbClr val="2D2D2D"/>
                </a:solidFill>
              </a:rPr>
              <a:t>2. How do you connect with team members who have different personalities?</a:t>
            </a:r>
            <a:endParaRPr lang="en-US" sz="1000" dirty="0"/>
          </a:p>
          <a:p>
            <a:pPr marL="0" indent="0">
              <a:lnSpc>
                <a:spcPct val="130000"/>
              </a:lnSpc>
              <a:buNone/>
            </a:pPr>
            <a:r>
              <a:rPr lang="en-US" sz="1100" dirty="0">
                <a:solidFill>
                  <a:srgbClr val="2D2D2D"/>
                </a:solidFill>
              </a:rPr>
              <a:t>3. What is the difference between connecting and just communicating?</a:t>
            </a:r>
            <a:endParaRPr lang="en-US" sz="1000" dirty="0"/>
          </a:p>
          <a:p>
            <a:pPr marL="0" indent="0">
              <a:lnSpc>
                <a:spcPct val="130000"/>
              </a:lnSpc>
              <a:buNone/>
            </a:pPr>
            <a:r>
              <a:rPr lang="en-US" sz="1100" dirty="0">
                <a:solidFill>
                  <a:srgbClr val="2D2D2D"/>
                </a:solidFill>
              </a:rPr>
              <a:t>4. Can a leader be too connected or too personal with their team?</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Do I view my team members as human beings with lives and emotions, or just as resources to get work done?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8</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Empowerment</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Only secure leaders give power to others  |  Speaker: Dr Lola Matesun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Great leaders gain authority by giving it away. They empower people to reach full potential. Insecure leaders hoard power, creating bottlenecks and stifling innovation.</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Empowering others scales the organization’s capabilities and builds future leaders. The leader who empowers others actually increases their own power and influence.</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To scale DevPro successfully, senior management must empower mid-level managers to make operational decisions without seeking EXCO approval for every minor issue.</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Empowerment is NOT abdication — it’s structured trust with accountability</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Insecurity is the number one barrier to empowerment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Empowerment = authority + resources + public backing + safety net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Micromanagement is a sign of the leader’s fear, not the team’s incompetence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The more you empower others, the more capacity YOU gain for strategic work</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8 of 21  |  Sapphire Leadership Academy</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8: Empowerment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Dr Lola Matesun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manager insists on reviewing every email sent to clients. The team is frustrated, clients experience delays, and the manager works 80-hour weeks refusing to empower staff.</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director gives a team lead a budget and a goal for a new campaign, then steps back. The director guides when asked but allows final creative decisions. The campaign succeeds and the lead’s confidence soars.</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Why do some leaders struggle to empower others?</a:t>
            </a:r>
            <a:endParaRPr lang="en-US" sz="1000" dirty="0"/>
          </a:p>
          <a:p>
            <a:pPr marL="0" indent="0">
              <a:lnSpc>
                <a:spcPct val="130000"/>
              </a:lnSpc>
              <a:buNone/>
            </a:pPr>
            <a:r>
              <a:rPr lang="en-US" sz="1100" dirty="0">
                <a:solidFill>
                  <a:srgbClr val="2D2D2D"/>
                </a:solidFill>
              </a:rPr>
              <a:t>2. How do you know when someone is ready for more authority?</a:t>
            </a:r>
            <a:endParaRPr lang="en-US" sz="1000" dirty="0"/>
          </a:p>
          <a:p>
            <a:pPr marL="0" indent="0">
              <a:lnSpc>
                <a:spcPct val="130000"/>
              </a:lnSpc>
              <a:buNone/>
            </a:pPr>
            <a:r>
              <a:rPr lang="en-US" sz="1100" dirty="0">
                <a:solidFill>
                  <a:srgbClr val="2D2D2D"/>
                </a:solidFill>
              </a:rPr>
              <a:t>3. What is the difference between empowerment and just dumping tasks?</a:t>
            </a:r>
            <a:endParaRPr lang="en-US" sz="1000" dirty="0"/>
          </a:p>
          <a:p>
            <a:pPr marL="0" indent="0">
              <a:lnSpc>
                <a:spcPct val="130000"/>
              </a:lnSpc>
              <a:buNone/>
            </a:pPr>
            <a:r>
              <a:rPr lang="en-US" sz="1100" dirty="0">
                <a:solidFill>
                  <a:srgbClr val="2D2D2D"/>
                </a:solidFill>
              </a:rPr>
              <a:t>4. How does empowering others actually increase a leader’s own power?</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building a team of dependent followers, or developing a team of empowered leaders?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31520" y="548640"/>
            <a:ext cx="7680960" cy="914400"/>
          </a:xfrm>
          <a:prstGeom prst="rect">
            <a:avLst/>
          </a:prstGeom>
          <a:noFill/>
          <a:ln/>
        </p:spPr>
        <p:txBody>
          <a:bodyPr wrap="square" rtlCol="0" anchor="ctr"/>
          <a:lstStyle/>
          <a:p>
            <a:pPr marL="0" indent="0">
              <a:buNone/>
            </a:pPr>
            <a:r>
              <a:rPr lang="en-US" sz="3600" b="1" kern="0" spc="400" dirty="0">
                <a:solidFill>
                  <a:srgbClr val="FFFFFF"/>
                </a:solidFill>
                <a:latin typeface="Georgia" pitchFamily="34" charset="0"/>
                <a:ea typeface="Georgia" pitchFamily="34" charset="-122"/>
                <a:cs typeface="Georgia" pitchFamily="34" charset="-120"/>
              </a:rPr>
              <a:t>DOTUN</a:t>
            </a:r>
            <a:endParaRPr lang="en-US" sz="3600" dirty="0"/>
          </a:p>
        </p:txBody>
      </p:sp>
      <p:sp>
        <p:nvSpPr>
          <p:cNvPr id="3" name="Text 1"/>
          <p:cNvSpPr/>
          <p:nvPr/>
        </p:nvSpPr>
        <p:spPr>
          <a:xfrm>
            <a:off x="731520" y="1371600"/>
            <a:ext cx="7680960" cy="457200"/>
          </a:xfrm>
          <a:prstGeom prst="rect">
            <a:avLst/>
          </a:prstGeom>
          <a:noFill/>
          <a:ln/>
        </p:spPr>
        <p:txBody>
          <a:bodyPr wrap="square" rtlCol="0" anchor="ctr"/>
          <a:lstStyle/>
          <a:p>
            <a:pPr marL="0" indent="0">
              <a:buNone/>
            </a:pPr>
            <a:r>
              <a:rPr lang="en-US" sz="1600" dirty="0">
                <a:solidFill>
                  <a:srgbClr val="D4AF37"/>
                </a:solidFill>
                <a:latin typeface="Calibri" pitchFamily="34" charset="0"/>
                <a:ea typeface="Calibri" pitchFamily="34" charset="-122"/>
                <a:cs typeface="Calibri" pitchFamily="34" charset="-120"/>
              </a:rPr>
              <a:t>Executive Faculty</a:t>
            </a:r>
            <a:endParaRPr lang="en-US" sz="1600" dirty="0"/>
          </a:p>
        </p:txBody>
      </p:sp>
      <p:sp>
        <p:nvSpPr>
          <p:cNvPr id="4" name="Text 2"/>
          <p:cNvSpPr/>
          <p:nvPr/>
        </p:nvSpPr>
        <p:spPr>
          <a:xfrm>
            <a:off x="731520" y="2103120"/>
            <a:ext cx="7680960" cy="1463040"/>
          </a:xfrm>
          <a:prstGeom prst="rect">
            <a:avLst/>
          </a:prstGeom>
          <a:noFill/>
          <a:ln/>
        </p:spPr>
        <p:txBody>
          <a:bodyPr wrap="square" rtlCol="0" anchor="ctr"/>
          <a:lstStyle/>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9 — The Law of Process</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10 — The Law of Buy-In</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11 — The Law of Addition</a:t>
            </a:r>
            <a:endParaRPr lang="en-US" sz="1500" dirty="0"/>
          </a:p>
        </p:txBody>
      </p:sp>
      <p:sp>
        <p:nvSpPr>
          <p:cNvPr id="5" name="Text 3"/>
          <p:cNvSpPr/>
          <p:nvPr/>
        </p:nvSpPr>
        <p:spPr>
          <a:xfrm>
            <a:off x="731520" y="3657600"/>
            <a:ext cx="7680960" cy="914400"/>
          </a:xfrm>
          <a:prstGeom prst="rect">
            <a:avLst/>
          </a:prstGeom>
          <a:noFill/>
          <a:ln/>
        </p:spPr>
        <p:txBody>
          <a:bodyPr wrap="square" rtlCol="0" anchor="ctr"/>
          <a:lstStyle/>
          <a:p>
            <a:pPr marL="0" indent="0">
              <a:buNone/>
            </a:pPr>
            <a:r>
              <a:rPr lang="en-US" sz="2800" dirty="0">
                <a:solidFill>
                  <a:srgbClr val="D4AF37"/>
                </a:solidFill>
                <a:latin typeface="Georgia" pitchFamily="34" charset="0"/>
                <a:ea typeface="Georgia" pitchFamily="34" charset="-122"/>
                <a:cs typeface="Georgia" pitchFamily="34" charset="-120"/>
              </a:rPr>
              <a:t>“</a:t>
            </a:r>
            <a:r>
              <a:rPr lang="en-US" sz="1300" i="1" dirty="0">
                <a:solidFill>
                  <a:srgbClr val="DDDDDD"/>
                </a:solidFill>
                <a:latin typeface="Georgia" pitchFamily="34" charset="0"/>
                <a:ea typeface="Georgia" pitchFamily="34" charset="-122"/>
                <a:cs typeface="Georgia" pitchFamily="34" charset="-120"/>
              </a:rPr>
              <a:t>A leader is one who knows the way, goes the way, and shows the way.</a:t>
            </a:r>
            <a:r>
              <a:rPr lang="en-US" sz="2800" dirty="0">
                <a:solidFill>
                  <a:srgbClr val="D4AF37"/>
                </a:solidFill>
                <a:latin typeface="Georgia" pitchFamily="34" charset="0"/>
                <a:ea typeface="Georgia" pitchFamily="34" charset="-122"/>
                <a:cs typeface="Georgia" pitchFamily="34" charset="-120"/>
              </a:rPr>
              <a:t>”</a:t>
            </a:r>
            <a:endParaRPr lang="en-US" sz="2800" dirty="0"/>
          </a:p>
          <a:p>
            <a:pPr marL="0" indent="0">
              <a:buNone/>
            </a:pPr>
            <a:r>
              <a:rPr lang="en-US" sz="1100" dirty="0">
                <a:solidFill>
                  <a:srgbClr val="AAAAAA"/>
                </a:solidFill>
                <a:latin typeface="Calibri" pitchFamily="34" charset="0"/>
                <a:ea typeface="Calibri" pitchFamily="34" charset="-122"/>
                <a:cs typeface="Calibri" pitchFamily="34" charset="-120"/>
              </a:rPr>
              <a:t>— John C. Maxwell</a:t>
            </a:r>
            <a:endParaRPr lang="en-US" sz="2800" dirty="0"/>
          </a:p>
        </p:txBody>
      </p:sp>
      <p:sp>
        <p:nvSpPr>
          <p:cNvPr id="6" name="Text 4"/>
          <p:cNvSpPr/>
          <p:nvPr/>
        </p:nvSpPr>
        <p:spPr>
          <a:xfrm>
            <a:off x="274320" y="4754880"/>
            <a:ext cx="8595360" cy="320040"/>
          </a:xfrm>
          <a:prstGeom prst="rect">
            <a:avLst/>
          </a:prstGeom>
          <a:noFill/>
          <a:ln/>
        </p:spPr>
        <p:txBody>
          <a:bodyPr wrap="square" rtlCol="0" anchor="ctr"/>
          <a:lstStyle/>
          <a:p>
            <a:pPr marL="0" indent="0" algn="ctr">
              <a:buNone/>
            </a:pPr>
            <a:r>
              <a:rPr lang="en-US" sz="900" kern="0" spc="200" dirty="0">
                <a:solidFill>
                  <a:srgbClr val="FFFFFF"/>
                </a:solidFill>
                <a:latin typeface="Calibri" pitchFamily="34" charset="0"/>
                <a:ea typeface="Calibri" pitchFamily="34" charset="-122"/>
                <a:cs typeface="Calibri" pitchFamily="34" charset="-120"/>
              </a:rPr>
              <a:t>SAPPHIRE LEADERSHIP ACADEMY  |  JUNE 2026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9</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Process</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Leadership develops daily, not in a day  |  Speaker: Dotun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Leadership is a lifelong process of continuous learning and compounding effort. There are no quick fixes or “microwaved” leaders.</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Sustainable leadership requires patience, discipline, and commitment to incremental daily improvement. Champions don’t become champions in the ring — they are merely recognized there.</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The SLA is Phase 1 of long-term culture transformation. We cannot expect a 4-week program to change the company; it initiates a process of daily leadership development.</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Leadership is a marathon, not a sprint — daily habits compound</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The gap between events (training) and process (daily practice) is where growth dies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Commit to 15 minutes of daily intentional leadership development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Seek regular feedback as a growth accelerator</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Patience with the process is itself a leadership discipline</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9 of 21  |  Sapphire Leadership Academy</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9: Process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Dotun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An employee attends a weekend seminar, tries to overhaul the department on Monday, gets frustrated by resistance, and abandons the effort by Wednesday, concluding “leadership doesn’t work here.”</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manager commits to reading one leadership article a week and practising one new active listening technique daily. Over six months, these small consistent actions drastically improve team communication.</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Why do we often look for shortcuts in leadership development?</a:t>
            </a:r>
            <a:endParaRPr lang="en-US" sz="1000" dirty="0"/>
          </a:p>
          <a:p>
            <a:pPr marL="0" indent="0">
              <a:lnSpc>
                <a:spcPct val="130000"/>
              </a:lnSpc>
              <a:buNone/>
            </a:pPr>
            <a:r>
              <a:rPr lang="en-US" sz="1100" dirty="0">
                <a:solidFill>
                  <a:srgbClr val="2D2D2D"/>
                </a:solidFill>
              </a:rPr>
              <a:t>2. What daily habits contribute to your growth as a leader?</a:t>
            </a:r>
            <a:endParaRPr lang="en-US" sz="1000" dirty="0"/>
          </a:p>
          <a:p>
            <a:pPr marL="0" indent="0">
              <a:lnSpc>
                <a:spcPct val="130000"/>
              </a:lnSpc>
              <a:buNone/>
            </a:pPr>
            <a:r>
              <a:rPr lang="en-US" sz="1100" dirty="0">
                <a:solidFill>
                  <a:srgbClr val="2D2D2D"/>
                </a:solidFill>
              </a:rPr>
              <a:t>3. What is the difference between an event and a process?</a:t>
            </a:r>
            <a:endParaRPr lang="en-US" sz="1000" dirty="0"/>
          </a:p>
          <a:p>
            <a:pPr marL="0" indent="0">
              <a:lnSpc>
                <a:spcPct val="130000"/>
              </a:lnSpc>
              <a:buNone/>
            </a:pPr>
            <a:r>
              <a:rPr lang="en-US" sz="1100" dirty="0">
                <a:solidFill>
                  <a:srgbClr val="2D2D2D"/>
                </a:solidFill>
              </a:rPr>
              <a:t>4. How can Sapphire better support daily leadership development?</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relying on “events” to make me a better leader, or am I committed to the daily “process” of growth?</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10</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Buy-In</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People buy into the leader, then the vision  |  Speaker: Dotun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You cannot separate the leader from the cause they promote. If people don’t believe in the messenger, they won’t believe the message.</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Even the most brilliant strategy will fail if the team does not trust the person leading it. Buy-in is the prerequisite for execution.</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When introducing the Recovery Transformation Program, leaders must first ensure they have the team’s trust before expecting them to execute difficult changes.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People follow the person first, the plan second</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A great vision with a distrusted leader = resistance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A mediocre vision with a trusted leader = commitment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Build buy-in BEFORE you unveil the plan</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Your credibility is your most powerful persuasion tool</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10 of 21  |  Sapphire Leadership Academy</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10: Buy-In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Dotun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brilliant but abrasive executive presents a flawless revenue strategy. The team nods in the meeting but drags their feet because they don’t trust the executive’s motives.</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highly respected leader proposes a risky product pivot. Because they’ve spent years building trust, the team fully commits — believing that if this leader says it’s right, it must be.</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Have you ever rejected a good idea because you didn’t like the person who suggested it?</a:t>
            </a:r>
            <a:endParaRPr lang="en-US" sz="1000" dirty="0"/>
          </a:p>
          <a:p>
            <a:pPr marL="0" indent="0">
              <a:lnSpc>
                <a:spcPct val="130000"/>
              </a:lnSpc>
              <a:buNone/>
            </a:pPr>
            <a:r>
              <a:rPr lang="en-US" sz="1100" dirty="0">
                <a:solidFill>
                  <a:srgbClr val="2D2D2D"/>
                </a:solidFill>
              </a:rPr>
              <a:t>2. How do you get people to buy into you as a leader?</a:t>
            </a:r>
            <a:endParaRPr lang="en-US" sz="1000" dirty="0"/>
          </a:p>
          <a:p>
            <a:pPr marL="0" indent="0">
              <a:lnSpc>
                <a:spcPct val="130000"/>
              </a:lnSpc>
              <a:buNone/>
            </a:pPr>
            <a:r>
              <a:rPr lang="en-US" sz="1100" dirty="0">
                <a:solidFill>
                  <a:srgbClr val="2D2D2D"/>
                </a:solidFill>
              </a:rPr>
              <a:t>3. What happens when people buy into the vision but not the leader?</a:t>
            </a:r>
            <a:endParaRPr lang="en-US" sz="1000" dirty="0"/>
          </a:p>
          <a:p>
            <a:pPr marL="0" indent="0">
              <a:lnSpc>
                <a:spcPct val="130000"/>
              </a:lnSpc>
              <a:buNone/>
            </a:pPr>
            <a:r>
              <a:rPr lang="en-US" sz="1100" dirty="0">
                <a:solidFill>
                  <a:srgbClr val="2D2D2D"/>
                </a:solidFill>
              </a:rPr>
              <a:t>4. How can you measure the level of buy-in your team has for you?</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Have I given my team enough reasons to buy into me as a person before I ask them to buy into my projects?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11</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Addition</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Leaders add value by serving others  |  Speaker: Dotun</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The bottom line in leadership isn’t how far we advance ourselves but how far we advance others. Leaders add value by serving.</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Servant leadership creates a culture of mutual support and high performance. When leaders focus on making teams successful, the entire organization thrives.</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As Sapphire scales, leaders must shift from “What can my team do for me?” to “What can I do to remove roadblocks and add value to my team?”</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True leadership is service, not status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Ask your team weekly: “What can I do to make your job easier?”</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Adding value to ONE person today creates a ripple effect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Servant leadership is not weakness — it’s strategic strength</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The leader who serves most, leads most</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11 of 21  |  Sapphire Leadership Academy</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11: Addition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Dotun</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manager constantly demands late nights to meet arbitrary deadlines so they look good to EXCO. The team burns out, and the manager is eventually fired for high turnover and poor morale.</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leader notices a team member struggling with a new tool. Instead of reprimanding, the leader spends an hour teaching shortcuts. The team member becomes one of the most productive users.</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What does it mean to be a “servant leader”?</a:t>
            </a:r>
            <a:endParaRPr lang="en-US" sz="1000" dirty="0"/>
          </a:p>
          <a:p>
            <a:pPr marL="0" indent="0">
              <a:lnSpc>
                <a:spcPct val="130000"/>
              </a:lnSpc>
              <a:buNone/>
            </a:pPr>
            <a:r>
              <a:rPr lang="en-US" sz="1100" dirty="0">
                <a:solidFill>
                  <a:srgbClr val="2D2D2D"/>
                </a:solidFill>
              </a:rPr>
              <a:t>2. How can you add value to people who report to you?</a:t>
            </a:r>
            <a:endParaRPr lang="en-US" sz="1000" dirty="0"/>
          </a:p>
          <a:p>
            <a:pPr marL="0" indent="0">
              <a:lnSpc>
                <a:spcPct val="130000"/>
              </a:lnSpc>
              <a:buNone/>
            </a:pPr>
            <a:r>
              <a:rPr lang="en-US" sz="1100" dirty="0">
                <a:solidFill>
                  <a:srgbClr val="2D2D2D"/>
                </a:solidFill>
              </a:rPr>
              <a:t>3. Does serving others make a leader look weak? Why or why not?</a:t>
            </a:r>
            <a:endParaRPr lang="en-US" sz="1000" dirty="0"/>
          </a:p>
          <a:p>
            <a:pPr marL="0" indent="0">
              <a:lnSpc>
                <a:spcPct val="130000"/>
              </a:lnSpc>
              <a:buNone/>
            </a:pPr>
            <a:r>
              <a:rPr lang="en-US" sz="1100" dirty="0">
                <a:solidFill>
                  <a:srgbClr val="2D2D2D"/>
                </a:solidFill>
              </a:rPr>
              <a:t>4. How does adding value to others ultimately benefit the leader?</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currently a plus, a minus, or a zero in the lives of the people I lead?</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731520" y="548640"/>
            <a:ext cx="7680960" cy="914400"/>
          </a:xfrm>
          <a:prstGeom prst="rect">
            <a:avLst/>
          </a:prstGeom>
          <a:noFill/>
          <a:ln/>
        </p:spPr>
        <p:txBody>
          <a:bodyPr wrap="square" rtlCol="0" anchor="ctr"/>
          <a:lstStyle/>
          <a:p>
            <a:pPr marL="0" indent="0">
              <a:buNone/>
            </a:pPr>
            <a:r>
              <a:rPr lang="en-US" sz="3600" b="1" kern="0" spc="400" dirty="0">
                <a:solidFill>
                  <a:srgbClr val="FFFFFF"/>
                </a:solidFill>
                <a:latin typeface="Georgia" pitchFamily="34" charset="0"/>
                <a:ea typeface="Georgia" pitchFamily="34" charset="-122"/>
                <a:cs typeface="Georgia" pitchFamily="34" charset="-120"/>
              </a:rPr>
              <a:t>WALE</a:t>
            </a:r>
            <a:endParaRPr lang="en-US" sz="3600" dirty="0"/>
          </a:p>
        </p:txBody>
      </p:sp>
      <p:sp>
        <p:nvSpPr>
          <p:cNvPr id="3" name="Text 1"/>
          <p:cNvSpPr/>
          <p:nvPr/>
        </p:nvSpPr>
        <p:spPr>
          <a:xfrm>
            <a:off x="731520" y="1371600"/>
            <a:ext cx="7680960" cy="457200"/>
          </a:xfrm>
          <a:prstGeom prst="rect">
            <a:avLst/>
          </a:prstGeom>
          <a:noFill/>
          <a:ln/>
        </p:spPr>
        <p:txBody>
          <a:bodyPr wrap="square" rtlCol="0" anchor="ctr"/>
          <a:lstStyle/>
          <a:p>
            <a:pPr marL="0" indent="0">
              <a:buNone/>
            </a:pPr>
            <a:r>
              <a:rPr lang="en-US" sz="1600" dirty="0">
                <a:solidFill>
                  <a:srgbClr val="D4AF37"/>
                </a:solidFill>
                <a:latin typeface="Calibri" pitchFamily="34" charset="0"/>
                <a:ea typeface="Calibri" pitchFamily="34" charset="-122"/>
                <a:cs typeface="Calibri" pitchFamily="34" charset="-120"/>
              </a:rPr>
              <a:t>Executive Faculty</a:t>
            </a:r>
            <a:endParaRPr lang="en-US" sz="1600" dirty="0"/>
          </a:p>
        </p:txBody>
      </p:sp>
      <p:sp>
        <p:nvSpPr>
          <p:cNvPr id="4" name="Text 2"/>
          <p:cNvSpPr/>
          <p:nvPr/>
        </p:nvSpPr>
        <p:spPr>
          <a:xfrm>
            <a:off x="731520" y="2103120"/>
            <a:ext cx="7680960" cy="1463040"/>
          </a:xfrm>
          <a:prstGeom prst="rect">
            <a:avLst/>
          </a:prstGeom>
          <a:noFill/>
          <a:ln/>
        </p:spPr>
        <p:txBody>
          <a:bodyPr wrap="square" rtlCol="0" anchor="ctr"/>
          <a:lstStyle/>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12 — The Law of Solid Ground</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13 — The Law of Sacrifice</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14 — The Law of Victory</a:t>
            </a:r>
            <a:endParaRPr lang="en-US" sz="1500" dirty="0"/>
          </a:p>
        </p:txBody>
      </p:sp>
      <p:sp>
        <p:nvSpPr>
          <p:cNvPr id="5" name="Text 3"/>
          <p:cNvSpPr/>
          <p:nvPr/>
        </p:nvSpPr>
        <p:spPr>
          <a:xfrm>
            <a:off x="731520" y="3657600"/>
            <a:ext cx="7680960" cy="914400"/>
          </a:xfrm>
          <a:prstGeom prst="rect">
            <a:avLst/>
          </a:prstGeom>
          <a:noFill/>
          <a:ln/>
        </p:spPr>
        <p:txBody>
          <a:bodyPr wrap="square" rtlCol="0" anchor="ctr"/>
          <a:lstStyle/>
          <a:p>
            <a:pPr marL="0" indent="0">
              <a:buNone/>
            </a:pPr>
            <a:r>
              <a:rPr lang="en-US" sz="2800" dirty="0">
                <a:solidFill>
                  <a:srgbClr val="D4AF37"/>
                </a:solidFill>
                <a:latin typeface="Georgia" pitchFamily="34" charset="0"/>
                <a:ea typeface="Georgia" pitchFamily="34" charset="-122"/>
                <a:cs typeface="Georgia" pitchFamily="34" charset="-120"/>
              </a:rPr>
              <a:t>“</a:t>
            </a:r>
            <a:r>
              <a:rPr lang="en-US" sz="1300" i="1" dirty="0">
                <a:solidFill>
                  <a:srgbClr val="DDDDDD"/>
                </a:solidFill>
                <a:latin typeface="Georgia" pitchFamily="34" charset="0"/>
                <a:ea typeface="Georgia" pitchFamily="34" charset="-122"/>
                <a:cs typeface="Georgia" pitchFamily="34" charset="-120"/>
              </a:rPr>
              <a:t>A leader’s lasting value is measured by succession.</a:t>
            </a:r>
            <a:r>
              <a:rPr lang="en-US" sz="2800" dirty="0">
                <a:solidFill>
                  <a:srgbClr val="D4AF37"/>
                </a:solidFill>
                <a:latin typeface="Georgia" pitchFamily="34" charset="0"/>
                <a:ea typeface="Georgia" pitchFamily="34" charset="-122"/>
                <a:cs typeface="Georgia" pitchFamily="34" charset="-120"/>
              </a:rPr>
              <a:t>”</a:t>
            </a:r>
            <a:endParaRPr lang="en-US" sz="2800" dirty="0"/>
          </a:p>
          <a:p>
            <a:pPr marL="0" indent="0">
              <a:buNone/>
            </a:pPr>
            <a:r>
              <a:rPr lang="en-US" sz="1100" dirty="0">
                <a:solidFill>
                  <a:srgbClr val="AAAAAA"/>
                </a:solidFill>
                <a:latin typeface="Calibri" pitchFamily="34" charset="0"/>
                <a:ea typeface="Calibri" pitchFamily="34" charset="-122"/>
                <a:cs typeface="Calibri" pitchFamily="34" charset="-120"/>
              </a:rPr>
              <a:t>— John C. Maxwell</a:t>
            </a:r>
            <a:endParaRPr lang="en-US" sz="2800" dirty="0"/>
          </a:p>
        </p:txBody>
      </p:sp>
      <p:sp>
        <p:nvSpPr>
          <p:cNvPr id="6" name="Text 4"/>
          <p:cNvSpPr/>
          <p:nvPr/>
        </p:nvSpPr>
        <p:spPr>
          <a:xfrm>
            <a:off x="274320" y="4754880"/>
            <a:ext cx="8595360" cy="320040"/>
          </a:xfrm>
          <a:prstGeom prst="rect">
            <a:avLst/>
          </a:prstGeom>
          <a:noFill/>
          <a:ln/>
        </p:spPr>
        <p:txBody>
          <a:bodyPr wrap="square" rtlCol="0" anchor="ctr"/>
          <a:lstStyle/>
          <a:p>
            <a:pPr marL="0" indent="0" algn="ctr">
              <a:buNone/>
            </a:pPr>
            <a:r>
              <a:rPr lang="en-US" sz="900" kern="0" spc="200" dirty="0">
                <a:solidFill>
                  <a:srgbClr val="FFFFFF"/>
                </a:solidFill>
                <a:latin typeface="Calibri" pitchFamily="34" charset="0"/>
                <a:ea typeface="Calibri" pitchFamily="34" charset="-122"/>
                <a:cs typeface="Calibri" pitchFamily="34" charset="-120"/>
              </a:rPr>
              <a:t>SAPPHIRE LEADERSHIP ACADEMY  |  JUNE 2026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12</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Solid Ground</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Trust is the foundation of leadership  |  Speaker: Wale</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Character makes trust possible, and trust makes leadership possible. To build trust, a leader must exemplify competence, connection, and character.</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Without trust, you have no influence. When leaders break trust, they lose their ability to lead. In times of crisis, a team will only follow a leader they implicitly trust.</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As Sapphire introduces new performance metrics, leaders must act with absolute integrity and transparency. If teams suspect hidden agendas, new systems will fail.</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Trust is built in drops and lost in buckets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Character &gt; Competence for long-term leadership</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Admit mistakes immediately — cover-ups destroy trust permanently</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Consistency between words and actions IS trust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Your “trust account” with your team has a balance — are you making deposits or withdrawals?</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12 of 21  |  Sapphire Leadership Academy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12: Solid Ground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Wale</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PM promises the team a bonus for early delivery. The team works weekends to deliver, but the manager claims EXCO vetoed it — having never actually asked. Trust is permanently broken.</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leader makes a significant forecasting error. Instead of hiding it, they immediately admit the error to the team and EXCO with a fix plan. The team’s trust deepens because of their honesty.</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Why is character more important than competence for long-term trust?</a:t>
            </a:r>
            <a:endParaRPr lang="en-US" sz="1000" dirty="0"/>
          </a:p>
          <a:p>
            <a:pPr marL="0" indent="0">
              <a:lnSpc>
                <a:spcPct val="130000"/>
              </a:lnSpc>
              <a:buNone/>
            </a:pPr>
            <a:r>
              <a:rPr lang="en-US" sz="1100" dirty="0">
                <a:solidFill>
                  <a:srgbClr val="2D2D2D"/>
                </a:solidFill>
              </a:rPr>
              <a:t>2. How do you rebuild trust once broken?</a:t>
            </a:r>
            <a:endParaRPr lang="en-US" sz="1000" dirty="0"/>
          </a:p>
          <a:p>
            <a:pPr marL="0" indent="0">
              <a:lnSpc>
                <a:spcPct val="130000"/>
              </a:lnSpc>
              <a:buNone/>
            </a:pPr>
            <a:r>
              <a:rPr lang="en-US" sz="1100" dirty="0">
                <a:solidFill>
                  <a:srgbClr val="2D2D2D"/>
                </a:solidFill>
              </a:rPr>
              <a:t>3. What are the subtle ways leaders lose their team’s trust?</a:t>
            </a:r>
            <a:endParaRPr lang="en-US" sz="1000" dirty="0"/>
          </a:p>
          <a:p>
            <a:pPr marL="0" indent="0">
              <a:lnSpc>
                <a:spcPct val="130000"/>
              </a:lnSpc>
              <a:buNone/>
            </a:pPr>
            <a:r>
              <a:rPr lang="en-US" sz="1100" dirty="0">
                <a:solidFill>
                  <a:srgbClr val="2D2D2D"/>
                </a:solidFill>
              </a:rPr>
              <a:t>4. Can you be effective if people trust your character but not your competence?</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Do my actions when no one is watching align with the values I preach when everyone is listening?</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13</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Sacrifice</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 leader must give up to go up  |  Speaker: Wale</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The higher you go in leadership, the more you must sacrifice in terms of personal rights, time, and immediate gratification. Leadership is about responsibility, not perks.</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Leaders unwilling to sacrifice for their teams or vision will hit a ceiling they cannot break through. Sacrifice is not a one-time event — it’s an ongoing leadership requirement.</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As Sapphire executives push to scale, they must sacrifice comfort zones, old ways of working, and sometimes personal time to ensure the organization’s success.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Leadership is responsibility, not privilege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The higher you go, the more you give up — not the more you gain</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Sacrifice your spotlight to elevate your team</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Balance sacrifice with sustainable boundaries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Your team watches what you sacrifice more than what you say</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13 of 21  |  Sapphire Leadership Academy</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13: Sacrifice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Wale</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During a critical DevFin launch, a senior leader refuses to adjust their vacation, leaving the junior team to handle immense pressure alone. The launch is chaotic and the leader loses all credibility.</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manager is offered a prestigious project but realizes a junior team member needs the development opportunity. They sacrifice their own spotlight, resulting in a wildly successful project and a loyal employee.</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What is the biggest sacrifice you’ve made for your team?</a:t>
            </a:r>
            <a:endParaRPr lang="en-US" sz="1000" dirty="0"/>
          </a:p>
          <a:p>
            <a:pPr marL="0" indent="0">
              <a:lnSpc>
                <a:spcPct val="130000"/>
              </a:lnSpc>
              <a:buNone/>
            </a:pPr>
            <a:r>
              <a:rPr lang="en-US" sz="1100" dirty="0">
                <a:solidFill>
                  <a:srgbClr val="2D2D2D"/>
                </a:solidFill>
              </a:rPr>
              <a:t>2. Why do people confuse leadership with privilege?</a:t>
            </a:r>
            <a:endParaRPr lang="en-US" sz="1000" dirty="0"/>
          </a:p>
          <a:p>
            <a:pPr marL="0" indent="0">
              <a:lnSpc>
                <a:spcPct val="130000"/>
              </a:lnSpc>
              <a:buNone/>
            </a:pPr>
            <a:r>
              <a:rPr lang="en-US" sz="1100" dirty="0">
                <a:solidFill>
                  <a:srgbClr val="2D2D2D"/>
                </a:solidFill>
              </a:rPr>
              <a:t>3. What must you give up right now to reach the next level?</a:t>
            </a:r>
            <a:endParaRPr lang="en-US" sz="1000" dirty="0"/>
          </a:p>
          <a:p>
            <a:pPr marL="0" indent="0">
              <a:lnSpc>
                <a:spcPct val="130000"/>
              </a:lnSpc>
              <a:buNone/>
            </a:pPr>
            <a:r>
              <a:rPr lang="en-US" sz="1100" dirty="0">
                <a:solidFill>
                  <a:srgbClr val="2D2D2D"/>
                </a:solidFill>
              </a:rPr>
              <a:t>4. Is sacrifice a one-time event or ongoing?</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pursuing leadership for what I can get out of it, or for what I can give to it?</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14</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Victory</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Leaders find a way for the team to win  |  Speaker: Wale</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Victorious leaders possess an unwillingness to accept defeat. They figure out what must be done to achieve victory and then do it. Effort is appreciated, but results are required.</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In business, a leader’s ultimate responsibility is to navigate obstacles and deliver the win. “We tried” is not an acceptable outcome for a true leader.</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When Enterprise Partnerships face legal hurdles, leaders cannot simply say “we tried.” They must find creative, compliant solutions to secure the win.</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Refusing defeat is a mindset, not stubbornness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Victory requires creativity, not just effort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Leaders unite diverse people around a common winning outcome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Celebrate wins loudly — they build the momentum for the next win</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Effort without results is just activity — leaders deliver outcomes</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14 of 21  |  Sapphire Leadership Academy</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14: Victory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Wale</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project hits a major roadblock. The team lead immediately scales back goals, accepts mediocrity, and blames the vendor. The team learns that quitting is acceptable.</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marketing campaign is failing halfway through. The leader refuses defeat, pulls the team into a war room, pivots the strategy overnight, and ultimately exceeds original targets.</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What is the difference between a leader who accepts defeat and one who finds a way?</a:t>
            </a:r>
            <a:endParaRPr lang="en-US" sz="1000" dirty="0"/>
          </a:p>
          <a:p>
            <a:pPr marL="0" indent="0">
              <a:lnSpc>
                <a:spcPct val="130000"/>
              </a:lnSpc>
              <a:buNone/>
            </a:pPr>
            <a:r>
              <a:rPr lang="en-US" sz="1100" dirty="0">
                <a:solidFill>
                  <a:srgbClr val="2D2D2D"/>
                </a:solidFill>
              </a:rPr>
              <a:t>2. How do you maintain morale when victory seems impossible?</a:t>
            </a:r>
            <a:endParaRPr lang="en-US" sz="1000" dirty="0"/>
          </a:p>
          <a:p>
            <a:pPr marL="0" indent="0">
              <a:lnSpc>
                <a:spcPct val="130000"/>
              </a:lnSpc>
              <a:buNone/>
            </a:pPr>
            <a:r>
              <a:rPr lang="en-US" sz="1100" dirty="0">
                <a:solidFill>
                  <a:srgbClr val="2D2D2D"/>
                </a:solidFill>
              </a:rPr>
              <a:t>3. Is there a danger in pursuing victory at all costs?</a:t>
            </a:r>
            <a:endParaRPr lang="en-US" sz="1000" dirty="0"/>
          </a:p>
          <a:p>
            <a:pPr marL="0" indent="0">
              <a:lnSpc>
                <a:spcPct val="130000"/>
              </a:lnSpc>
              <a:buNone/>
            </a:pPr>
            <a:r>
              <a:rPr lang="en-US" sz="1100" dirty="0">
                <a:solidFill>
                  <a:srgbClr val="2D2D2D"/>
                </a:solidFill>
              </a:rPr>
              <a:t>4. Describe a time you snatched victory from the jaws of defeat.</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When the pressure is on, do I look for excuses, or do I look for a way to win?</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731520" y="548640"/>
            <a:ext cx="7680960" cy="914400"/>
          </a:xfrm>
          <a:prstGeom prst="rect">
            <a:avLst/>
          </a:prstGeom>
          <a:noFill/>
          <a:ln/>
        </p:spPr>
        <p:txBody>
          <a:bodyPr wrap="square" rtlCol="0" anchor="ctr"/>
          <a:lstStyle/>
          <a:p>
            <a:pPr marL="0" indent="0">
              <a:buNone/>
            </a:pPr>
            <a:r>
              <a:rPr lang="en-US" sz="3600" b="1" kern="0" spc="400" dirty="0">
                <a:solidFill>
                  <a:srgbClr val="FFFFFF"/>
                </a:solidFill>
                <a:latin typeface="Georgia" pitchFamily="34" charset="0"/>
                <a:ea typeface="Georgia" pitchFamily="34" charset="-122"/>
                <a:cs typeface="Georgia" pitchFamily="34" charset="-120"/>
              </a:rPr>
              <a:t>AYO</a:t>
            </a:r>
            <a:endParaRPr lang="en-US" sz="3600" dirty="0"/>
          </a:p>
        </p:txBody>
      </p:sp>
      <p:sp>
        <p:nvSpPr>
          <p:cNvPr id="3" name="Text 1"/>
          <p:cNvSpPr/>
          <p:nvPr/>
        </p:nvSpPr>
        <p:spPr>
          <a:xfrm>
            <a:off x="731520" y="1371600"/>
            <a:ext cx="7680960" cy="457200"/>
          </a:xfrm>
          <a:prstGeom prst="rect">
            <a:avLst/>
          </a:prstGeom>
          <a:noFill/>
          <a:ln/>
        </p:spPr>
        <p:txBody>
          <a:bodyPr wrap="square" rtlCol="0" anchor="ctr"/>
          <a:lstStyle/>
          <a:p>
            <a:pPr marL="0" indent="0">
              <a:buNone/>
            </a:pPr>
            <a:r>
              <a:rPr lang="en-US" sz="1600" dirty="0">
                <a:solidFill>
                  <a:srgbClr val="D4AF37"/>
                </a:solidFill>
                <a:latin typeface="Calibri" pitchFamily="34" charset="0"/>
                <a:ea typeface="Calibri" pitchFamily="34" charset="-122"/>
                <a:cs typeface="Calibri" pitchFamily="34" charset="-120"/>
              </a:rPr>
              <a:t>Executive Faculty</a:t>
            </a:r>
            <a:endParaRPr lang="en-US" sz="1600" dirty="0"/>
          </a:p>
        </p:txBody>
      </p:sp>
      <p:sp>
        <p:nvSpPr>
          <p:cNvPr id="4" name="Text 2"/>
          <p:cNvSpPr/>
          <p:nvPr/>
        </p:nvSpPr>
        <p:spPr>
          <a:xfrm>
            <a:off x="731520" y="2103120"/>
            <a:ext cx="7680960" cy="1463040"/>
          </a:xfrm>
          <a:prstGeom prst="rect">
            <a:avLst/>
          </a:prstGeom>
          <a:noFill/>
          <a:ln/>
        </p:spPr>
        <p:txBody>
          <a:bodyPr wrap="square" rtlCol="0" anchor="ctr"/>
          <a:lstStyle/>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15 — The Law of Intuition</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16 — The Law of Timing</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17 — The Law of Magnetism</a:t>
            </a:r>
            <a:endParaRPr lang="en-US" sz="1500" dirty="0"/>
          </a:p>
        </p:txBody>
      </p:sp>
      <p:sp>
        <p:nvSpPr>
          <p:cNvPr id="5" name="Text 3"/>
          <p:cNvSpPr/>
          <p:nvPr/>
        </p:nvSpPr>
        <p:spPr>
          <a:xfrm>
            <a:off x="731520" y="3657600"/>
            <a:ext cx="7680960" cy="914400"/>
          </a:xfrm>
          <a:prstGeom prst="rect">
            <a:avLst/>
          </a:prstGeom>
          <a:noFill/>
          <a:ln/>
        </p:spPr>
        <p:txBody>
          <a:bodyPr wrap="square" rtlCol="0" anchor="ctr"/>
          <a:lstStyle/>
          <a:p>
            <a:pPr marL="0" indent="0">
              <a:buNone/>
            </a:pPr>
            <a:r>
              <a:rPr lang="en-US" sz="2800" dirty="0">
                <a:solidFill>
                  <a:srgbClr val="D4AF37"/>
                </a:solidFill>
                <a:latin typeface="Georgia" pitchFamily="34" charset="0"/>
                <a:ea typeface="Georgia" pitchFamily="34" charset="-122"/>
                <a:cs typeface="Georgia" pitchFamily="34" charset="-120"/>
              </a:rPr>
              <a:t>“</a:t>
            </a:r>
            <a:r>
              <a:rPr lang="en-US" sz="1300" i="1" dirty="0">
                <a:solidFill>
                  <a:srgbClr val="DDDDDD"/>
                </a:solidFill>
                <a:latin typeface="Georgia" pitchFamily="34" charset="0"/>
                <a:ea typeface="Georgia" pitchFamily="34" charset="-122"/>
                <a:cs typeface="Georgia" pitchFamily="34" charset="-120"/>
              </a:rPr>
              <a:t>The higher you want to climb, the more you need leadership.</a:t>
            </a:r>
            <a:r>
              <a:rPr lang="en-US" sz="2800" dirty="0">
                <a:solidFill>
                  <a:srgbClr val="D4AF37"/>
                </a:solidFill>
                <a:latin typeface="Georgia" pitchFamily="34" charset="0"/>
                <a:ea typeface="Georgia" pitchFamily="34" charset="-122"/>
                <a:cs typeface="Georgia" pitchFamily="34" charset="-120"/>
              </a:rPr>
              <a:t>”</a:t>
            </a:r>
            <a:endParaRPr lang="en-US" sz="2800" dirty="0"/>
          </a:p>
          <a:p>
            <a:pPr marL="0" indent="0">
              <a:buNone/>
            </a:pPr>
            <a:r>
              <a:rPr lang="en-US" sz="1100" dirty="0">
                <a:solidFill>
                  <a:srgbClr val="AAAAAA"/>
                </a:solidFill>
                <a:latin typeface="Calibri" pitchFamily="34" charset="0"/>
                <a:ea typeface="Calibri" pitchFamily="34" charset="-122"/>
                <a:cs typeface="Calibri" pitchFamily="34" charset="-120"/>
              </a:rPr>
              <a:t>— John C. Maxwell</a:t>
            </a:r>
            <a:endParaRPr lang="en-US" sz="2800" dirty="0"/>
          </a:p>
        </p:txBody>
      </p:sp>
      <p:sp>
        <p:nvSpPr>
          <p:cNvPr id="6" name="Text 4"/>
          <p:cNvSpPr/>
          <p:nvPr/>
        </p:nvSpPr>
        <p:spPr>
          <a:xfrm>
            <a:off x="274320" y="4754880"/>
            <a:ext cx="8595360" cy="320040"/>
          </a:xfrm>
          <a:prstGeom prst="rect">
            <a:avLst/>
          </a:prstGeom>
          <a:noFill/>
          <a:ln/>
        </p:spPr>
        <p:txBody>
          <a:bodyPr wrap="square" rtlCol="0" anchor="ctr"/>
          <a:lstStyle/>
          <a:p>
            <a:pPr marL="0" indent="0" algn="ctr">
              <a:buNone/>
            </a:pPr>
            <a:r>
              <a:rPr lang="en-US" sz="900" kern="0" spc="200" dirty="0">
                <a:solidFill>
                  <a:srgbClr val="FFFFFF"/>
                </a:solidFill>
                <a:latin typeface="Calibri" pitchFamily="34" charset="0"/>
                <a:ea typeface="Calibri" pitchFamily="34" charset="-122"/>
                <a:cs typeface="Calibri" pitchFamily="34" charset="-120"/>
              </a:rPr>
              <a:t>SAPPHIRE LEADERSHIP ACADEMY  |  JUNE 2026</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15</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Intuition</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Leaders evaluate everything with a leadership bias  |  Speaker: Ayo</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Leaders read the situation, the trends, the resources, the people, and themselves. Intuition is sensing what is happening before it is fully obvious.</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Data tells you about the past. Intuition allows leaders to navigate ambiguity, make crisis decisions quickly, and seize opportunities before competitors.</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When evaluating DevFin market opportunities, leaders must combine market data with leadership intuition to determine if Sapphire has the right team and timing.</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Intuition is informed instinct, not guessing</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Leaders who ignore their gut often regret it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Data + Intuition = Superior decision-making</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Practice “reading the room” in every meeting</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Intuition improves with experience — it’s a muscle, not a gift</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15 of 21  |  Sapphire Leadership Academy</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15: Intuition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Ayo</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manager relies entirely on spreadsheets to assess team health. Despite data showing high output, they ignore subtle signs of burnout. Two key engineers resign unexpectedly.</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During a client meeting, a director senses unspoken hesitation despite verbal agreement. They pause, ask probing questions, uncover a hidden concern, and save a multi-million-naira deal.</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Can leadership intuition be learned, or is it innate?</a:t>
            </a:r>
            <a:endParaRPr lang="en-US" sz="1000" dirty="0"/>
          </a:p>
          <a:p>
            <a:pPr marL="0" indent="0">
              <a:lnSpc>
                <a:spcPct val="130000"/>
              </a:lnSpc>
              <a:buNone/>
            </a:pPr>
            <a:r>
              <a:rPr lang="en-US" sz="1100" dirty="0">
                <a:solidFill>
                  <a:srgbClr val="2D2D2D"/>
                </a:solidFill>
              </a:rPr>
              <a:t>2. How do you balance data-driven decisions with intuition?</a:t>
            </a:r>
            <a:endParaRPr lang="en-US" sz="1000" dirty="0"/>
          </a:p>
          <a:p>
            <a:pPr marL="0" indent="0">
              <a:lnSpc>
                <a:spcPct val="130000"/>
              </a:lnSpc>
              <a:buNone/>
            </a:pPr>
            <a:r>
              <a:rPr lang="en-US" sz="1100" dirty="0">
                <a:solidFill>
                  <a:srgbClr val="2D2D2D"/>
                </a:solidFill>
              </a:rPr>
              <a:t>3. What happens when you ignore your leadership intuition?</a:t>
            </a:r>
            <a:endParaRPr lang="en-US" sz="1000" dirty="0"/>
          </a:p>
          <a:p>
            <a:pPr marL="0" indent="0">
              <a:lnSpc>
                <a:spcPct val="130000"/>
              </a:lnSpc>
              <a:buNone/>
            </a:pPr>
            <a:r>
              <a:rPr lang="en-US" sz="1100" dirty="0">
                <a:solidFill>
                  <a:srgbClr val="2D2D2D"/>
                </a:solidFill>
              </a:rPr>
              <a:t>4. In what areas of business is your intuition strongest?</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too reliant on hard data, or do I trust my ability to read people and situations?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16</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Timing</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When to lead is as important as what to do  |  Speaker: Ayo</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The right action at the wrong time brings resistance. The wrong action at the right time is a mistake. Only the right action at the right time results in success.</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Brilliant strategies fail constantly because of poor timing. Leaders must read market readiness, organizational readiness, and team morale to determine the exact moment to execute.</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Launching the Automation Office required precise timing. Too early would have overwhelmed a fragile system; too late would have cost Sapphire competitive advantage.</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Right action + wrong time = resistance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Wrong action + right time = mistake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Right action + right time = SUCCESS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Timing difficult conversations is as critical as the content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Impatience and fear are the two enemies of good timing</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16 of 21  |  Sapphire Leadership Academy</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16: Timing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Ayo</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leader announces massive restructuring the week before the company’s biggest product launch. The team is distracted, the launch fails, and the restructuring is botched.</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manager recognizes the team is exhausted after a gruelling quarter. Instead of immediately launching the next initiative, they delay two weeks for celebration and recovery. The energized team then executes flawlessly.</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Have you ever had the right idea but executed at the wrong time?</a:t>
            </a:r>
            <a:endParaRPr lang="en-US" sz="1000" dirty="0"/>
          </a:p>
          <a:p>
            <a:pPr marL="0" indent="0">
              <a:lnSpc>
                <a:spcPct val="130000"/>
              </a:lnSpc>
              <a:buNone/>
            </a:pPr>
            <a:r>
              <a:rPr lang="en-US" sz="1100" dirty="0">
                <a:solidFill>
                  <a:srgbClr val="2D2D2D"/>
                </a:solidFill>
              </a:rPr>
              <a:t>2. How do you assess if an organization is “ready” for a change?</a:t>
            </a:r>
            <a:endParaRPr lang="en-US" sz="1000" dirty="0"/>
          </a:p>
          <a:p>
            <a:pPr marL="0" indent="0">
              <a:lnSpc>
                <a:spcPct val="130000"/>
              </a:lnSpc>
              <a:buNone/>
            </a:pPr>
            <a:r>
              <a:rPr lang="en-US" sz="1100" dirty="0">
                <a:solidFill>
                  <a:srgbClr val="2D2D2D"/>
                </a:solidFill>
              </a:rPr>
              <a:t>3. What are the signs you’re moving too fast for your team?</a:t>
            </a:r>
            <a:endParaRPr lang="en-US" sz="1000" dirty="0"/>
          </a:p>
          <a:p>
            <a:pPr marL="0" indent="0">
              <a:lnSpc>
                <a:spcPct val="130000"/>
              </a:lnSpc>
              <a:buNone/>
            </a:pPr>
            <a:r>
              <a:rPr lang="en-US" sz="1100" dirty="0">
                <a:solidFill>
                  <a:srgbClr val="2D2D2D"/>
                </a:solidFill>
              </a:rPr>
              <a:t>4. How does timing apply to having difficult conversations?</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rushing things out of impatience, or delaying things out of fear?</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17</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Magnetism</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Who you are is who you attract  |  Speaker: Ayo</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Leaders naturally attract people who possess similar qualities, values, and attitudes. If you want to attract better people, you must become a better person.</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You cannot build a high-performing, high-integrity team if you don’t model those traits. If you’re surrounded by negative people, it reflects your own leadership.</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To attract top-tier talent for Sapphire 4.0, leaders must embody the innovation, excellence, and culture we want to see in new hires.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Your team is a mirror of your leadership</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Want better people? Become a better leader first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You attract WHO you are, not who you WANT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Eliminate negative traits in yourself to change your “magnetism”</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Opposites attract in skills but similars attract in values</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17 of 21  |  Sapphire Leadership Academy</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17: Magnetism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Ayo</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manager constantly complains, cuts corners, and gossips. They are baffled when high-performing employees leave, and they’re left with cynical underperformers.</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leader is relentlessly positive, highly accountable, and committed to learning. Without actively recruiting, they naturally attract the brightest young talent who want that environment.</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Look at the people closest to you at work. What do they say about you?</a:t>
            </a:r>
            <a:endParaRPr lang="en-US" sz="1000" dirty="0"/>
          </a:p>
          <a:p>
            <a:pPr marL="0" indent="0">
              <a:lnSpc>
                <a:spcPct val="130000"/>
              </a:lnSpc>
              <a:buNone/>
            </a:pPr>
            <a:r>
              <a:rPr lang="en-US" sz="1100" dirty="0">
                <a:solidFill>
                  <a:srgbClr val="2D2D2D"/>
                </a:solidFill>
              </a:rPr>
              <a:t>2. If you want innovative problem-solvers, what must you do first?</a:t>
            </a:r>
            <a:endParaRPr lang="en-US" sz="1000" dirty="0"/>
          </a:p>
          <a:p>
            <a:pPr marL="0" indent="0">
              <a:lnSpc>
                <a:spcPct val="130000"/>
              </a:lnSpc>
              <a:buNone/>
            </a:pPr>
            <a:r>
              <a:rPr lang="en-US" sz="1100" dirty="0">
                <a:solidFill>
                  <a:srgbClr val="2D2D2D"/>
                </a:solidFill>
              </a:rPr>
              <a:t>3. How does the Law of Magnetism affect recruiting and hiring?</a:t>
            </a:r>
            <a:endParaRPr lang="en-US" sz="1000" dirty="0"/>
          </a:p>
          <a:p>
            <a:pPr marL="0" indent="0">
              <a:lnSpc>
                <a:spcPct val="130000"/>
              </a:lnSpc>
              <a:buNone/>
            </a:pPr>
            <a:r>
              <a:rPr lang="en-US" sz="1100" dirty="0">
                <a:solidFill>
                  <a:srgbClr val="2D2D2D"/>
                </a:solidFill>
              </a:rPr>
              <a:t>4. Can a leader change their “magnetism”? How?</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If my entire team became an exact replica of me, would the company succeed or fail?</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731520" y="548640"/>
            <a:ext cx="7680960" cy="914400"/>
          </a:xfrm>
          <a:prstGeom prst="rect">
            <a:avLst/>
          </a:prstGeom>
          <a:noFill/>
          <a:ln/>
        </p:spPr>
        <p:txBody>
          <a:bodyPr wrap="square" rtlCol="0" anchor="ctr"/>
          <a:lstStyle/>
          <a:p>
            <a:pPr marL="0" indent="0">
              <a:buNone/>
            </a:pPr>
            <a:r>
              <a:rPr lang="en-US" sz="3600" b="1" kern="0" spc="400" dirty="0">
                <a:solidFill>
                  <a:srgbClr val="FFFFFF"/>
                </a:solidFill>
                <a:latin typeface="Georgia" pitchFamily="34" charset="0"/>
                <a:ea typeface="Georgia" pitchFamily="34" charset="-122"/>
                <a:cs typeface="Georgia" pitchFamily="34" charset="-120"/>
              </a:rPr>
              <a:t>LEKE</a:t>
            </a:r>
            <a:endParaRPr lang="en-US" sz="3600" dirty="0"/>
          </a:p>
        </p:txBody>
      </p:sp>
      <p:sp>
        <p:nvSpPr>
          <p:cNvPr id="3" name="Text 1"/>
          <p:cNvSpPr/>
          <p:nvPr/>
        </p:nvSpPr>
        <p:spPr>
          <a:xfrm>
            <a:off x="731520" y="1371600"/>
            <a:ext cx="7680960" cy="457200"/>
          </a:xfrm>
          <a:prstGeom prst="rect">
            <a:avLst/>
          </a:prstGeom>
          <a:noFill/>
          <a:ln/>
        </p:spPr>
        <p:txBody>
          <a:bodyPr wrap="square" rtlCol="0" anchor="ctr"/>
          <a:lstStyle/>
          <a:p>
            <a:pPr marL="0" indent="0">
              <a:buNone/>
            </a:pPr>
            <a:r>
              <a:rPr lang="en-US" sz="1600" dirty="0">
                <a:solidFill>
                  <a:srgbClr val="D4AF37"/>
                </a:solidFill>
                <a:latin typeface="Calibri" pitchFamily="34" charset="0"/>
                <a:ea typeface="Calibri" pitchFamily="34" charset="-122"/>
                <a:cs typeface="Calibri" pitchFamily="34" charset="-120"/>
              </a:rPr>
              <a:t>Executive Faculty</a:t>
            </a:r>
            <a:endParaRPr lang="en-US" sz="1600" dirty="0"/>
          </a:p>
        </p:txBody>
      </p:sp>
      <p:sp>
        <p:nvSpPr>
          <p:cNvPr id="4" name="Text 2"/>
          <p:cNvSpPr/>
          <p:nvPr/>
        </p:nvSpPr>
        <p:spPr>
          <a:xfrm>
            <a:off x="731520" y="2103120"/>
            <a:ext cx="7680960" cy="1463040"/>
          </a:xfrm>
          <a:prstGeom prst="rect">
            <a:avLst/>
          </a:prstGeom>
          <a:noFill/>
          <a:ln/>
        </p:spPr>
        <p:txBody>
          <a:bodyPr wrap="square" rtlCol="0" anchor="ctr"/>
          <a:lstStyle/>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18 — The Law of Reproduction</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19 — The Law of the Inner Circle</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20 — The Law of Explosive Growth</a:t>
            </a:r>
            <a:endParaRPr lang="en-US" sz="1500" dirty="0"/>
          </a:p>
          <a:p>
            <a:pPr marL="0" indent="0">
              <a:lnSpc>
                <a:spcPct val="150000"/>
              </a:lnSpc>
              <a:buNone/>
            </a:pPr>
            <a:r>
              <a:rPr lang="en-US" sz="1500" dirty="0">
                <a:solidFill>
                  <a:srgbClr val="FFFFFF"/>
                </a:solidFill>
                <a:latin typeface="Calibri" pitchFamily="34" charset="0"/>
                <a:ea typeface="Calibri" pitchFamily="34" charset="-122"/>
                <a:cs typeface="Calibri" pitchFamily="34" charset="-120"/>
              </a:rPr>
              <a:t>Law 21 — The Law of Big Mo</a:t>
            </a:r>
            <a:endParaRPr lang="en-US" sz="1500" dirty="0"/>
          </a:p>
        </p:txBody>
      </p:sp>
      <p:sp>
        <p:nvSpPr>
          <p:cNvPr id="5" name="Text 3"/>
          <p:cNvSpPr/>
          <p:nvPr/>
        </p:nvSpPr>
        <p:spPr>
          <a:xfrm>
            <a:off x="731520" y="3657600"/>
            <a:ext cx="7680960" cy="914400"/>
          </a:xfrm>
          <a:prstGeom prst="rect">
            <a:avLst/>
          </a:prstGeom>
          <a:noFill/>
          <a:ln/>
        </p:spPr>
        <p:txBody>
          <a:bodyPr wrap="square" rtlCol="0" anchor="ctr"/>
          <a:lstStyle/>
          <a:p>
            <a:pPr marL="0" indent="0">
              <a:buNone/>
            </a:pPr>
            <a:r>
              <a:rPr lang="en-US" sz="2800" dirty="0">
                <a:solidFill>
                  <a:srgbClr val="D4AF37"/>
                </a:solidFill>
                <a:latin typeface="Georgia" pitchFamily="34" charset="0"/>
                <a:ea typeface="Georgia" pitchFamily="34" charset="-122"/>
                <a:cs typeface="Georgia" pitchFamily="34" charset="-120"/>
              </a:rPr>
              <a:t>“</a:t>
            </a:r>
            <a:r>
              <a:rPr lang="en-US" sz="1300" i="1" dirty="0">
                <a:solidFill>
                  <a:srgbClr val="DDDDDD"/>
                </a:solidFill>
                <a:latin typeface="Georgia" pitchFamily="34" charset="0"/>
                <a:ea typeface="Georgia" pitchFamily="34" charset="-122"/>
                <a:cs typeface="Georgia" pitchFamily="34" charset="-120"/>
              </a:rPr>
              <a:t>To add growth, lead followers. To multiply growth, lead leaders.</a:t>
            </a:r>
            <a:r>
              <a:rPr lang="en-US" sz="2800" dirty="0">
                <a:solidFill>
                  <a:srgbClr val="D4AF37"/>
                </a:solidFill>
                <a:latin typeface="Georgia" pitchFamily="34" charset="0"/>
                <a:ea typeface="Georgia" pitchFamily="34" charset="-122"/>
                <a:cs typeface="Georgia" pitchFamily="34" charset="-120"/>
              </a:rPr>
              <a:t>”</a:t>
            </a:r>
            <a:endParaRPr lang="en-US" sz="2800" dirty="0"/>
          </a:p>
          <a:p>
            <a:pPr marL="0" indent="0">
              <a:buNone/>
            </a:pPr>
            <a:r>
              <a:rPr lang="en-US" sz="1100" dirty="0">
                <a:solidFill>
                  <a:srgbClr val="AAAAAA"/>
                </a:solidFill>
                <a:latin typeface="Calibri" pitchFamily="34" charset="0"/>
                <a:ea typeface="Calibri" pitchFamily="34" charset="-122"/>
                <a:cs typeface="Calibri" pitchFamily="34" charset="-120"/>
              </a:rPr>
              <a:t>— John C. Maxwell</a:t>
            </a:r>
            <a:endParaRPr lang="en-US" sz="2800" dirty="0"/>
          </a:p>
        </p:txBody>
      </p:sp>
      <p:sp>
        <p:nvSpPr>
          <p:cNvPr id="6" name="Text 4"/>
          <p:cNvSpPr/>
          <p:nvPr/>
        </p:nvSpPr>
        <p:spPr>
          <a:xfrm>
            <a:off x="274320" y="4754880"/>
            <a:ext cx="8595360" cy="320040"/>
          </a:xfrm>
          <a:prstGeom prst="rect">
            <a:avLst/>
          </a:prstGeom>
          <a:noFill/>
          <a:ln/>
        </p:spPr>
        <p:txBody>
          <a:bodyPr wrap="square" rtlCol="0" anchor="ctr"/>
          <a:lstStyle/>
          <a:p>
            <a:pPr marL="0" indent="0" algn="ctr">
              <a:buNone/>
            </a:pPr>
            <a:r>
              <a:rPr lang="en-US" sz="900" kern="0" spc="200" dirty="0">
                <a:solidFill>
                  <a:srgbClr val="FFFFFF"/>
                </a:solidFill>
                <a:latin typeface="Calibri" pitchFamily="34" charset="0"/>
                <a:ea typeface="Calibri" pitchFamily="34" charset="-122"/>
                <a:cs typeface="Calibri" pitchFamily="34" charset="-120"/>
              </a:rPr>
              <a:t>SAPPHIRE LEADERSHIP ACADEMY  |  JUNE 2026</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18</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Reproduction</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It takes a leader to raise up a leader  |  Speaker: Leke</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Followers cannot develop leaders. Programs cannot develop leaders. Only leaders can develop other leaders. Leadership development must be personal and intentional.</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An organization’s growth is severely capped if leadership development is left to chance or outsourced entirely to HR. Leaders must take personal responsibility.</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The SLA is built on this law. EXCO members are actively participating as faculty and mentors to reproduce leadership — not just delegating training.</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Leaders produce leaders; followers produce followers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Mentoring requires personal investment of TIME, not just advice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Shadow me, debrief me, replicate me — the reproduction cycle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Online courses produce knowledge, not leaders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Your most important legacy is the leaders you develop</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18 of 21  |  Sapphire Leadership Academy</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18: Reproduction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Leke</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senior executive relies entirely on online training modules. Managers learn theory but never learn to navigate real-world challenges because they lack a leadership model to emulate.</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director invites a high-potential analyst to shadow them in high-level meetings, debriefs afterward, and coaches through complex decisions. Within two years, the analyst is ready to manage.</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Who was the leader who “reproduced” leadership in you?</a:t>
            </a:r>
            <a:endParaRPr lang="en-US" sz="1000" dirty="0"/>
          </a:p>
          <a:p>
            <a:pPr marL="0" indent="0">
              <a:lnSpc>
                <a:spcPct val="130000"/>
              </a:lnSpc>
              <a:buNone/>
            </a:pPr>
            <a:r>
              <a:rPr lang="en-US" sz="1100" dirty="0">
                <a:solidFill>
                  <a:srgbClr val="2D2D2D"/>
                </a:solidFill>
              </a:rPr>
              <a:t>2. What is the difference between training a follower and developing a leader?</a:t>
            </a:r>
            <a:endParaRPr lang="en-US" sz="1000" dirty="0"/>
          </a:p>
          <a:p>
            <a:pPr marL="0" indent="0">
              <a:lnSpc>
                <a:spcPct val="130000"/>
              </a:lnSpc>
              <a:buNone/>
            </a:pPr>
            <a:r>
              <a:rPr lang="en-US" sz="1100" dirty="0">
                <a:solidFill>
                  <a:srgbClr val="2D2D2D"/>
                </a:solidFill>
              </a:rPr>
              <a:t>3. How do you identify someone with leadership potential?</a:t>
            </a:r>
            <a:endParaRPr lang="en-US" sz="1000" dirty="0"/>
          </a:p>
          <a:p>
            <a:pPr marL="0" indent="0">
              <a:lnSpc>
                <a:spcPct val="130000"/>
              </a:lnSpc>
              <a:buNone/>
            </a:pPr>
            <a:r>
              <a:rPr lang="en-US" sz="1100" dirty="0">
                <a:solidFill>
                  <a:srgbClr val="2D2D2D"/>
                </a:solidFill>
              </a:rPr>
              <a:t>4. What happens to an organization that fails to reproduce leaders?</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Who am I intentionally developing right now to be a better leader than I am?</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19</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the Inner Circle</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 leader’s potential is determined by those closest to them  |  Speaker: Leke</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You are only as good as the people you surround yourself with. If your inner circle is strong, you can achieve greatness. If weak, you will fail.</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No leader can do everything. Leaders must surround themselves with people who complement their weaknesses, challenge their thinking, and share their values.</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As EXCO drives Sapphire 4.0, their success depends entirely on the strength of their inner circle — the management team and SLA participants.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“Yes-men” are the most dangerous people in your inner circle</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Build your circle to complement your weaknesses, not mirror your strengths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The right inner circle member will tell you what you need to hear, not what you want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Regularly audit your inner circle for gaps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Your inner circle determines your ceiling</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19 of 21  |  Sapphire Leadership Academy</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19: Inner Circle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Leke</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CEO surrounds themselves with “yes-men” who agree with every idea. The company launches a disastrous product because the inner circle was too weak to speak truth.</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visionary leader who struggles with details hires a highly analytical operations manager. Together they form a perfect team, turning big ideas into flawless execution.</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Who is currently in your inner circle at work?</a:t>
            </a:r>
            <a:endParaRPr lang="en-US" sz="1000" dirty="0"/>
          </a:p>
          <a:p>
            <a:pPr marL="0" indent="0">
              <a:lnSpc>
                <a:spcPct val="130000"/>
              </a:lnSpc>
              <a:buNone/>
            </a:pPr>
            <a:r>
              <a:rPr lang="en-US" sz="1100" dirty="0">
                <a:solidFill>
                  <a:srgbClr val="2D2D2D"/>
                </a:solidFill>
              </a:rPr>
              <a:t>2. Does your inner circle challenge you, or just agree with you?</a:t>
            </a:r>
            <a:endParaRPr lang="en-US" sz="1000" dirty="0"/>
          </a:p>
          <a:p>
            <a:pPr marL="0" indent="0">
              <a:lnSpc>
                <a:spcPct val="130000"/>
              </a:lnSpc>
              <a:buNone/>
            </a:pPr>
            <a:r>
              <a:rPr lang="en-US" sz="1100" dirty="0">
                <a:solidFill>
                  <a:srgbClr val="2D2D2D"/>
                </a:solidFill>
              </a:rPr>
              <a:t>3. How do you build a circle that complements your weaknesses?</a:t>
            </a:r>
            <a:endParaRPr lang="en-US" sz="1000" dirty="0"/>
          </a:p>
          <a:p>
            <a:pPr marL="0" indent="0">
              <a:lnSpc>
                <a:spcPct val="130000"/>
              </a:lnSpc>
              <a:buNone/>
            </a:pPr>
            <a:r>
              <a:rPr lang="en-US" sz="1100" dirty="0">
                <a:solidFill>
                  <a:srgbClr val="2D2D2D"/>
                </a:solidFill>
              </a:rPr>
              <a:t>4. When is it necessary to remove someone from your inner circle?</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Do the people closest to me lift me to a higher standard, or pull me down to a lower one?</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20</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Explosive Growth</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To multiply growth, lead leaders  |  Speaker: Leke</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Leading followers = linear growth. Leading leaders = exponential growth. When you develop leaders, they develop their own teams, multiplying your impact across the organization.</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If you only develop followers, your impact is limited to what you personally oversee. Developing leaders creates a multiplication effect that scales the entire enterprise.</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Sapphire’s rapid expansion across DevFin, Onyx, and STEP cannot be sustained by linear growth. We must develop SLA cohort into leaders who can independently run new divisions.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Followers add; leaders multiply</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Developing leaders is HARDER and SLOWER than managing followers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Your capacity as a leader is capped by the leaders beneath you</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The investment in developing leaders pays compound returns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Stop asking “How many followers do I have?” — ask “How many leaders am I developing?”</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20 of 21  |  Sapphire Leadership Academy</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20: Explosive Growth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Leke</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manager tells 10 employees exactly what to do every day. The department hits targets but the manager is exhausted, unable to take on new projects because their capacity is maxed.</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manager develops 3 team leads who each manage 10 people. The department triples its output, and the manager has capacity for strategic growth.</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What is the difference between leading a follower and leading a leader?</a:t>
            </a:r>
            <a:endParaRPr lang="en-US" sz="1000" dirty="0"/>
          </a:p>
          <a:p>
            <a:pPr marL="0" indent="0">
              <a:lnSpc>
                <a:spcPct val="130000"/>
              </a:lnSpc>
              <a:buNone/>
            </a:pPr>
            <a:r>
              <a:rPr lang="en-US" sz="1100" dirty="0">
                <a:solidFill>
                  <a:srgbClr val="2D2D2D"/>
                </a:solidFill>
              </a:rPr>
              <a:t>2. Why is it harder to lead leaders than to lead followers?</a:t>
            </a:r>
            <a:endParaRPr lang="en-US" sz="1000" dirty="0"/>
          </a:p>
          <a:p>
            <a:pPr marL="0" indent="0">
              <a:lnSpc>
                <a:spcPct val="130000"/>
              </a:lnSpc>
              <a:buNone/>
            </a:pPr>
            <a:r>
              <a:rPr lang="en-US" sz="1100" dirty="0">
                <a:solidFill>
                  <a:srgbClr val="2D2D2D"/>
                </a:solidFill>
              </a:rPr>
              <a:t>3. What are the risks of explosive growth without developing leaders first?</a:t>
            </a:r>
            <a:endParaRPr lang="en-US" sz="1000" dirty="0"/>
          </a:p>
          <a:p>
            <a:pPr marL="0" indent="0">
              <a:lnSpc>
                <a:spcPct val="130000"/>
              </a:lnSpc>
              <a:buNone/>
            </a:pPr>
            <a:r>
              <a:rPr lang="en-US" sz="1100" dirty="0">
                <a:solidFill>
                  <a:srgbClr val="2D2D2D"/>
                </a:solidFill>
              </a:rPr>
              <a:t>4. How does this law impact succession planning?</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building a team of people who need me, or a team of people who can succeed without me?</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457200" y="228600"/>
            <a:ext cx="502920" cy="502920"/>
          </a:xfrm>
          <a:prstGeom prst="ellipse">
            <a:avLst/>
          </a:prstGeom>
          <a:solidFill>
            <a:srgbClr val="2E7D52"/>
          </a:solidFill>
          <a:ln/>
        </p:spPr>
        <p:txBody>
          <a:bodyPr/>
          <a:lstStyle/>
          <a:p>
            <a:endParaRPr lang="en-NG"/>
          </a:p>
        </p:txBody>
      </p:sp>
      <p:sp>
        <p:nvSpPr>
          <p:cNvPr id="3" name="Text 1"/>
          <p:cNvSpPr/>
          <p:nvPr/>
        </p:nvSpPr>
        <p:spPr>
          <a:xfrm>
            <a:off x="457200" y="22860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21</a:t>
            </a:r>
            <a:endParaRPr lang="en-US" sz="1800" dirty="0"/>
          </a:p>
        </p:txBody>
      </p:sp>
      <p:sp>
        <p:nvSpPr>
          <p:cNvPr id="4" name="Text 2"/>
          <p:cNvSpPr/>
          <p:nvPr/>
        </p:nvSpPr>
        <p:spPr>
          <a:xfrm>
            <a:off x="1097280" y="228600"/>
            <a:ext cx="6858000" cy="50292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The Law of Big Mo</a:t>
            </a:r>
            <a:endParaRPr lang="en-US" sz="2200" dirty="0"/>
          </a:p>
        </p:txBody>
      </p:sp>
      <p:sp>
        <p:nvSpPr>
          <p:cNvPr id="5" name="Text 3"/>
          <p:cNvSpPr/>
          <p:nvPr/>
        </p:nvSpPr>
        <p:spPr>
          <a:xfrm>
            <a:off x="1097280" y="685800"/>
            <a:ext cx="68580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Momentum is a leader’s best friend  |  Speaker: Leke</a:t>
            </a:r>
            <a:endParaRPr lang="en-US" sz="1100" dirty="0"/>
          </a:p>
        </p:txBody>
      </p:sp>
      <p:sp>
        <p:nvSpPr>
          <p:cNvPr id="6" name="Shape 4"/>
          <p:cNvSpPr/>
          <p:nvPr/>
        </p:nvSpPr>
        <p:spPr>
          <a:xfrm>
            <a:off x="457200" y="1097280"/>
            <a:ext cx="3931920" cy="123444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7" name="Text 5"/>
          <p:cNvSpPr/>
          <p:nvPr/>
        </p:nvSpPr>
        <p:spPr>
          <a:xfrm>
            <a:off x="594360" y="1188720"/>
            <a:ext cx="3657600" cy="1051560"/>
          </a:xfrm>
          <a:prstGeom prst="rect">
            <a:avLst/>
          </a:prstGeom>
          <a:noFill/>
          <a:ln/>
        </p:spPr>
        <p:txBody>
          <a:bodyPr wrap="square" rtlCol="0" anchor="t"/>
          <a:lstStyle/>
          <a:p>
            <a:pPr marL="0" indent="0">
              <a:buNone/>
            </a:pPr>
            <a:r>
              <a:rPr lang="en-US" sz="900" b="1" kern="0" spc="200" dirty="0">
                <a:solidFill>
                  <a:srgbClr val="2E7D52"/>
                </a:solidFill>
              </a:rPr>
              <a:t>OVERVIEW</a:t>
            </a:r>
            <a:endParaRPr lang="en-US" sz="900" dirty="0"/>
          </a:p>
          <a:p>
            <a:pPr marL="0" indent="0">
              <a:buNone/>
            </a:pPr>
            <a:r>
              <a:rPr lang="en-US" sz="1100" dirty="0">
                <a:solidFill>
                  <a:srgbClr val="2D2D2D"/>
                </a:solidFill>
              </a:rPr>
              <a:t>With no momentum, even the smallest tasks seem impossible. With momentum, the future looks bright and obstacles appear small. Momentum covers mistakes and makes everyone look better.</a:t>
            </a:r>
            <a:endParaRPr lang="en-US" sz="900" dirty="0"/>
          </a:p>
        </p:txBody>
      </p:sp>
      <p:sp>
        <p:nvSpPr>
          <p:cNvPr id="8" name="Shape 6"/>
          <p:cNvSpPr/>
          <p:nvPr/>
        </p:nvSpPr>
        <p:spPr>
          <a:xfrm>
            <a:off x="457200" y="2468880"/>
            <a:ext cx="3931920" cy="1051560"/>
          </a:xfrm>
          <a:prstGeom prst="rect">
            <a:avLst/>
          </a:prstGeom>
          <a:solidFill>
            <a:srgbClr val="FFF8E1"/>
          </a:solidFill>
          <a:ln/>
          <a:effectLst>
            <a:outerShdw blurRad="50800" dist="25400" dir="8100000" algn="bl" rotWithShape="0">
              <a:srgbClr val="000000">
                <a:alpha val="12000"/>
              </a:srgbClr>
            </a:outerShdw>
          </a:effectLst>
        </p:spPr>
        <p:txBody>
          <a:bodyPr/>
          <a:lstStyle/>
          <a:p>
            <a:endParaRPr lang="en-NG"/>
          </a:p>
        </p:txBody>
      </p:sp>
      <p:sp>
        <p:nvSpPr>
          <p:cNvPr id="9" name="Text 7"/>
          <p:cNvSpPr/>
          <p:nvPr/>
        </p:nvSpPr>
        <p:spPr>
          <a:xfrm>
            <a:off x="594360" y="2560320"/>
            <a:ext cx="3657600" cy="868680"/>
          </a:xfrm>
          <a:prstGeom prst="rect">
            <a:avLst/>
          </a:prstGeom>
          <a:noFill/>
          <a:ln/>
        </p:spPr>
        <p:txBody>
          <a:bodyPr wrap="square" rtlCol="0" anchor="t"/>
          <a:lstStyle/>
          <a:p>
            <a:pPr marL="0" indent="0">
              <a:buNone/>
            </a:pPr>
            <a:r>
              <a:rPr lang="en-US" sz="900" b="1" kern="0" spc="200" dirty="0">
                <a:solidFill>
                  <a:srgbClr val="B8860B"/>
                </a:solidFill>
              </a:rPr>
              <a:t>WHY IT MATTERS</a:t>
            </a:r>
            <a:endParaRPr lang="en-US" sz="900" dirty="0"/>
          </a:p>
          <a:p>
            <a:pPr marL="0" indent="0">
              <a:buNone/>
            </a:pPr>
            <a:r>
              <a:rPr lang="en-US" sz="1100" dirty="0">
                <a:solidFill>
                  <a:srgbClr val="2D2D2D"/>
                </a:solidFill>
              </a:rPr>
              <a:t>Creating and sustaining momentum is one of a leader’s most critical functions. Momentum is not luck — it is manufactured through intentional small wins.</a:t>
            </a:r>
            <a:endParaRPr lang="en-US" sz="900" dirty="0"/>
          </a:p>
        </p:txBody>
      </p:sp>
      <p:sp>
        <p:nvSpPr>
          <p:cNvPr id="10" name="Shape 8"/>
          <p:cNvSpPr/>
          <p:nvPr/>
        </p:nvSpPr>
        <p:spPr>
          <a:xfrm>
            <a:off x="457200" y="3657600"/>
            <a:ext cx="3931920" cy="914400"/>
          </a:xfrm>
          <a:prstGeom prst="rect">
            <a:avLst/>
          </a:prstGeom>
          <a:solidFill>
            <a:srgbClr val="EDE9FE"/>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594360" y="3749040"/>
            <a:ext cx="3657600" cy="731520"/>
          </a:xfrm>
          <a:prstGeom prst="rect">
            <a:avLst/>
          </a:prstGeom>
          <a:noFill/>
          <a:ln/>
        </p:spPr>
        <p:txBody>
          <a:bodyPr wrap="square" rtlCol="0" anchor="t"/>
          <a:lstStyle/>
          <a:p>
            <a:pPr marL="0" indent="0">
              <a:buNone/>
            </a:pPr>
            <a:r>
              <a:rPr lang="en-US" sz="900" b="1" kern="0" spc="200" dirty="0">
                <a:solidFill>
                  <a:srgbClr val="6D28D9"/>
                </a:solidFill>
              </a:rPr>
              <a:t>SAPPHIRE APPLICATION</a:t>
            </a:r>
            <a:endParaRPr lang="en-US" sz="900" dirty="0"/>
          </a:p>
          <a:p>
            <a:pPr marL="0" indent="0">
              <a:buNone/>
            </a:pPr>
            <a:r>
              <a:rPr lang="en-US" sz="1100" dirty="0">
                <a:solidFill>
                  <a:srgbClr val="2D2D2D"/>
                </a:solidFill>
              </a:rPr>
              <a:t>As Sapphire launches multiple initiatives, creating early “wins” is essential to build momentum for carrying the organization through inevitable scaling challenges.</a:t>
            </a:r>
            <a:endParaRPr lang="en-US" sz="900" dirty="0"/>
          </a:p>
        </p:txBody>
      </p:sp>
      <p:sp>
        <p:nvSpPr>
          <p:cNvPr id="12" name="Shape 10"/>
          <p:cNvSpPr/>
          <p:nvPr/>
        </p:nvSpPr>
        <p:spPr>
          <a:xfrm>
            <a:off x="4663440" y="1097280"/>
            <a:ext cx="402336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3" name="Shape 11"/>
          <p:cNvSpPr/>
          <p:nvPr/>
        </p:nvSpPr>
        <p:spPr>
          <a:xfrm>
            <a:off x="4663440" y="1097280"/>
            <a:ext cx="54864" cy="3474720"/>
          </a:xfrm>
          <a:prstGeom prst="rect">
            <a:avLst/>
          </a:prstGeom>
          <a:solidFill>
            <a:srgbClr val="D4AF37"/>
          </a:solidFill>
          <a:ln/>
        </p:spPr>
        <p:txBody>
          <a:bodyPr/>
          <a:lstStyle/>
          <a:p>
            <a:endParaRPr lang="en-NG"/>
          </a:p>
        </p:txBody>
      </p:sp>
      <p:sp>
        <p:nvSpPr>
          <p:cNvPr id="14" name="Text 12"/>
          <p:cNvSpPr/>
          <p:nvPr/>
        </p:nvSpPr>
        <p:spPr>
          <a:xfrm>
            <a:off x="4892040" y="1234440"/>
            <a:ext cx="3611880" cy="3200400"/>
          </a:xfrm>
          <a:prstGeom prst="rect">
            <a:avLst/>
          </a:prstGeom>
          <a:noFill/>
          <a:ln/>
        </p:spPr>
        <p:txBody>
          <a:bodyPr wrap="square" rtlCol="0" anchor="t"/>
          <a:lstStyle/>
          <a:p>
            <a:pPr marL="0" indent="0">
              <a:lnSpc>
                <a:spcPct val="125000"/>
              </a:lnSpc>
              <a:buNone/>
            </a:pPr>
            <a:r>
              <a:rPr lang="en-US" sz="1000" b="1" kern="0" spc="300" dirty="0">
                <a:solidFill>
                  <a:srgbClr val="D4AF37"/>
                </a:solidFill>
              </a:rPr>
              <a:t>KEY LEARNING POINTS</a:t>
            </a:r>
            <a:endParaRPr lang="en-US" sz="1000" dirty="0"/>
          </a:p>
          <a:p>
            <a:pPr marL="0" indent="0">
              <a:lnSpc>
                <a:spcPct val="125000"/>
              </a:lnSpc>
              <a:buNone/>
            </a:pP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1. </a:t>
            </a:r>
            <a:r>
              <a:rPr lang="en-US" sz="1100" dirty="0">
                <a:solidFill>
                  <a:srgbClr val="E5E7EB"/>
                </a:solidFill>
                <a:latin typeface="Calibri" pitchFamily="34" charset="0"/>
                <a:ea typeface="Calibri" pitchFamily="34" charset="-122"/>
                <a:cs typeface="Calibri" pitchFamily="34" charset="-120"/>
              </a:rPr>
              <a:t>Momentum is manufactured, not accidental</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2. </a:t>
            </a:r>
            <a:r>
              <a:rPr lang="en-US" sz="1100" dirty="0">
                <a:solidFill>
                  <a:srgbClr val="E5E7EB"/>
                </a:solidFill>
                <a:latin typeface="Calibri" pitchFamily="34" charset="0"/>
                <a:ea typeface="Calibri" pitchFamily="34" charset="-122"/>
                <a:cs typeface="Calibri" pitchFamily="34" charset="-120"/>
              </a:rPr>
              <a:t>Small wins celebrated loudly create unstoppable momentum</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3. </a:t>
            </a:r>
            <a:r>
              <a:rPr lang="en-US" sz="1100" dirty="0">
                <a:solidFill>
                  <a:srgbClr val="E5E7EB"/>
                </a:solidFill>
                <a:latin typeface="Calibri" pitchFamily="34" charset="0"/>
                <a:ea typeface="Calibri" pitchFamily="34" charset="-122"/>
                <a:cs typeface="Calibri" pitchFamily="34" charset="-120"/>
              </a:rPr>
              <a:t>The quickest way to kill momentum: criticize the win instead of celebrating it</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4. </a:t>
            </a:r>
            <a:r>
              <a:rPr lang="en-US" sz="1100" dirty="0">
                <a:solidFill>
                  <a:srgbClr val="E5E7EB"/>
                </a:solidFill>
                <a:latin typeface="Calibri" pitchFamily="34" charset="0"/>
                <a:ea typeface="Calibri" pitchFamily="34" charset="-122"/>
                <a:cs typeface="Calibri" pitchFamily="34" charset="-120"/>
              </a:rPr>
              <a:t>When stuck, break big goals into tiny guaranteed wins</a:t>
            </a:r>
            <a:endParaRPr lang="en-US" sz="1000" dirty="0"/>
          </a:p>
          <a:p>
            <a:pPr marL="0" indent="0">
              <a:lnSpc>
                <a:spcPct val="125000"/>
              </a:lnSpc>
              <a:buNone/>
            </a:pPr>
            <a:r>
              <a:rPr lang="en-US" sz="1100" b="1" dirty="0">
                <a:solidFill>
                  <a:srgbClr val="D4AF37"/>
                </a:solidFill>
                <a:latin typeface="Georgia" pitchFamily="34" charset="0"/>
                <a:ea typeface="Georgia" pitchFamily="34" charset="-122"/>
                <a:cs typeface="Georgia" pitchFamily="34" charset="-120"/>
              </a:rPr>
              <a:t>5. </a:t>
            </a:r>
            <a:r>
              <a:rPr lang="en-US" sz="1100" dirty="0">
                <a:solidFill>
                  <a:srgbClr val="E5E7EB"/>
                </a:solidFill>
                <a:latin typeface="Calibri" pitchFamily="34" charset="0"/>
                <a:ea typeface="Calibri" pitchFamily="34" charset="-122"/>
                <a:cs typeface="Calibri" pitchFamily="34" charset="-120"/>
              </a:rPr>
              <a:t>Leaders are either momentum makers, momentum takers, or momentum breakers</a:t>
            </a:r>
            <a:endParaRPr lang="en-US" sz="1000" dirty="0"/>
          </a:p>
        </p:txBody>
      </p:sp>
      <p:sp>
        <p:nvSpPr>
          <p:cNvPr id="15" name="Text 13"/>
          <p:cNvSpPr/>
          <p:nvPr/>
        </p:nvSpPr>
        <p:spPr>
          <a:xfrm>
            <a:off x="274320" y="4754880"/>
            <a:ext cx="8595360" cy="32004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Law 21 of 21  |  Sapphire Leadership Academy</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1800" b="1" dirty="0">
                <a:solidFill>
                  <a:srgbClr val="1B3A2D"/>
                </a:solidFill>
                <a:latin typeface="Georgia" pitchFamily="34" charset="0"/>
                <a:ea typeface="Georgia" pitchFamily="34" charset="-122"/>
                <a:cs typeface="Georgia" pitchFamily="34" charset="-120"/>
              </a:rPr>
              <a:t>Law 21: Big Mo  —  Training Deep-Dive</a:t>
            </a:r>
            <a:endParaRPr lang="en-US" sz="1800" dirty="0"/>
          </a:p>
        </p:txBody>
      </p:sp>
      <p:sp>
        <p:nvSpPr>
          <p:cNvPr id="3" name="Text 1"/>
          <p:cNvSpPr/>
          <p:nvPr/>
        </p:nvSpPr>
        <p:spPr>
          <a:xfrm>
            <a:off x="457200" y="685800"/>
            <a:ext cx="82296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Facilitated by: Leke</a:t>
            </a:r>
            <a:endParaRPr lang="en-US" sz="1000" dirty="0"/>
          </a:p>
        </p:txBody>
      </p:sp>
      <p:sp>
        <p:nvSpPr>
          <p:cNvPr id="4" name="Shape 2"/>
          <p:cNvSpPr/>
          <p:nvPr/>
        </p:nvSpPr>
        <p:spPr>
          <a:xfrm>
            <a:off x="457200" y="1051560"/>
            <a:ext cx="3931920" cy="1645920"/>
          </a:xfrm>
          <a:prstGeom prst="rect">
            <a:avLst/>
          </a:prstGeom>
          <a:solidFill>
            <a:srgbClr val="FEF2F2"/>
          </a:solidFill>
          <a:ln/>
          <a:effectLst>
            <a:outerShdw blurRad="50800" dist="25400" dir="8100000" algn="bl" rotWithShape="0">
              <a:srgbClr val="000000">
                <a:alpha val="12000"/>
              </a:srgbClr>
            </a:outerShdw>
          </a:effectLst>
        </p:spPr>
        <p:txBody>
          <a:bodyPr/>
          <a:lstStyle/>
          <a:p>
            <a:endParaRPr lang="en-NG"/>
          </a:p>
        </p:txBody>
      </p:sp>
      <p:sp>
        <p:nvSpPr>
          <p:cNvPr id="5" name="Shape 3"/>
          <p:cNvSpPr/>
          <p:nvPr/>
        </p:nvSpPr>
        <p:spPr>
          <a:xfrm>
            <a:off x="457200" y="1051560"/>
            <a:ext cx="54864" cy="1645920"/>
          </a:xfrm>
          <a:prstGeom prst="rect">
            <a:avLst/>
          </a:prstGeom>
          <a:solidFill>
            <a:srgbClr val="DC2626"/>
          </a:solidFill>
          <a:ln/>
        </p:spPr>
        <p:txBody>
          <a:bodyPr/>
          <a:lstStyle/>
          <a:p>
            <a:endParaRPr lang="en-NG"/>
          </a:p>
        </p:txBody>
      </p:sp>
      <p:sp>
        <p:nvSpPr>
          <p:cNvPr id="6" name="Text 4"/>
          <p:cNvSpPr/>
          <p:nvPr/>
        </p:nvSpPr>
        <p:spPr>
          <a:xfrm>
            <a:off x="640080" y="1143000"/>
            <a:ext cx="3566160" cy="1463040"/>
          </a:xfrm>
          <a:prstGeom prst="rect">
            <a:avLst/>
          </a:prstGeom>
          <a:noFill/>
          <a:ln/>
        </p:spPr>
        <p:txBody>
          <a:bodyPr wrap="square" rtlCol="0" anchor="t"/>
          <a:lstStyle/>
          <a:p>
            <a:pPr marL="0" indent="0">
              <a:lnSpc>
                <a:spcPct val="120000"/>
              </a:lnSpc>
              <a:buNone/>
            </a:pPr>
            <a:r>
              <a:rPr lang="en-US" sz="900" b="1" kern="0" spc="200" dirty="0">
                <a:solidFill>
                  <a:srgbClr val="DC2626"/>
                </a:solidFill>
              </a:rPr>
              <a:t>LEADERSHIP FAILURE</a:t>
            </a:r>
            <a:endParaRPr lang="en-US" sz="900" dirty="0"/>
          </a:p>
          <a:p>
            <a:pPr marL="0" indent="0">
              <a:lnSpc>
                <a:spcPct val="120000"/>
              </a:lnSpc>
              <a:buNone/>
            </a:pPr>
            <a:r>
              <a:rPr lang="en-US" sz="1050" dirty="0">
                <a:solidFill>
                  <a:srgbClr val="2D2D2D"/>
                </a:solidFill>
              </a:rPr>
              <a:t>A team completes a massive project. Instead of celebrating, the leader immediately criticizes minor flaws and assigns the next massive project. Momentum is killed and morale plummets.</a:t>
            </a:r>
            <a:endParaRPr lang="en-US" sz="900" dirty="0"/>
          </a:p>
        </p:txBody>
      </p:sp>
      <p:sp>
        <p:nvSpPr>
          <p:cNvPr id="7" name="Shape 5"/>
          <p:cNvSpPr/>
          <p:nvPr/>
        </p:nvSpPr>
        <p:spPr>
          <a:xfrm>
            <a:off x="4663440" y="1051560"/>
            <a:ext cx="4023360" cy="1645920"/>
          </a:xfrm>
          <a:prstGeom prst="rect">
            <a:avLst/>
          </a:prstGeom>
          <a:solidFill>
            <a:srgbClr val="F0FFF4"/>
          </a:solidFill>
          <a:ln/>
          <a:effectLst>
            <a:outerShdw blurRad="50800" dist="25400" dir="8100000" algn="bl" rotWithShape="0">
              <a:srgbClr val="000000">
                <a:alpha val="12000"/>
              </a:srgbClr>
            </a:outerShdw>
          </a:effectLst>
        </p:spPr>
        <p:txBody>
          <a:bodyPr/>
          <a:lstStyle/>
          <a:p>
            <a:endParaRPr lang="en-NG"/>
          </a:p>
        </p:txBody>
      </p:sp>
      <p:sp>
        <p:nvSpPr>
          <p:cNvPr id="8" name="Shape 6"/>
          <p:cNvSpPr/>
          <p:nvPr/>
        </p:nvSpPr>
        <p:spPr>
          <a:xfrm>
            <a:off x="4663440" y="1051560"/>
            <a:ext cx="54864" cy="1645920"/>
          </a:xfrm>
          <a:prstGeom prst="rect">
            <a:avLst/>
          </a:prstGeom>
          <a:solidFill>
            <a:srgbClr val="2E7D52"/>
          </a:solidFill>
          <a:ln/>
        </p:spPr>
        <p:txBody>
          <a:bodyPr/>
          <a:lstStyle/>
          <a:p>
            <a:endParaRPr lang="en-NG"/>
          </a:p>
        </p:txBody>
      </p:sp>
      <p:sp>
        <p:nvSpPr>
          <p:cNvPr id="9" name="Text 7"/>
          <p:cNvSpPr/>
          <p:nvPr/>
        </p:nvSpPr>
        <p:spPr>
          <a:xfrm>
            <a:off x="4846320" y="1143000"/>
            <a:ext cx="3657600" cy="1463040"/>
          </a:xfrm>
          <a:prstGeom prst="rect">
            <a:avLst/>
          </a:prstGeom>
          <a:noFill/>
          <a:ln/>
        </p:spPr>
        <p:txBody>
          <a:bodyPr wrap="square" rtlCol="0" anchor="t"/>
          <a:lstStyle/>
          <a:p>
            <a:pPr marL="0" indent="0">
              <a:lnSpc>
                <a:spcPct val="120000"/>
              </a:lnSpc>
              <a:buNone/>
            </a:pPr>
            <a:r>
              <a:rPr lang="en-US" sz="900" b="1" kern="0" spc="200" dirty="0">
                <a:solidFill>
                  <a:srgbClr val="2E7D52"/>
                </a:solidFill>
              </a:rPr>
              <a:t>LEADERSHIP SUCCESS</a:t>
            </a:r>
            <a:endParaRPr lang="en-US" sz="900" dirty="0"/>
          </a:p>
          <a:p>
            <a:pPr marL="0" indent="0">
              <a:lnSpc>
                <a:spcPct val="120000"/>
              </a:lnSpc>
              <a:buNone/>
            </a:pPr>
            <a:r>
              <a:rPr lang="en-US" sz="1050" dirty="0">
                <a:solidFill>
                  <a:srgbClr val="2D2D2D"/>
                </a:solidFill>
              </a:rPr>
              <a:t>A new department struggles initially. The leader breaks the goal into small milestones. As the team hits the first two, the leader celebrates loudly. Confidence builds and the team starts crushing targets.</a:t>
            </a:r>
            <a:endParaRPr lang="en-US" sz="900" dirty="0"/>
          </a:p>
        </p:txBody>
      </p:sp>
      <p:sp>
        <p:nvSpPr>
          <p:cNvPr id="10" name="Shape 8"/>
          <p:cNvSpPr/>
          <p:nvPr/>
        </p:nvSpPr>
        <p:spPr>
          <a:xfrm>
            <a:off x="457200" y="2880360"/>
            <a:ext cx="8229600" cy="1645920"/>
          </a:xfrm>
          <a:prstGeom prst="rect">
            <a:avLst/>
          </a:prstGeom>
          <a:solidFill>
            <a:srgbClr val="F8FAF9"/>
          </a:solidFill>
          <a:ln/>
          <a:effectLst>
            <a:outerShdw blurRad="50800" dist="25400" dir="8100000" algn="bl" rotWithShape="0">
              <a:srgbClr val="000000">
                <a:alpha val="12000"/>
              </a:srgbClr>
            </a:outerShdw>
          </a:effectLst>
        </p:spPr>
        <p:txBody>
          <a:bodyPr/>
          <a:lstStyle/>
          <a:p>
            <a:endParaRPr lang="en-NG"/>
          </a:p>
        </p:txBody>
      </p:sp>
      <p:sp>
        <p:nvSpPr>
          <p:cNvPr id="11" name="Text 9"/>
          <p:cNvSpPr/>
          <p:nvPr/>
        </p:nvSpPr>
        <p:spPr>
          <a:xfrm>
            <a:off x="640080" y="2971800"/>
            <a:ext cx="7863840" cy="1463040"/>
          </a:xfrm>
          <a:prstGeom prst="rect">
            <a:avLst/>
          </a:prstGeom>
          <a:noFill/>
          <a:ln/>
        </p:spPr>
        <p:txBody>
          <a:bodyPr wrap="square" rtlCol="0" anchor="t"/>
          <a:lstStyle/>
          <a:p>
            <a:pPr marL="0" indent="0">
              <a:lnSpc>
                <a:spcPct val="130000"/>
              </a:lnSpc>
              <a:buNone/>
            </a:pPr>
            <a:r>
              <a:rPr lang="en-US" sz="1000" b="1" kern="0" spc="200" dirty="0">
                <a:solidFill>
                  <a:srgbClr val="2E7D52"/>
                </a:solidFill>
              </a:rPr>
              <a:t>DISCUSSION QUESTIONS FOR THE ROOM</a:t>
            </a:r>
            <a:endParaRPr lang="en-US" sz="1000" dirty="0"/>
          </a:p>
          <a:p>
            <a:pPr marL="0" indent="0">
              <a:lnSpc>
                <a:spcPct val="130000"/>
              </a:lnSpc>
              <a:buNone/>
            </a:pPr>
            <a:endParaRPr lang="en-US" sz="1000" dirty="0"/>
          </a:p>
          <a:p>
            <a:pPr marL="0" indent="0">
              <a:lnSpc>
                <a:spcPct val="130000"/>
              </a:lnSpc>
              <a:buNone/>
            </a:pPr>
            <a:r>
              <a:rPr lang="en-US" sz="1100" dirty="0">
                <a:solidFill>
                  <a:srgbClr val="2D2D2D"/>
                </a:solidFill>
              </a:rPr>
              <a:t>1. How does momentum change the atmosphere of a team?</a:t>
            </a:r>
            <a:endParaRPr lang="en-US" sz="1000" dirty="0"/>
          </a:p>
          <a:p>
            <a:pPr marL="0" indent="0">
              <a:lnSpc>
                <a:spcPct val="130000"/>
              </a:lnSpc>
              <a:buNone/>
            </a:pPr>
            <a:r>
              <a:rPr lang="en-US" sz="1100" dirty="0">
                <a:solidFill>
                  <a:srgbClr val="2D2D2D"/>
                </a:solidFill>
              </a:rPr>
              <a:t>2. What are the quickest ways a leader can kill momentum?</a:t>
            </a:r>
            <a:endParaRPr lang="en-US" sz="1000" dirty="0"/>
          </a:p>
          <a:p>
            <a:pPr marL="0" indent="0">
              <a:lnSpc>
                <a:spcPct val="130000"/>
              </a:lnSpc>
              <a:buNone/>
            </a:pPr>
            <a:r>
              <a:rPr lang="en-US" sz="1100" dirty="0">
                <a:solidFill>
                  <a:srgbClr val="2D2D2D"/>
                </a:solidFill>
              </a:rPr>
              <a:t>3. How do you create momentum when a team is stuck?</a:t>
            </a:r>
            <a:endParaRPr lang="en-US" sz="1000" dirty="0"/>
          </a:p>
          <a:p>
            <a:pPr marL="0" indent="0">
              <a:lnSpc>
                <a:spcPct val="130000"/>
              </a:lnSpc>
              <a:buNone/>
            </a:pPr>
            <a:r>
              <a:rPr lang="en-US" sz="1100" dirty="0">
                <a:solidFill>
                  <a:srgbClr val="2D2D2D"/>
                </a:solidFill>
              </a:rPr>
              <a:t>4. Why is it the leader’s responsibility to create momentum?</a:t>
            </a:r>
            <a:endParaRPr lang="en-US" sz="1000" dirty="0"/>
          </a:p>
        </p:txBody>
      </p:sp>
      <p:sp>
        <p:nvSpPr>
          <p:cNvPr id="12" name="Shape 10"/>
          <p:cNvSpPr/>
          <p:nvPr/>
        </p:nvSpPr>
        <p:spPr>
          <a:xfrm>
            <a:off x="457200" y="4572000"/>
            <a:ext cx="8229600" cy="73152"/>
          </a:xfrm>
          <a:prstGeom prst="rect">
            <a:avLst/>
          </a:prstGeom>
          <a:solidFill>
            <a:srgbClr val="D4AF37"/>
          </a:solidFill>
          <a:ln/>
        </p:spPr>
        <p:txBody>
          <a:bodyPr/>
          <a:lstStyle/>
          <a:p>
            <a:endParaRPr lang="en-NG"/>
          </a:p>
        </p:txBody>
      </p:sp>
      <p:sp>
        <p:nvSpPr>
          <p:cNvPr id="13" name="Text 11"/>
          <p:cNvSpPr/>
          <p:nvPr/>
        </p:nvSpPr>
        <p:spPr>
          <a:xfrm>
            <a:off x="457200" y="4645152"/>
            <a:ext cx="8229600" cy="320040"/>
          </a:xfrm>
          <a:prstGeom prst="rect">
            <a:avLst/>
          </a:prstGeom>
          <a:noFill/>
          <a:ln/>
        </p:spPr>
        <p:txBody>
          <a:bodyPr wrap="square" lIns="0" tIns="0" rIns="0" bIns="0" rtlCol="0" anchor="ctr"/>
          <a:lstStyle/>
          <a:p>
            <a:pPr marL="0" indent="0">
              <a:buNone/>
            </a:pPr>
            <a:r>
              <a:rPr lang="en-US" sz="1000" i="1" dirty="0">
                <a:solidFill>
                  <a:srgbClr val="6B7280"/>
                </a:solidFill>
                <a:latin typeface="Georgia" pitchFamily="34" charset="0"/>
                <a:ea typeface="Georgia" pitchFamily="34" charset="-122"/>
                <a:cs typeface="Georgia" pitchFamily="34" charset="-120"/>
              </a:rPr>
              <a:t>JOURNAL PROMPT: Am I a momentum maker, a momentum taker, or a momentum breaker?</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731520" y="1097280"/>
            <a:ext cx="7680960" cy="1463040"/>
          </a:xfrm>
          <a:prstGeom prst="rect">
            <a:avLst/>
          </a:prstGeom>
          <a:noFill/>
          <a:ln/>
        </p:spPr>
        <p:txBody>
          <a:bodyPr wrap="square"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PROGRAM DESIGN</a:t>
            </a:r>
            <a:endParaRPr lang="en-US" sz="3800" dirty="0"/>
          </a:p>
        </p:txBody>
      </p:sp>
      <p:sp>
        <p:nvSpPr>
          <p:cNvPr id="3" name="Text 1"/>
          <p:cNvSpPr/>
          <p:nvPr/>
        </p:nvSpPr>
        <p:spPr>
          <a:xfrm>
            <a:off x="731520" y="2651760"/>
            <a:ext cx="7680960" cy="731520"/>
          </a:xfrm>
          <a:prstGeom prst="rect">
            <a:avLst/>
          </a:prstGeom>
          <a:noFill/>
          <a:ln/>
        </p:spPr>
        <p:txBody>
          <a:bodyPr wrap="square" rtlCol="0" anchor="ctr"/>
          <a:lstStyle/>
          <a:p>
            <a:pPr marL="0" indent="0" algn="l">
              <a:buNone/>
            </a:pPr>
            <a:r>
              <a:rPr lang="en-US" sz="1800" i="1" dirty="0">
                <a:solidFill>
                  <a:srgbClr val="D4AF37"/>
                </a:solidFill>
                <a:latin typeface="Calibri" pitchFamily="34" charset="0"/>
                <a:ea typeface="Calibri" pitchFamily="34" charset="-122"/>
                <a:cs typeface="Calibri" pitchFamily="34" charset="-120"/>
              </a:rPr>
              <a:t>Structure, Schedule &amp; Delivery Format</a:t>
            </a:r>
            <a:endParaRPr lang="en-US" sz="1800" dirty="0"/>
          </a:p>
        </p:txBody>
      </p:sp>
      <p:sp>
        <p:nvSpPr>
          <p:cNvPr id="4" name="Text 2"/>
          <p:cNvSpPr/>
          <p:nvPr/>
        </p:nvSpPr>
        <p:spPr>
          <a:xfrm>
            <a:off x="274320" y="4754880"/>
            <a:ext cx="4572000" cy="320040"/>
          </a:xfrm>
          <a:prstGeom prst="rect">
            <a:avLst/>
          </a:prstGeom>
          <a:noFill/>
          <a:ln/>
        </p:spPr>
        <p:txBody>
          <a:bodyPr wrap="square"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SAPPHIRE VIRTUAL NETWORKS LIMITED</a:t>
            </a:r>
            <a:endParaRPr lang="en-US" sz="900" dirty="0"/>
          </a:p>
        </p:txBody>
      </p:sp>
      <p:sp>
        <p:nvSpPr>
          <p:cNvPr id="5" name="Text 3"/>
          <p:cNvSpPr/>
          <p:nvPr/>
        </p:nvSpPr>
        <p:spPr>
          <a:xfrm>
            <a:off x="6400800" y="4754880"/>
            <a:ext cx="2468880" cy="320040"/>
          </a:xfrm>
          <a:prstGeom prst="rect">
            <a:avLst/>
          </a:prstGeom>
          <a:noFill/>
          <a:ln/>
        </p:spPr>
        <p:txBody>
          <a:bodyPr wrap="square"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Program Structure</a:t>
            </a:r>
            <a:endParaRPr lang="en-US" sz="2200" dirty="0"/>
          </a:p>
        </p:txBody>
      </p:sp>
      <p:sp>
        <p:nvSpPr>
          <p:cNvPr id="3" name="Shape 1"/>
          <p:cNvSpPr/>
          <p:nvPr/>
        </p:nvSpPr>
        <p:spPr>
          <a:xfrm>
            <a:off x="457200" y="1005840"/>
            <a:ext cx="1920240" cy="15544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4" name="Text 2"/>
          <p:cNvSpPr/>
          <p:nvPr/>
        </p:nvSpPr>
        <p:spPr>
          <a:xfrm>
            <a:off x="548640" y="1097280"/>
            <a:ext cx="1737360" cy="274320"/>
          </a:xfrm>
          <a:prstGeom prst="rect">
            <a:avLst/>
          </a:prstGeom>
          <a:noFill/>
          <a:ln/>
        </p:spPr>
        <p:txBody>
          <a:bodyPr wrap="square" lIns="0" tIns="0" rIns="0" bIns="0" rtlCol="0" anchor="ctr"/>
          <a:lstStyle/>
          <a:p>
            <a:pPr marL="0" indent="0">
              <a:buNone/>
            </a:pPr>
            <a:r>
              <a:rPr lang="en-US" sz="900" b="1" kern="0" spc="200" dirty="0">
                <a:solidFill>
                  <a:srgbClr val="D4AF37"/>
                </a:solidFill>
                <a:latin typeface="Calibri" pitchFamily="34" charset="0"/>
                <a:ea typeface="Calibri" pitchFamily="34" charset="-122"/>
                <a:cs typeface="Calibri" pitchFamily="34" charset="-120"/>
              </a:rPr>
              <a:t>DURATION</a:t>
            </a:r>
            <a:endParaRPr lang="en-US" sz="900" dirty="0"/>
          </a:p>
        </p:txBody>
      </p:sp>
      <p:sp>
        <p:nvSpPr>
          <p:cNvPr id="5" name="Text 3"/>
          <p:cNvSpPr/>
          <p:nvPr/>
        </p:nvSpPr>
        <p:spPr>
          <a:xfrm>
            <a:off x="548640" y="1371600"/>
            <a:ext cx="173736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4 Weeks</a:t>
            </a:r>
            <a:endParaRPr lang="en-US" sz="2200" dirty="0"/>
          </a:p>
        </p:txBody>
      </p:sp>
      <p:sp>
        <p:nvSpPr>
          <p:cNvPr id="6" name="Text 4"/>
          <p:cNvSpPr/>
          <p:nvPr/>
        </p:nvSpPr>
        <p:spPr>
          <a:xfrm>
            <a:off x="548640" y="1920240"/>
            <a:ext cx="1737360" cy="457200"/>
          </a:xfrm>
          <a:prstGeom prst="rect">
            <a:avLst/>
          </a:prstGeom>
          <a:noFill/>
          <a:ln/>
        </p:spPr>
        <p:txBody>
          <a:bodyPr wrap="square" lIns="0" tIns="0" rIns="0" bIns="0" rtlCol="0" anchor="ctr"/>
          <a:lstStyle/>
          <a:p>
            <a:pPr marL="0" indent="0">
              <a:buNone/>
            </a:pPr>
            <a:r>
              <a:rPr lang="en-US" sz="1000" dirty="0">
                <a:solidFill>
                  <a:srgbClr val="AAAAAA"/>
                </a:solidFill>
                <a:latin typeface="Calibri" pitchFamily="34" charset="0"/>
                <a:ea typeface="Calibri" pitchFamily="34" charset="-122"/>
                <a:cs typeface="Calibri" pitchFamily="34" charset="-120"/>
              </a:rPr>
              <a:t>Intensive, integrated into daily workflow</a:t>
            </a:r>
            <a:endParaRPr lang="en-US" sz="1000" dirty="0"/>
          </a:p>
        </p:txBody>
      </p:sp>
      <p:sp>
        <p:nvSpPr>
          <p:cNvPr id="7" name="Shape 5"/>
          <p:cNvSpPr/>
          <p:nvPr/>
        </p:nvSpPr>
        <p:spPr>
          <a:xfrm>
            <a:off x="2606040" y="1005840"/>
            <a:ext cx="1920240" cy="15544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8" name="Text 6"/>
          <p:cNvSpPr/>
          <p:nvPr/>
        </p:nvSpPr>
        <p:spPr>
          <a:xfrm>
            <a:off x="2697480" y="1097280"/>
            <a:ext cx="1737360" cy="274320"/>
          </a:xfrm>
          <a:prstGeom prst="rect">
            <a:avLst/>
          </a:prstGeom>
          <a:noFill/>
          <a:ln/>
        </p:spPr>
        <p:txBody>
          <a:bodyPr wrap="square" lIns="0" tIns="0" rIns="0" bIns="0" rtlCol="0" anchor="ctr"/>
          <a:lstStyle/>
          <a:p>
            <a:pPr marL="0" indent="0">
              <a:buNone/>
            </a:pPr>
            <a:r>
              <a:rPr lang="en-US" sz="900" b="1" kern="0" spc="200" dirty="0">
                <a:solidFill>
                  <a:srgbClr val="D4AF37"/>
                </a:solidFill>
                <a:latin typeface="Calibri" pitchFamily="34" charset="0"/>
                <a:ea typeface="Calibri" pitchFamily="34" charset="-122"/>
                <a:cs typeface="Calibri" pitchFamily="34" charset="-120"/>
              </a:rPr>
              <a:t>FREQUENCY</a:t>
            </a:r>
            <a:endParaRPr lang="en-US" sz="900" dirty="0"/>
          </a:p>
        </p:txBody>
      </p:sp>
      <p:sp>
        <p:nvSpPr>
          <p:cNvPr id="9" name="Text 7"/>
          <p:cNvSpPr/>
          <p:nvPr/>
        </p:nvSpPr>
        <p:spPr>
          <a:xfrm>
            <a:off x="2697480" y="1371600"/>
            <a:ext cx="173736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3x Weekly</a:t>
            </a:r>
            <a:endParaRPr lang="en-US" sz="2200" dirty="0"/>
          </a:p>
        </p:txBody>
      </p:sp>
      <p:sp>
        <p:nvSpPr>
          <p:cNvPr id="10" name="Text 8"/>
          <p:cNvSpPr/>
          <p:nvPr/>
        </p:nvSpPr>
        <p:spPr>
          <a:xfrm>
            <a:off x="2697480" y="1920240"/>
            <a:ext cx="1737360" cy="457200"/>
          </a:xfrm>
          <a:prstGeom prst="rect">
            <a:avLst/>
          </a:prstGeom>
          <a:noFill/>
          <a:ln/>
        </p:spPr>
        <p:txBody>
          <a:bodyPr wrap="square" lIns="0" tIns="0" rIns="0" bIns="0" rtlCol="0" anchor="ctr"/>
          <a:lstStyle/>
          <a:p>
            <a:pPr marL="0" indent="0">
              <a:buNone/>
            </a:pPr>
            <a:r>
              <a:rPr lang="en-US" sz="1000" dirty="0">
                <a:solidFill>
                  <a:srgbClr val="AAAAAA"/>
                </a:solidFill>
                <a:latin typeface="Calibri" pitchFamily="34" charset="0"/>
                <a:ea typeface="Calibri" pitchFamily="34" charset="-122"/>
                <a:cs typeface="Calibri" pitchFamily="34" charset="-120"/>
              </a:rPr>
              <a:t>Consistent cadence for habit formation</a:t>
            </a:r>
            <a:endParaRPr lang="en-US" sz="1000" dirty="0"/>
          </a:p>
        </p:txBody>
      </p:sp>
      <p:sp>
        <p:nvSpPr>
          <p:cNvPr id="11" name="Shape 9"/>
          <p:cNvSpPr/>
          <p:nvPr/>
        </p:nvSpPr>
        <p:spPr>
          <a:xfrm>
            <a:off x="4754880" y="1005840"/>
            <a:ext cx="1920240" cy="15544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2" name="Text 10"/>
          <p:cNvSpPr/>
          <p:nvPr/>
        </p:nvSpPr>
        <p:spPr>
          <a:xfrm>
            <a:off x="4846320" y="1097280"/>
            <a:ext cx="1737360" cy="274320"/>
          </a:xfrm>
          <a:prstGeom prst="rect">
            <a:avLst/>
          </a:prstGeom>
          <a:noFill/>
          <a:ln/>
        </p:spPr>
        <p:txBody>
          <a:bodyPr wrap="square" lIns="0" tIns="0" rIns="0" bIns="0" rtlCol="0" anchor="ctr"/>
          <a:lstStyle/>
          <a:p>
            <a:pPr marL="0" indent="0">
              <a:buNone/>
            </a:pPr>
            <a:r>
              <a:rPr lang="en-US" sz="900" b="1" kern="0" spc="200" dirty="0">
                <a:solidFill>
                  <a:srgbClr val="D4AF37"/>
                </a:solidFill>
                <a:latin typeface="Calibri" pitchFamily="34" charset="0"/>
                <a:ea typeface="Calibri" pitchFamily="34" charset="-122"/>
                <a:cs typeface="Calibri" pitchFamily="34" charset="-120"/>
              </a:rPr>
              <a:t>TIME</a:t>
            </a:r>
            <a:endParaRPr lang="en-US" sz="900" dirty="0"/>
          </a:p>
        </p:txBody>
      </p:sp>
      <p:sp>
        <p:nvSpPr>
          <p:cNvPr id="13" name="Text 11"/>
          <p:cNvSpPr/>
          <p:nvPr/>
        </p:nvSpPr>
        <p:spPr>
          <a:xfrm>
            <a:off x="4846320" y="1371600"/>
            <a:ext cx="173736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7:00–8:00 AM</a:t>
            </a:r>
            <a:endParaRPr lang="en-US" sz="2200" dirty="0"/>
          </a:p>
        </p:txBody>
      </p:sp>
      <p:sp>
        <p:nvSpPr>
          <p:cNvPr id="14" name="Text 12"/>
          <p:cNvSpPr/>
          <p:nvPr/>
        </p:nvSpPr>
        <p:spPr>
          <a:xfrm>
            <a:off x="4846320" y="1920240"/>
            <a:ext cx="1737360" cy="457200"/>
          </a:xfrm>
          <a:prstGeom prst="rect">
            <a:avLst/>
          </a:prstGeom>
          <a:noFill/>
          <a:ln/>
        </p:spPr>
        <p:txBody>
          <a:bodyPr wrap="square" lIns="0" tIns="0" rIns="0" bIns="0" rtlCol="0" anchor="ctr"/>
          <a:lstStyle/>
          <a:p>
            <a:pPr marL="0" indent="0">
              <a:buNone/>
            </a:pPr>
            <a:r>
              <a:rPr lang="en-US" sz="1000" dirty="0">
                <a:solidFill>
                  <a:srgbClr val="AAAAAA"/>
                </a:solidFill>
                <a:latin typeface="Calibri" pitchFamily="34" charset="0"/>
                <a:ea typeface="Calibri" pitchFamily="34" charset="-122"/>
                <a:cs typeface="Calibri" pitchFamily="34" charset="-120"/>
              </a:rPr>
              <a:t>Protected time before operational demands</a:t>
            </a:r>
            <a:endParaRPr lang="en-US" sz="1000" dirty="0"/>
          </a:p>
        </p:txBody>
      </p:sp>
      <p:sp>
        <p:nvSpPr>
          <p:cNvPr id="15" name="Shape 13"/>
          <p:cNvSpPr/>
          <p:nvPr/>
        </p:nvSpPr>
        <p:spPr>
          <a:xfrm>
            <a:off x="6903720" y="1005840"/>
            <a:ext cx="1920240" cy="155448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16" name="Text 14"/>
          <p:cNvSpPr/>
          <p:nvPr/>
        </p:nvSpPr>
        <p:spPr>
          <a:xfrm>
            <a:off x="6995160" y="1097280"/>
            <a:ext cx="1737360" cy="274320"/>
          </a:xfrm>
          <a:prstGeom prst="rect">
            <a:avLst/>
          </a:prstGeom>
          <a:noFill/>
          <a:ln/>
        </p:spPr>
        <p:txBody>
          <a:bodyPr wrap="square" lIns="0" tIns="0" rIns="0" bIns="0" rtlCol="0" anchor="ctr"/>
          <a:lstStyle/>
          <a:p>
            <a:pPr marL="0" indent="0">
              <a:buNone/>
            </a:pPr>
            <a:r>
              <a:rPr lang="en-US" sz="900" b="1" kern="0" spc="200" dirty="0">
                <a:solidFill>
                  <a:srgbClr val="D4AF37"/>
                </a:solidFill>
                <a:latin typeface="Calibri" pitchFamily="34" charset="0"/>
                <a:ea typeface="Calibri" pitchFamily="34" charset="-122"/>
                <a:cs typeface="Calibri" pitchFamily="34" charset="-120"/>
              </a:rPr>
              <a:t>FORMAT</a:t>
            </a:r>
            <a:endParaRPr lang="en-US" sz="900" dirty="0"/>
          </a:p>
        </p:txBody>
      </p:sp>
      <p:sp>
        <p:nvSpPr>
          <p:cNvPr id="17" name="Text 15"/>
          <p:cNvSpPr/>
          <p:nvPr/>
        </p:nvSpPr>
        <p:spPr>
          <a:xfrm>
            <a:off x="6995160" y="1371600"/>
            <a:ext cx="173736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Hybrid</a:t>
            </a:r>
            <a:endParaRPr lang="en-US" sz="2200" dirty="0"/>
          </a:p>
        </p:txBody>
      </p:sp>
      <p:sp>
        <p:nvSpPr>
          <p:cNvPr id="18" name="Text 16"/>
          <p:cNvSpPr/>
          <p:nvPr/>
        </p:nvSpPr>
        <p:spPr>
          <a:xfrm>
            <a:off x="6995160" y="1920240"/>
            <a:ext cx="1737360" cy="457200"/>
          </a:xfrm>
          <a:prstGeom prst="rect">
            <a:avLst/>
          </a:prstGeom>
          <a:noFill/>
          <a:ln/>
        </p:spPr>
        <p:txBody>
          <a:bodyPr wrap="square" lIns="0" tIns="0" rIns="0" bIns="0" rtlCol="0" anchor="ctr"/>
          <a:lstStyle/>
          <a:p>
            <a:pPr marL="0" indent="0">
              <a:buNone/>
            </a:pPr>
            <a:r>
              <a:rPr lang="en-US" sz="1000" dirty="0">
                <a:solidFill>
                  <a:srgbClr val="AAAAAA"/>
                </a:solidFill>
                <a:latin typeface="Calibri" pitchFamily="34" charset="0"/>
                <a:ea typeface="Calibri" pitchFamily="34" charset="-122"/>
                <a:cs typeface="Calibri" pitchFamily="34" charset="-120"/>
              </a:rPr>
              <a:t>Virtual + In-Person flexibility</a:t>
            </a:r>
            <a:endParaRPr lang="en-US" sz="1000" dirty="0"/>
          </a:p>
        </p:txBody>
      </p:sp>
      <p:sp>
        <p:nvSpPr>
          <p:cNvPr id="19" name="Text 17"/>
          <p:cNvSpPr/>
          <p:nvPr/>
        </p:nvSpPr>
        <p:spPr>
          <a:xfrm>
            <a:off x="457200" y="2834640"/>
            <a:ext cx="8229600" cy="365760"/>
          </a:xfrm>
          <a:prstGeom prst="rect">
            <a:avLst/>
          </a:prstGeom>
          <a:noFill/>
          <a:ln/>
        </p:spPr>
        <p:txBody>
          <a:bodyPr wrap="square" lIns="0" tIns="0" rIns="0" bIns="0" rtlCol="0" anchor="ctr"/>
          <a:lstStyle/>
          <a:p>
            <a:pPr marL="0" indent="0">
              <a:buNone/>
            </a:pPr>
            <a:r>
              <a:rPr lang="en-US" sz="1600" b="1" dirty="0">
                <a:solidFill>
                  <a:srgbClr val="1B3A2D"/>
                </a:solidFill>
                <a:latin typeface="Georgia" pitchFamily="34" charset="0"/>
                <a:ea typeface="Georgia" pitchFamily="34" charset="-122"/>
                <a:cs typeface="Georgia" pitchFamily="34" charset="-120"/>
              </a:rPr>
              <a:t>Session Structure</a:t>
            </a:r>
            <a:endParaRPr lang="en-US" sz="1600" dirty="0"/>
          </a:p>
        </p:txBody>
      </p:sp>
      <p:sp>
        <p:nvSpPr>
          <p:cNvPr id="20" name="Shape 18"/>
          <p:cNvSpPr/>
          <p:nvPr/>
        </p:nvSpPr>
        <p:spPr>
          <a:xfrm>
            <a:off x="457200" y="3291840"/>
            <a:ext cx="1920240" cy="128016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21" name="Shape 19"/>
          <p:cNvSpPr/>
          <p:nvPr/>
        </p:nvSpPr>
        <p:spPr>
          <a:xfrm>
            <a:off x="457200" y="3291840"/>
            <a:ext cx="1920240" cy="36576"/>
          </a:xfrm>
          <a:prstGeom prst="rect">
            <a:avLst/>
          </a:prstGeom>
          <a:solidFill>
            <a:srgbClr val="2E7D52"/>
          </a:solidFill>
          <a:ln/>
        </p:spPr>
        <p:txBody>
          <a:bodyPr/>
          <a:lstStyle/>
          <a:p>
            <a:endParaRPr lang="en-NG"/>
          </a:p>
        </p:txBody>
      </p:sp>
      <p:sp>
        <p:nvSpPr>
          <p:cNvPr id="22" name="Text 20"/>
          <p:cNvSpPr/>
          <p:nvPr/>
        </p:nvSpPr>
        <p:spPr>
          <a:xfrm>
            <a:off x="548640" y="3383280"/>
            <a:ext cx="1737360" cy="228600"/>
          </a:xfrm>
          <a:prstGeom prst="rect">
            <a:avLst/>
          </a:prstGeom>
          <a:noFill/>
          <a:ln/>
        </p:spPr>
        <p:txBody>
          <a:bodyPr wrap="square" lIns="0" tIns="0" rIns="0" bIns="0" rtlCol="0" anchor="ctr"/>
          <a:lstStyle/>
          <a:p>
            <a:pPr marL="0" indent="0">
              <a:buNone/>
            </a:pPr>
            <a:r>
              <a:rPr lang="en-US" sz="1000" b="1" dirty="0">
                <a:solidFill>
                  <a:srgbClr val="2E7D52"/>
                </a:solidFill>
                <a:latin typeface="Calibri" pitchFamily="34" charset="0"/>
                <a:ea typeface="Calibri" pitchFamily="34" charset="-122"/>
                <a:cs typeface="Calibri" pitchFamily="34" charset="-120"/>
              </a:rPr>
              <a:t>45 min</a:t>
            </a:r>
            <a:endParaRPr lang="en-US" sz="1000" dirty="0"/>
          </a:p>
        </p:txBody>
      </p:sp>
      <p:sp>
        <p:nvSpPr>
          <p:cNvPr id="23" name="Text 21"/>
          <p:cNvSpPr/>
          <p:nvPr/>
        </p:nvSpPr>
        <p:spPr>
          <a:xfrm>
            <a:off x="548640" y="3611880"/>
            <a:ext cx="1737360" cy="27432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Teaching</a:t>
            </a:r>
            <a:endParaRPr lang="en-US" sz="1300" dirty="0"/>
          </a:p>
        </p:txBody>
      </p:sp>
      <p:sp>
        <p:nvSpPr>
          <p:cNvPr id="24" name="Text 22"/>
          <p:cNvSpPr/>
          <p:nvPr/>
        </p:nvSpPr>
        <p:spPr>
          <a:xfrm>
            <a:off x="548640" y="3931920"/>
            <a:ext cx="1737360" cy="548640"/>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Direct instruction from EXCO faculty with real-world Sapphire examples</a:t>
            </a:r>
            <a:endParaRPr lang="en-US" sz="1000" dirty="0"/>
          </a:p>
        </p:txBody>
      </p:sp>
      <p:sp>
        <p:nvSpPr>
          <p:cNvPr id="25" name="Shape 23"/>
          <p:cNvSpPr/>
          <p:nvPr/>
        </p:nvSpPr>
        <p:spPr>
          <a:xfrm>
            <a:off x="2606040" y="3291840"/>
            <a:ext cx="1920240" cy="128016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26" name="Shape 24"/>
          <p:cNvSpPr/>
          <p:nvPr/>
        </p:nvSpPr>
        <p:spPr>
          <a:xfrm>
            <a:off x="2606040" y="3291840"/>
            <a:ext cx="1920240" cy="36576"/>
          </a:xfrm>
          <a:prstGeom prst="rect">
            <a:avLst/>
          </a:prstGeom>
          <a:solidFill>
            <a:srgbClr val="2E7D52"/>
          </a:solidFill>
          <a:ln/>
        </p:spPr>
        <p:txBody>
          <a:bodyPr/>
          <a:lstStyle/>
          <a:p>
            <a:endParaRPr lang="en-NG"/>
          </a:p>
        </p:txBody>
      </p:sp>
      <p:sp>
        <p:nvSpPr>
          <p:cNvPr id="27" name="Text 25"/>
          <p:cNvSpPr/>
          <p:nvPr/>
        </p:nvSpPr>
        <p:spPr>
          <a:xfrm>
            <a:off x="2697480" y="3383280"/>
            <a:ext cx="1737360" cy="228600"/>
          </a:xfrm>
          <a:prstGeom prst="rect">
            <a:avLst/>
          </a:prstGeom>
          <a:noFill/>
          <a:ln/>
        </p:spPr>
        <p:txBody>
          <a:bodyPr wrap="square" lIns="0" tIns="0" rIns="0" bIns="0" rtlCol="0" anchor="ctr"/>
          <a:lstStyle/>
          <a:p>
            <a:pPr marL="0" indent="0">
              <a:buNone/>
            </a:pPr>
            <a:r>
              <a:rPr lang="en-US" sz="1000" b="1" dirty="0">
                <a:solidFill>
                  <a:srgbClr val="2E7D52"/>
                </a:solidFill>
                <a:latin typeface="Calibri" pitchFamily="34" charset="0"/>
                <a:ea typeface="Calibri" pitchFamily="34" charset="-122"/>
                <a:cs typeface="Calibri" pitchFamily="34" charset="-120"/>
              </a:rPr>
              <a:t>15 min</a:t>
            </a:r>
            <a:endParaRPr lang="en-US" sz="1000" dirty="0"/>
          </a:p>
        </p:txBody>
      </p:sp>
      <p:sp>
        <p:nvSpPr>
          <p:cNvPr id="28" name="Text 26"/>
          <p:cNvSpPr/>
          <p:nvPr/>
        </p:nvSpPr>
        <p:spPr>
          <a:xfrm>
            <a:off x="2697480" y="3611880"/>
            <a:ext cx="1737360" cy="27432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Discussion</a:t>
            </a:r>
            <a:endParaRPr lang="en-US" sz="1300" dirty="0"/>
          </a:p>
        </p:txBody>
      </p:sp>
      <p:sp>
        <p:nvSpPr>
          <p:cNvPr id="29" name="Text 27"/>
          <p:cNvSpPr/>
          <p:nvPr/>
        </p:nvSpPr>
        <p:spPr>
          <a:xfrm>
            <a:off x="2697480" y="3931920"/>
            <a:ext cx="1737360" cy="548640"/>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Interactive Q&amp;A and peer discussion on practical application</a:t>
            </a:r>
            <a:endParaRPr lang="en-US" sz="1000" dirty="0"/>
          </a:p>
        </p:txBody>
      </p:sp>
      <p:sp>
        <p:nvSpPr>
          <p:cNvPr id="30" name="Shape 28"/>
          <p:cNvSpPr/>
          <p:nvPr/>
        </p:nvSpPr>
        <p:spPr>
          <a:xfrm>
            <a:off x="4754880" y="3291840"/>
            <a:ext cx="1920240" cy="128016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31" name="Shape 29"/>
          <p:cNvSpPr/>
          <p:nvPr/>
        </p:nvSpPr>
        <p:spPr>
          <a:xfrm>
            <a:off x="4754880" y="3291840"/>
            <a:ext cx="1920240" cy="36576"/>
          </a:xfrm>
          <a:prstGeom prst="rect">
            <a:avLst/>
          </a:prstGeom>
          <a:solidFill>
            <a:srgbClr val="2E7D52"/>
          </a:solidFill>
          <a:ln/>
        </p:spPr>
        <p:txBody>
          <a:bodyPr/>
          <a:lstStyle/>
          <a:p>
            <a:endParaRPr lang="en-NG"/>
          </a:p>
        </p:txBody>
      </p:sp>
      <p:sp>
        <p:nvSpPr>
          <p:cNvPr id="32" name="Text 30"/>
          <p:cNvSpPr/>
          <p:nvPr/>
        </p:nvSpPr>
        <p:spPr>
          <a:xfrm>
            <a:off x="4846320" y="3383280"/>
            <a:ext cx="1737360" cy="228600"/>
          </a:xfrm>
          <a:prstGeom prst="rect">
            <a:avLst/>
          </a:prstGeom>
          <a:noFill/>
          <a:ln/>
        </p:spPr>
        <p:txBody>
          <a:bodyPr wrap="square" lIns="0" tIns="0" rIns="0" bIns="0" rtlCol="0" anchor="ctr"/>
          <a:lstStyle/>
          <a:p>
            <a:pPr marL="0" indent="0">
              <a:buNone/>
            </a:pPr>
            <a:r>
              <a:rPr lang="en-US" sz="1000" b="1" dirty="0">
                <a:solidFill>
                  <a:srgbClr val="2E7D52"/>
                </a:solidFill>
                <a:latin typeface="Calibri" pitchFamily="34" charset="0"/>
                <a:ea typeface="Calibri" pitchFamily="34" charset="-122"/>
                <a:cs typeface="Calibri" pitchFamily="34" charset="-120"/>
              </a:rPr>
              <a:t>Weekly</a:t>
            </a:r>
            <a:endParaRPr lang="en-US" sz="1000" dirty="0"/>
          </a:p>
        </p:txBody>
      </p:sp>
      <p:sp>
        <p:nvSpPr>
          <p:cNvPr id="33" name="Text 31"/>
          <p:cNvSpPr/>
          <p:nvPr/>
        </p:nvSpPr>
        <p:spPr>
          <a:xfrm>
            <a:off x="4846320" y="3611880"/>
            <a:ext cx="1737360" cy="27432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Assignments</a:t>
            </a:r>
            <a:endParaRPr lang="en-US" sz="1300" dirty="0"/>
          </a:p>
        </p:txBody>
      </p:sp>
      <p:sp>
        <p:nvSpPr>
          <p:cNvPr id="34" name="Text 32"/>
          <p:cNvSpPr/>
          <p:nvPr/>
        </p:nvSpPr>
        <p:spPr>
          <a:xfrm>
            <a:off x="4846320" y="3931920"/>
            <a:ext cx="1737360" cy="548640"/>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Objective and non-objective tasks for behavioral change</a:t>
            </a:r>
            <a:endParaRPr lang="en-US" sz="1000" dirty="0"/>
          </a:p>
        </p:txBody>
      </p:sp>
      <p:sp>
        <p:nvSpPr>
          <p:cNvPr id="35" name="Shape 33"/>
          <p:cNvSpPr/>
          <p:nvPr/>
        </p:nvSpPr>
        <p:spPr>
          <a:xfrm>
            <a:off x="6903720" y="3291840"/>
            <a:ext cx="1920240" cy="1280160"/>
          </a:xfrm>
          <a:prstGeom prst="rect">
            <a:avLst/>
          </a:prstGeom>
          <a:solidFill>
            <a:srgbClr val="E8F5ED"/>
          </a:solidFill>
          <a:ln/>
          <a:effectLst>
            <a:outerShdw blurRad="50800" dist="25400" dir="8100000" algn="bl" rotWithShape="0">
              <a:srgbClr val="000000">
                <a:alpha val="12000"/>
              </a:srgbClr>
            </a:outerShdw>
          </a:effectLst>
        </p:spPr>
        <p:txBody>
          <a:bodyPr/>
          <a:lstStyle/>
          <a:p>
            <a:endParaRPr lang="en-NG"/>
          </a:p>
        </p:txBody>
      </p:sp>
      <p:sp>
        <p:nvSpPr>
          <p:cNvPr id="36" name="Shape 34"/>
          <p:cNvSpPr/>
          <p:nvPr/>
        </p:nvSpPr>
        <p:spPr>
          <a:xfrm>
            <a:off x="6903720" y="3291840"/>
            <a:ext cx="1920240" cy="36576"/>
          </a:xfrm>
          <a:prstGeom prst="rect">
            <a:avLst/>
          </a:prstGeom>
          <a:solidFill>
            <a:srgbClr val="2E7D52"/>
          </a:solidFill>
          <a:ln/>
        </p:spPr>
        <p:txBody>
          <a:bodyPr/>
          <a:lstStyle/>
          <a:p>
            <a:endParaRPr lang="en-NG"/>
          </a:p>
        </p:txBody>
      </p:sp>
      <p:sp>
        <p:nvSpPr>
          <p:cNvPr id="37" name="Text 35"/>
          <p:cNvSpPr/>
          <p:nvPr/>
        </p:nvSpPr>
        <p:spPr>
          <a:xfrm>
            <a:off x="6995160" y="3383280"/>
            <a:ext cx="1737360" cy="228600"/>
          </a:xfrm>
          <a:prstGeom prst="rect">
            <a:avLst/>
          </a:prstGeom>
          <a:noFill/>
          <a:ln/>
        </p:spPr>
        <p:txBody>
          <a:bodyPr wrap="square" lIns="0" tIns="0" rIns="0" bIns="0" rtlCol="0" anchor="ctr"/>
          <a:lstStyle/>
          <a:p>
            <a:pPr marL="0" indent="0">
              <a:buNone/>
            </a:pPr>
            <a:r>
              <a:rPr lang="en-US" sz="1000" b="1" dirty="0">
                <a:solidFill>
                  <a:srgbClr val="2E7D52"/>
                </a:solidFill>
                <a:latin typeface="Calibri" pitchFamily="34" charset="0"/>
                <a:ea typeface="Calibri" pitchFamily="34" charset="-122"/>
                <a:cs typeface="Calibri" pitchFamily="34" charset="-120"/>
              </a:rPr>
              <a:t>Monthly</a:t>
            </a:r>
            <a:endParaRPr lang="en-US" sz="1000" dirty="0"/>
          </a:p>
        </p:txBody>
      </p:sp>
      <p:sp>
        <p:nvSpPr>
          <p:cNvPr id="38" name="Text 36"/>
          <p:cNvSpPr/>
          <p:nvPr/>
        </p:nvSpPr>
        <p:spPr>
          <a:xfrm>
            <a:off x="6995160" y="3611880"/>
            <a:ext cx="1737360" cy="274320"/>
          </a:xfrm>
          <a:prstGeom prst="rect">
            <a:avLst/>
          </a:prstGeom>
          <a:noFill/>
          <a:ln/>
        </p:spPr>
        <p:txBody>
          <a:bodyPr wrap="square" lIns="0" tIns="0" rIns="0" bIns="0" rtlCol="0" anchor="ctr"/>
          <a:lstStyle/>
          <a:p>
            <a:pPr marL="0" indent="0">
              <a:buNone/>
            </a:pPr>
            <a:r>
              <a:rPr lang="en-US" sz="1300" b="1" dirty="0">
                <a:solidFill>
                  <a:srgbClr val="1B3A2D"/>
                </a:solidFill>
                <a:latin typeface="Georgia" pitchFamily="34" charset="0"/>
                <a:ea typeface="Georgia" pitchFamily="34" charset="-122"/>
                <a:cs typeface="Georgia" pitchFamily="34" charset="-120"/>
              </a:rPr>
              <a:t>Mentorship</a:t>
            </a:r>
            <a:endParaRPr lang="en-US" sz="1300" dirty="0"/>
          </a:p>
        </p:txBody>
      </p:sp>
      <p:sp>
        <p:nvSpPr>
          <p:cNvPr id="39" name="Text 37"/>
          <p:cNvSpPr/>
          <p:nvPr/>
        </p:nvSpPr>
        <p:spPr>
          <a:xfrm>
            <a:off x="6995160" y="3931920"/>
            <a:ext cx="1737360" cy="548640"/>
          </a:xfrm>
          <a:prstGeom prst="rect">
            <a:avLst/>
          </a:prstGeom>
          <a:noFill/>
          <a:ln/>
        </p:spPr>
        <p:txBody>
          <a:bodyPr wrap="square" lIns="0" tIns="0" rIns="0" bIns="0" rtlCol="0" anchor="ctr"/>
          <a:lstStyle/>
          <a:p>
            <a:pPr marL="0" indent="0">
              <a:lnSpc>
                <a:spcPct val="120000"/>
              </a:lnSpc>
              <a:buNone/>
            </a:pPr>
            <a:r>
              <a:rPr lang="en-US" sz="1000" dirty="0">
                <a:solidFill>
                  <a:srgbClr val="6B7280"/>
                </a:solidFill>
                <a:latin typeface="Calibri" pitchFamily="34" charset="0"/>
                <a:ea typeface="Calibri" pitchFamily="34" charset="-122"/>
                <a:cs typeface="Calibri" pitchFamily="34" charset="-120"/>
              </a:rPr>
              <a:t>Dedicated 1-on-1 coaching with EXCO mentors</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Leadership Mentorship Program</a:t>
            </a:r>
            <a:endParaRPr lang="en-US" sz="2200" dirty="0"/>
          </a:p>
        </p:txBody>
      </p:sp>
      <p:sp>
        <p:nvSpPr>
          <p:cNvPr id="3" name="Text 1"/>
          <p:cNvSpPr/>
          <p:nvPr/>
        </p:nvSpPr>
        <p:spPr>
          <a:xfrm>
            <a:off x="457200" y="914400"/>
            <a:ext cx="8229600" cy="457200"/>
          </a:xfrm>
          <a:prstGeom prst="rect">
            <a:avLst/>
          </a:prstGeom>
          <a:noFill/>
          <a:ln/>
        </p:spPr>
        <p:txBody>
          <a:bodyPr wrap="square"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Monthly One-on-Ones:</a:t>
            </a:r>
            <a:r>
              <a:rPr lang="en-US" sz="1200" dirty="0">
                <a:solidFill>
                  <a:srgbClr val="6B7280"/>
                </a:solidFill>
                <a:latin typeface="Calibri" pitchFamily="34" charset="0"/>
                <a:ea typeface="Calibri" pitchFamily="34" charset="-122"/>
                <a:cs typeface="Calibri" pitchFamily="34" charset="-120"/>
              </a:rPr>
              <a:t> Protected time dedicated solely to mentee’s development</a:t>
            </a:r>
            <a:endParaRPr lang="en-US" sz="1200" dirty="0"/>
          </a:p>
        </p:txBody>
      </p:sp>
      <p:sp>
        <p:nvSpPr>
          <p:cNvPr id="4" name="Shape 2"/>
          <p:cNvSpPr/>
          <p:nvPr/>
        </p:nvSpPr>
        <p:spPr>
          <a:xfrm>
            <a:off x="457200" y="1417320"/>
            <a:ext cx="8229600" cy="0"/>
          </a:xfrm>
          <a:prstGeom prst="line">
            <a:avLst/>
          </a:prstGeom>
          <a:noFill/>
          <a:ln w="6350">
            <a:solidFill>
              <a:srgbClr val="E5E7EB"/>
            </a:solidFill>
            <a:prstDash val="solid"/>
          </a:ln>
        </p:spPr>
        <p:txBody>
          <a:bodyPr/>
          <a:lstStyle/>
          <a:p>
            <a:endParaRPr lang="en-NG"/>
          </a:p>
        </p:txBody>
      </p:sp>
      <p:sp>
        <p:nvSpPr>
          <p:cNvPr id="5" name="Text 3"/>
          <p:cNvSpPr/>
          <p:nvPr/>
        </p:nvSpPr>
        <p:spPr>
          <a:xfrm>
            <a:off x="457200" y="1463040"/>
            <a:ext cx="8229600" cy="457200"/>
          </a:xfrm>
          <a:prstGeom prst="rect">
            <a:avLst/>
          </a:prstGeom>
          <a:noFill/>
          <a:ln/>
        </p:spPr>
        <p:txBody>
          <a:bodyPr wrap="square"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Leadership Coaching:</a:t>
            </a:r>
            <a:r>
              <a:rPr lang="en-US" sz="1200" dirty="0">
                <a:solidFill>
                  <a:srgbClr val="6B7280"/>
                </a:solidFill>
                <a:latin typeface="Calibri" pitchFamily="34" charset="0"/>
                <a:ea typeface="Calibri" pitchFamily="34" charset="-122"/>
                <a:cs typeface="Calibri" pitchFamily="34" charset="-120"/>
              </a:rPr>
              <a:t> Navigating complex challenges, difficult conversations, strategic decisions</a:t>
            </a:r>
            <a:endParaRPr lang="en-US" sz="1200" dirty="0"/>
          </a:p>
        </p:txBody>
      </p:sp>
      <p:sp>
        <p:nvSpPr>
          <p:cNvPr id="6" name="Shape 4"/>
          <p:cNvSpPr/>
          <p:nvPr/>
        </p:nvSpPr>
        <p:spPr>
          <a:xfrm>
            <a:off x="457200" y="1965960"/>
            <a:ext cx="8229600" cy="0"/>
          </a:xfrm>
          <a:prstGeom prst="line">
            <a:avLst/>
          </a:prstGeom>
          <a:noFill/>
          <a:ln w="6350">
            <a:solidFill>
              <a:srgbClr val="E5E7EB"/>
            </a:solidFill>
            <a:prstDash val="solid"/>
          </a:ln>
        </p:spPr>
        <p:txBody>
          <a:bodyPr/>
          <a:lstStyle/>
          <a:p>
            <a:endParaRPr lang="en-NG"/>
          </a:p>
        </p:txBody>
      </p:sp>
      <p:sp>
        <p:nvSpPr>
          <p:cNvPr id="7" name="Text 5"/>
          <p:cNvSpPr/>
          <p:nvPr/>
        </p:nvSpPr>
        <p:spPr>
          <a:xfrm>
            <a:off x="457200" y="2011680"/>
            <a:ext cx="8229600" cy="457200"/>
          </a:xfrm>
          <a:prstGeom prst="rect">
            <a:avLst/>
          </a:prstGeom>
          <a:noFill/>
          <a:ln/>
        </p:spPr>
        <p:txBody>
          <a:bodyPr wrap="square"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Career Conversations:</a:t>
            </a:r>
            <a:r>
              <a:rPr lang="en-US" sz="1200" dirty="0">
                <a:solidFill>
                  <a:srgbClr val="6B7280"/>
                </a:solidFill>
                <a:latin typeface="Calibri" pitchFamily="34" charset="0"/>
                <a:ea typeface="Calibri" pitchFamily="34" charset="-122"/>
                <a:cs typeface="Calibri" pitchFamily="34" charset="-120"/>
              </a:rPr>
              <a:t> Long-term trajectory within Sapphire and skills required</a:t>
            </a:r>
            <a:endParaRPr lang="en-US" sz="1200" dirty="0"/>
          </a:p>
        </p:txBody>
      </p:sp>
      <p:sp>
        <p:nvSpPr>
          <p:cNvPr id="8" name="Shape 6"/>
          <p:cNvSpPr/>
          <p:nvPr/>
        </p:nvSpPr>
        <p:spPr>
          <a:xfrm>
            <a:off x="457200" y="2514600"/>
            <a:ext cx="8229600" cy="0"/>
          </a:xfrm>
          <a:prstGeom prst="line">
            <a:avLst/>
          </a:prstGeom>
          <a:noFill/>
          <a:ln w="6350">
            <a:solidFill>
              <a:srgbClr val="E5E7EB"/>
            </a:solidFill>
            <a:prstDash val="solid"/>
          </a:ln>
        </p:spPr>
        <p:txBody>
          <a:bodyPr/>
          <a:lstStyle/>
          <a:p>
            <a:endParaRPr lang="en-NG"/>
          </a:p>
        </p:txBody>
      </p:sp>
      <p:sp>
        <p:nvSpPr>
          <p:cNvPr id="9" name="Text 7"/>
          <p:cNvSpPr/>
          <p:nvPr/>
        </p:nvSpPr>
        <p:spPr>
          <a:xfrm>
            <a:off x="457200" y="2560320"/>
            <a:ext cx="8229600" cy="457200"/>
          </a:xfrm>
          <a:prstGeom prst="rect">
            <a:avLst/>
          </a:prstGeom>
          <a:noFill/>
          <a:ln/>
        </p:spPr>
        <p:txBody>
          <a:bodyPr wrap="square"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Leadership Shadowing:</a:t>
            </a:r>
            <a:r>
              <a:rPr lang="en-US" sz="1200" dirty="0">
                <a:solidFill>
                  <a:srgbClr val="6B7280"/>
                </a:solidFill>
                <a:latin typeface="Calibri" pitchFamily="34" charset="0"/>
                <a:ea typeface="Calibri" pitchFamily="34" charset="-122"/>
                <a:cs typeface="Calibri" pitchFamily="34" charset="-120"/>
              </a:rPr>
              <a:t> Observing mentors in high-stakes meetings and planning sessions</a:t>
            </a:r>
            <a:endParaRPr lang="en-US" sz="1200" dirty="0"/>
          </a:p>
        </p:txBody>
      </p:sp>
      <p:sp>
        <p:nvSpPr>
          <p:cNvPr id="10" name="Shape 8"/>
          <p:cNvSpPr/>
          <p:nvPr/>
        </p:nvSpPr>
        <p:spPr>
          <a:xfrm>
            <a:off x="457200" y="3063240"/>
            <a:ext cx="8229600" cy="0"/>
          </a:xfrm>
          <a:prstGeom prst="line">
            <a:avLst/>
          </a:prstGeom>
          <a:noFill/>
          <a:ln w="6350">
            <a:solidFill>
              <a:srgbClr val="E5E7EB"/>
            </a:solidFill>
            <a:prstDash val="solid"/>
          </a:ln>
        </p:spPr>
        <p:txBody>
          <a:bodyPr/>
          <a:lstStyle/>
          <a:p>
            <a:endParaRPr lang="en-NG"/>
          </a:p>
        </p:txBody>
      </p:sp>
      <p:sp>
        <p:nvSpPr>
          <p:cNvPr id="11" name="Text 9"/>
          <p:cNvSpPr/>
          <p:nvPr/>
        </p:nvSpPr>
        <p:spPr>
          <a:xfrm>
            <a:off x="457200" y="3108960"/>
            <a:ext cx="8229600" cy="457200"/>
          </a:xfrm>
          <a:prstGeom prst="rect">
            <a:avLst/>
          </a:prstGeom>
          <a:noFill/>
          <a:ln/>
        </p:spPr>
        <p:txBody>
          <a:bodyPr wrap="square"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Feedback Sessions:</a:t>
            </a:r>
            <a:r>
              <a:rPr lang="en-US" sz="1200" dirty="0">
                <a:solidFill>
                  <a:srgbClr val="6B7280"/>
                </a:solidFill>
                <a:latin typeface="Calibri" pitchFamily="34" charset="0"/>
                <a:ea typeface="Calibri" pitchFamily="34" charset="-122"/>
                <a:cs typeface="Calibri" pitchFamily="34" charset="-120"/>
              </a:rPr>
              <a:t> Candid, constructive feedback based on observations and self-assessments</a:t>
            </a:r>
            <a:endParaRPr lang="en-US" sz="1200" dirty="0"/>
          </a:p>
        </p:txBody>
      </p:sp>
      <p:sp>
        <p:nvSpPr>
          <p:cNvPr id="12" name="Shape 10"/>
          <p:cNvSpPr/>
          <p:nvPr/>
        </p:nvSpPr>
        <p:spPr>
          <a:xfrm>
            <a:off x="457200" y="3611880"/>
            <a:ext cx="8229600" cy="0"/>
          </a:xfrm>
          <a:prstGeom prst="line">
            <a:avLst/>
          </a:prstGeom>
          <a:noFill/>
          <a:ln w="6350">
            <a:solidFill>
              <a:srgbClr val="E5E7EB"/>
            </a:solidFill>
            <a:prstDash val="solid"/>
          </a:ln>
        </p:spPr>
        <p:txBody>
          <a:bodyPr/>
          <a:lstStyle/>
          <a:p>
            <a:endParaRPr lang="en-NG"/>
          </a:p>
        </p:txBody>
      </p:sp>
      <p:sp>
        <p:nvSpPr>
          <p:cNvPr id="13" name="Text 11"/>
          <p:cNvSpPr/>
          <p:nvPr/>
        </p:nvSpPr>
        <p:spPr>
          <a:xfrm>
            <a:off x="457200" y="3657600"/>
            <a:ext cx="8229600" cy="457200"/>
          </a:xfrm>
          <a:prstGeom prst="rect">
            <a:avLst/>
          </a:prstGeom>
          <a:noFill/>
          <a:ln/>
        </p:spPr>
        <p:txBody>
          <a:bodyPr wrap="square" rtlCol="0" anchor="ctr"/>
          <a:lstStyle/>
          <a:p>
            <a:pPr marL="0" indent="0">
              <a:buNone/>
            </a:pPr>
            <a:r>
              <a:rPr lang="en-US" sz="1200" b="1" dirty="0">
                <a:solidFill>
                  <a:srgbClr val="1B3A2D"/>
                </a:solidFill>
                <a:latin typeface="Calibri" pitchFamily="34" charset="0"/>
                <a:ea typeface="Calibri" pitchFamily="34" charset="-122"/>
                <a:cs typeface="Calibri" pitchFamily="34" charset="-120"/>
              </a:rPr>
              <a:t>Development Plans:</a:t>
            </a:r>
            <a:r>
              <a:rPr lang="en-US" sz="1200" dirty="0">
                <a:solidFill>
                  <a:srgbClr val="6B7280"/>
                </a:solidFill>
                <a:latin typeface="Calibri" pitchFamily="34" charset="0"/>
                <a:ea typeface="Calibri" pitchFamily="34" charset="-122"/>
                <a:cs typeface="Calibri" pitchFamily="34" charset="-120"/>
              </a:rPr>
              <a:t> Co-created plans with specific growth objectives and milestones</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Measurement &amp; Assessment</a:t>
            </a:r>
            <a:endParaRPr lang="en-US" sz="22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200" b="1" dirty="0">
                <a:solidFill>
                  <a:srgbClr val="2E7D52"/>
                </a:solidFill>
                <a:latin typeface="Calibri" pitchFamily="34" charset="0"/>
                <a:ea typeface="Calibri" pitchFamily="34" charset="-122"/>
                <a:cs typeface="Calibri" pitchFamily="34" charset="-120"/>
              </a:rPr>
              <a:t>100-Point Leadership Scorecard  |  Minimum 75 to Graduate</a:t>
            </a:r>
            <a:endParaRPr lang="en-US" sz="1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029200" cy="2697480"/>
        </p:xfrm>
        <a:graphic>
          <a:graphicData uri="http://schemas.openxmlformats.org/drawingml/2006/table">
            <a:tbl>
              <a:tblPr/>
              <a:tblGrid>
                <a:gridCol w="3657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rPr>
                        <a:t>Criteria</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2D"/>
                    </a:solidFill>
                  </a:tcPr>
                </a:tc>
                <a:tc>
                  <a:txBody>
                    <a:bodyPr/>
                    <a:lstStyle/>
                    <a:p>
                      <a:pPr marL="0" indent="0" algn="ctr">
                        <a:buNone/>
                      </a:pPr>
                      <a:r>
                        <a:rPr lang="en-US" sz="1100" b="1" dirty="0">
                          <a:solidFill>
                            <a:srgbClr val="FFFFFF"/>
                          </a:solidFill>
                        </a:rPr>
                        <a:t>Points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2D"/>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Attendance</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F5ED"/>
                    </a:solidFill>
                  </a:tcPr>
                </a:tc>
                <a:tc>
                  <a:txBody>
                    <a:bodyPr/>
                    <a:lstStyle/>
                    <a:p>
                      <a:pPr marL="0" indent="0" algn="ctr">
                        <a:buNone/>
                      </a:pPr>
                      <a:r>
                        <a:rPr lang="en-US" sz="1400" b="1" dirty="0">
                          <a:solidFill>
                            <a:srgbClr val="2E7D52"/>
                          </a:solidFill>
                          <a:latin typeface="Georgia" pitchFamily="34" charset="0"/>
                          <a:ea typeface="Georgia" pitchFamily="34" charset="-122"/>
                          <a:cs typeface="Georgia" pitchFamily="34" charset="-120"/>
                        </a:rPr>
                        <a:t>10</a:t>
                      </a:r>
                      <a:endParaRPr lang="en-US" sz="1400" dirty="0">
                        <a:latin typeface="Georgia" charset="0"/>
                        <a:ea typeface="Georgia" charset="0"/>
                        <a:cs typeface="Georgia"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F5ED"/>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Participation</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52"/>
                          </a:solidFill>
                          <a:latin typeface="Georgia" pitchFamily="34" charset="0"/>
                          <a:ea typeface="Georgia" pitchFamily="34" charset="-122"/>
                          <a:cs typeface="Georgia" pitchFamily="34" charset="-120"/>
                        </a:rPr>
                        <a:t>15</a:t>
                      </a:r>
                      <a:endParaRPr lang="en-US" sz="1400" dirty="0">
                        <a:latin typeface="Georgia" charset="0"/>
                        <a:ea typeface="Georgia" charset="0"/>
                        <a:cs typeface="Georgia"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Assignment Completion</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F5ED"/>
                    </a:solidFill>
                  </a:tcPr>
                </a:tc>
                <a:tc>
                  <a:txBody>
                    <a:bodyPr/>
                    <a:lstStyle/>
                    <a:p>
                      <a:pPr marL="0" indent="0" algn="ctr">
                        <a:buNone/>
                      </a:pPr>
                      <a:r>
                        <a:rPr lang="en-US" sz="1400" b="1" dirty="0">
                          <a:solidFill>
                            <a:srgbClr val="2E7D52"/>
                          </a:solidFill>
                          <a:latin typeface="Georgia" pitchFamily="34" charset="0"/>
                          <a:ea typeface="Georgia" pitchFamily="34" charset="-122"/>
                          <a:cs typeface="Georgia" pitchFamily="34" charset="-120"/>
                        </a:rPr>
                        <a:t>20</a:t>
                      </a:r>
                      <a:endParaRPr lang="en-US" sz="1400" dirty="0">
                        <a:latin typeface="Georgia" charset="0"/>
                        <a:ea typeface="Georgia" charset="0"/>
                        <a:cs typeface="Georgia"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F5ED"/>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Mentorship Participation</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52"/>
                          </a:solidFill>
                          <a:latin typeface="Georgia" pitchFamily="34" charset="0"/>
                          <a:ea typeface="Georgia" pitchFamily="34" charset="-122"/>
                          <a:cs typeface="Georgia" pitchFamily="34" charset="-120"/>
                        </a:rPr>
                        <a:t>15</a:t>
                      </a:r>
                      <a:endParaRPr lang="en-US" sz="1400" dirty="0">
                        <a:latin typeface="Georgia" charset="0"/>
                        <a:ea typeface="Georgia" charset="0"/>
                        <a:cs typeface="Georgia"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Peer Feedback (360°)</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F5ED"/>
                    </a:solidFill>
                  </a:tcPr>
                </a:tc>
                <a:tc>
                  <a:txBody>
                    <a:bodyPr/>
                    <a:lstStyle/>
                    <a:p>
                      <a:pPr marL="0" indent="0" algn="ctr">
                        <a:buNone/>
                      </a:pPr>
                      <a:r>
                        <a:rPr lang="en-US" sz="1400" b="1" dirty="0">
                          <a:solidFill>
                            <a:srgbClr val="2E7D52"/>
                          </a:solidFill>
                          <a:latin typeface="Georgia" pitchFamily="34" charset="0"/>
                          <a:ea typeface="Georgia" pitchFamily="34" charset="-122"/>
                          <a:cs typeface="Georgia" pitchFamily="34" charset="-120"/>
                        </a:rPr>
                        <a:t>10</a:t>
                      </a:r>
                      <a:endParaRPr lang="en-US" sz="1400" dirty="0">
                        <a:latin typeface="Georgia" charset="0"/>
                        <a:ea typeface="Georgia" charset="0"/>
                        <a:cs typeface="Georgia"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F5ED"/>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Self-Assessment</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52"/>
                          </a:solidFill>
                          <a:latin typeface="Georgia" pitchFamily="34" charset="0"/>
                          <a:ea typeface="Georgia" pitchFamily="34" charset="-122"/>
                          <a:cs typeface="Georgia" pitchFamily="34" charset="-120"/>
                        </a:rPr>
                        <a:t>10</a:t>
                      </a:r>
                      <a:endParaRPr lang="en-US" sz="1400" dirty="0">
                        <a:latin typeface="Georgia" charset="0"/>
                        <a:ea typeface="Georgia" charset="0"/>
                        <a:cs typeface="Georgia"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Manager Assessment</a:t>
                      </a:r>
                      <a:endParaRPr lang="en-US" sz="12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F5ED"/>
                    </a:solidFill>
                  </a:tcPr>
                </a:tc>
                <a:tc>
                  <a:txBody>
                    <a:bodyPr/>
                    <a:lstStyle/>
                    <a:p>
                      <a:pPr marL="0" indent="0" algn="ctr">
                        <a:buNone/>
                      </a:pPr>
                      <a:r>
                        <a:rPr lang="en-US" sz="1400" b="1" dirty="0">
                          <a:solidFill>
                            <a:srgbClr val="2E7D52"/>
                          </a:solidFill>
                          <a:latin typeface="Georgia" pitchFamily="34" charset="0"/>
                          <a:ea typeface="Georgia" pitchFamily="34" charset="-122"/>
                          <a:cs typeface="Georgia" pitchFamily="34" charset="-120"/>
                        </a:rPr>
                        <a:t>20</a:t>
                      </a:r>
                      <a:endParaRPr lang="en-US" sz="1400" dirty="0">
                        <a:latin typeface="Georgia" charset="0"/>
                        <a:ea typeface="Georgia" charset="0"/>
                        <a:cs typeface="Georgia"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8F5ED"/>
                    </a:solidFill>
                  </a:tcPr>
                </a:tc>
                <a:extLst>
                  <a:ext uri="{0D108BD9-81ED-4DB2-BD59-A6C34878D82A}">
                    <a16:rowId xmlns:a16="http://schemas.microsoft.com/office/drawing/2014/main" val="10007"/>
                  </a:ext>
                </a:extLst>
              </a:tr>
              <a:tr h="0">
                <a:tc>
                  <a:txBody>
                    <a:bodyPr/>
                    <a:lstStyle/>
                    <a:p>
                      <a:pPr marL="0" indent="0">
                        <a:buNone/>
                      </a:pPr>
                      <a:r>
                        <a:rPr lang="en-US" sz="1200" b="1" dirty="0">
                          <a:solidFill>
                            <a:srgbClr val="FFFFFF"/>
                          </a:solidFill>
                        </a:rPr>
                        <a:t>TOTAL</a:t>
                      </a:r>
                      <a:endParaRPr lang="en-US" sz="12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E7D52"/>
                    </a:solidFill>
                  </a:tcPr>
                </a:tc>
                <a:tc>
                  <a:txBody>
                    <a:bodyPr/>
                    <a:lstStyle/>
                    <a:p>
                      <a:pPr marL="0" indent="0" algn="ctr">
                        <a:buNone/>
                      </a:pPr>
                      <a:r>
                        <a:rPr lang="en-US" sz="1400" b="1" dirty="0">
                          <a:solidFill>
                            <a:srgbClr val="FFFFFF"/>
                          </a:solidFill>
                        </a:rPr>
                        <a:t>100</a:t>
                      </a:r>
                      <a:endParaRPr lang="en-US" sz="14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E7D52"/>
                    </a:solidFill>
                  </a:tcPr>
                </a:tc>
                <a:extLst>
                  <a:ext uri="{0D108BD9-81ED-4DB2-BD59-A6C34878D82A}">
                    <a16:rowId xmlns:a16="http://schemas.microsoft.com/office/drawing/2014/main" val="10008"/>
                  </a:ext>
                </a:extLst>
              </a:tr>
            </a:tbl>
          </a:graphicData>
        </a:graphic>
      </p:graphicFrame>
      <p:sp>
        <p:nvSpPr>
          <p:cNvPr id="5" name="Shape 2"/>
          <p:cNvSpPr/>
          <p:nvPr/>
        </p:nvSpPr>
        <p:spPr>
          <a:xfrm>
            <a:off x="5760720" y="1188720"/>
            <a:ext cx="2926080" cy="3474720"/>
          </a:xfrm>
          <a:prstGeom prst="rect">
            <a:avLst/>
          </a:prstGeom>
          <a:solidFill>
            <a:srgbClr val="1B3A2D"/>
          </a:solidFill>
          <a:ln/>
          <a:effectLst>
            <a:outerShdw blurRad="50800" dist="25400" dir="8100000" algn="bl" rotWithShape="0">
              <a:srgbClr val="000000">
                <a:alpha val="12000"/>
              </a:srgbClr>
            </a:outerShdw>
          </a:effectLst>
        </p:spPr>
        <p:txBody>
          <a:bodyPr/>
          <a:lstStyle/>
          <a:p>
            <a:endParaRPr lang="en-NG"/>
          </a:p>
        </p:txBody>
      </p:sp>
      <p:sp>
        <p:nvSpPr>
          <p:cNvPr id="6" name="Text 3"/>
          <p:cNvSpPr/>
          <p:nvPr/>
        </p:nvSpPr>
        <p:spPr>
          <a:xfrm>
            <a:off x="5943600" y="1325880"/>
            <a:ext cx="2560320" cy="3200400"/>
          </a:xfrm>
          <a:prstGeom prst="rect">
            <a:avLst/>
          </a:prstGeom>
          <a:noFill/>
          <a:ln/>
        </p:spPr>
        <p:txBody>
          <a:bodyPr wrap="square" rtlCol="0" anchor="t"/>
          <a:lstStyle/>
          <a:p>
            <a:pPr marL="0" indent="0">
              <a:buNone/>
            </a:pPr>
            <a:r>
              <a:rPr lang="en-US" sz="1000" b="1" kern="0" spc="200" dirty="0">
                <a:solidFill>
                  <a:srgbClr val="D4AF37"/>
                </a:solidFill>
              </a:rPr>
              <a:t>GRADUATION AWARDS</a:t>
            </a:r>
            <a:endParaRPr lang="en-US" sz="1000" dirty="0"/>
          </a:p>
          <a:p>
            <a:pPr marL="0" indent="0">
              <a:buNone/>
            </a:pPr>
            <a:endParaRPr lang="en-US" sz="1000" dirty="0"/>
          </a:p>
          <a:p>
            <a:pPr marL="0" indent="0">
              <a:buNone/>
            </a:pPr>
            <a:r>
              <a:rPr lang="en-US" sz="1100" b="1" dirty="0">
                <a:solidFill>
                  <a:srgbClr val="FFFFFF"/>
                </a:solidFill>
              </a:rPr>
              <a:t>Emerging Leader Award
</a:t>
            </a:r>
            <a:endParaRPr lang="en-US" sz="1000" dirty="0"/>
          </a:p>
          <a:p>
            <a:pPr marL="0" indent="0">
              <a:buNone/>
            </a:pPr>
            <a:r>
              <a:rPr lang="en-US" sz="1000" dirty="0">
                <a:solidFill>
                  <a:srgbClr val="CCCCCC"/>
                </a:solidFill>
              </a:rPr>
              <a:t>Most raw leadership potential and initiative
</a:t>
            </a:r>
            <a:endParaRPr lang="en-US" sz="1000" dirty="0"/>
          </a:p>
          <a:p>
            <a:pPr marL="0" indent="0">
              <a:buNone/>
            </a:pPr>
            <a:r>
              <a:rPr lang="en-US" sz="1100" b="1" dirty="0">
                <a:solidFill>
                  <a:srgbClr val="FFFFFF"/>
                </a:solidFill>
              </a:rPr>
              <a:t>Most Improved Leader
</a:t>
            </a:r>
            <a:endParaRPr lang="en-US" sz="1000" dirty="0"/>
          </a:p>
          <a:p>
            <a:pPr marL="0" indent="0">
              <a:buNone/>
            </a:pPr>
            <a:r>
              <a:rPr lang="en-US" sz="1000" dirty="0">
                <a:solidFill>
                  <a:srgbClr val="CCCCCC"/>
                </a:solidFill>
              </a:rPr>
              <a:t>Greatest measurable growth from baseline
</a:t>
            </a:r>
            <a:endParaRPr lang="en-US" sz="1000" dirty="0"/>
          </a:p>
          <a:p>
            <a:pPr marL="0" indent="0">
              <a:buNone/>
            </a:pPr>
            <a:r>
              <a:rPr lang="en-US" sz="1100" b="1" dirty="0">
                <a:solidFill>
                  <a:srgbClr val="FFFFFF"/>
                </a:solidFill>
              </a:rPr>
              <a:t>Leadership Excellence Award
</a:t>
            </a:r>
            <a:endParaRPr lang="en-US" sz="1000" dirty="0"/>
          </a:p>
          <a:p>
            <a:pPr marL="0" indent="0">
              <a:buNone/>
            </a:pPr>
            <a:r>
              <a:rPr lang="en-US" sz="1000" dirty="0">
                <a:solidFill>
                  <a:srgbClr val="CCCCCC"/>
                </a:solidFill>
              </a:rPr>
              <a:t>Highest overall scorecard score
</a:t>
            </a:r>
            <a:endParaRPr lang="en-US" sz="1000" dirty="0"/>
          </a:p>
          <a:p>
            <a:pPr marL="0" indent="0">
              <a:buNone/>
            </a:pPr>
            <a:r>
              <a:rPr lang="en-US" sz="1100" b="1" dirty="0">
                <a:solidFill>
                  <a:srgbClr val="FFFFFF"/>
                </a:solidFill>
              </a:rPr>
              <a:t>Best Mentor-Mentee Pair
</a:t>
            </a:r>
            <a:endParaRPr lang="en-US" sz="1000" dirty="0"/>
          </a:p>
          <a:p>
            <a:pPr marL="0" indent="0">
              <a:buNone/>
            </a:pPr>
            <a:r>
              <a:rPr lang="en-US" sz="1000" dirty="0">
                <a:solidFill>
                  <a:srgbClr val="CCCCCC"/>
                </a:solidFill>
              </a:rPr>
              <a:t>Most profound collaborative growth
</a:t>
            </a:r>
            <a:endParaRPr lang="en-US" sz="1000" dirty="0"/>
          </a:p>
          <a:p>
            <a:pPr marL="0" indent="0">
              <a:buNone/>
            </a:pPr>
            <a:r>
              <a:rPr lang="en-US" sz="1100" b="1" dirty="0">
                <a:solidFill>
                  <a:srgbClr val="FFFFFF"/>
                </a:solidFill>
              </a:rPr>
              <a:t>Culture Champion Award
</a:t>
            </a:r>
            <a:endParaRPr lang="en-US" sz="1000" dirty="0"/>
          </a:p>
          <a:p>
            <a:pPr marL="0" indent="0">
              <a:buNone/>
            </a:pPr>
            <a:r>
              <a:rPr lang="en-US" sz="1000" dirty="0">
                <a:solidFill>
                  <a:srgbClr val="CCCCCC"/>
                </a:solidFill>
              </a:rPr>
              <a:t>Best embodied Sapphire’s core values</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731520" y="1097280"/>
            <a:ext cx="7680960" cy="1463040"/>
          </a:xfrm>
          <a:prstGeom prst="rect">
            <a:avLst/>
          </a:prstGeom>
          <a:noFill/>
          <a:ln/>
        </p:spPr>
        <p:txBody>
          <a:bodyPr wrap="square" rtlCol="0" anchor="ctr"/>
          <a:lstStyle/>
          <a:p>
            <a:pPr marL="0" indent="0" algn="l">
              <a:buNone/>
            </a:pPr>
            <a:r>
              <a:rPr lang="en-US" sz="3800" b="1" dirty="0">
                <a:solidFill>
                  <a:srgbClr val="FFFFFF"/>
                </a:solidFill>
                <a:latin typeface="Georgia" pitchFamily="34" charset="0"/>
                <a:ea typeface="Georgia" pitchFamily="34" charset="-122"/>
                <a:cs typeface="Georgia" pitchFamily="34" charset="-120"/>
              </a:rPr>
              <a:t>CULTURE TRANSFORMATION</a:t>
            </a:r>
            <a:endParaRPr lang="en-US" sz="3800" dirty="0"/>
          </a:p>
        </p:txBody>
      </p:sp>
      <p:sp>
        <p:nvSpPr>
          <p:cNvPr id="3" name="Text 1"/>
          <p:cNvSpPr/>
          <p:nvPr/>
        </p:nvSpPr>
        <p:spPr>
          <a:xfrm>
            <a:off x="731520" y="2651760"/>
            <a:ext cx="7680960" cy="731520"/>
          </a:xfrm>
          <a:prstGeom prst="rect">
            <a:avLst/>
          </a:prstGeom>
          <a:noFill/>
          <a:ln/>
        </p:spPr>
        <p:txBody>
          <a:bodyPr wrap="square" rtlCol="0" anchor="ctr"/>
          <a:lstStyle/>
          <a:p>
            <a:pPr marL="0" indent="0" algn="l">
              <a:buNone/>
            </a:pPr>
            <a:r>
              <a:rPr lang="en-US" sz="1800" i="1" dirty="0">
                <a:solidFill>
                  <a:srgbClr val="D4AF37"/>
                </a:solidFill>
                <a:latin typeface="Calibri" pitchFamily="34" charset="0"/>
                <a:ea typeface="Calibri" pitchFamily="34" charset="-122"/>
                <a:cs typeface="Calibri" pitchFamily="34" charset="-120"/>
              </a:rPr>
              <a:t>From Academy to Institute  |  A 3-Year Journey</a:t>
            </a:r>
            <a:endParaRPr lang="en-US" sz="1800" dirty="0"/>
          </a:p>
        </p:txBody>
      </p:sp>
      <p:sp>
        <p:nvSpPr>
          <p:cNvPr id="4" name="Text 2"/>
          <p:cNvSpPr/>
          <p:nvPr/>
        </p:nvSpPr>
        <p:spPr>
          <a:xfrm>
            <a:off x="731520" y="3474720"/>
            <a:ext cx="7680960" cy="457200"/>
          </a:xfrm>
          <a:prstGeom prst="rect">
            <a:avLst/>
          </a:prstGeom>
          <a:noFill/>
          <a:ln/>
        </p:spPr>
        <p:txBody>
          <a:bodyPr wrap="square" rtlCol="0" anchor="ctr"/>
          <a:lstStyle/>
          <a:p>
            <a:pPr marL="0" indent="0" algn="l">
              <a:buNone/>
            </a:pPr>
            <a:r>
              <a:rPr lang="en-US" sz="1200" i="1" dirty="0">
                <a:solidFill>
                  <a:srgbClr val="AAAAAA"/>
                </a:solidFill>
                <a:latin typeface="Calibri" pitchFamily="34" charset="0"/>
                <a:ea typeface="Calibri" pitchFamily="34" charset="-122"/>
                <a:cs typeface="Calibri" pitchFamily="34" charset="-120"/>
              </a:rPr>
              <a:t>“Change is inevitable. Growth is optional.” — John C. Maxwell</a:t>
            </a:r>
            <a:endParaRPr lang="en-US" sz="1200" dirty="0"/>
          </a:p>
        </p:txBody>
      </p:sp>
      <p:sp>
        <p:nvSpPr>
          <p:cNvPr id="5" name="Text 3"/>
          <p:cNvSpPr/>
          <p:nvPr/>
        </p:nvSpPr>
        <p:spPr>
          <a:xfrm>
            <a:off x="274320" y="4754880"/>
            <a:ext cx="4572000" cy="320040"/>
          </a:xfrm>
          <a:prstGeom prst="rect">
            <a:avLst/>
          </a:prstGeom>
          <a:noFill/>
          <a:ln/>
        </p:spPr>
        <p:txBody>
          <a:bodyPr wrap="square"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SAPPHIRE VIRTUAL NETWORKS LIMITED</a:t>
            </a:r>
            <a:endParaRPr lang="en-US" sz="900" dirty="0"/>
          </a:p>
        </p:txBody>
      </p:sp>
      <p:sp>
        <p:nvSpPr>
          <p:cNvPr id="6" name="Text 4"/>
          <p:cNvSpPr/>
          <p:nvPr/>
        </p:nvSpPr>
        <p:spPr>
          <a:xfrm>
            <a:off x="6400800" y="4754880"/>
            <a:ext cx="2468880" cy="320040"/>
          </a:xfrm>
          <a:prstGeom prst="rect">
            <a:avLst/>
          </a:prstGeom>
          <a:noFill/>
          <a:ln/>
        </p:spPr>
        <p:txBody>
          <a:bodyPr wrap="square"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1B3A2D"/>
                </a:solidFill>
                <a:latin typeface="Georgia" pitchFamily="34" charset="0"/>
                <a:ea typeface="Georgia" pitchFamily="34" charset="-122"/>
                <a:cs typeface="Georgia" pitchFamily="34" charset="-120"/>
              </a:rPr>
              <a:t>Sapphire Culture Transformation Roadmap</a:t>
            </a:r>
            <a:endParaRPr lang="en-US" sz="2200" dirty="0"/>
          </a:p>
        </p:txBody>
      </p:sp>
      <p:sp>
        <p:nvSpPr>
          <p:cNvPr id="3" name="Shape 1"/>
          <p:cNvSpPr/>
          <p:nvPr/>
        </p:nvSpPr>
        <p:spPr>
          <a:xfrm>
            <a:off x="1234440" y="1508760"/>
            <a:ext cx="36576" cy="274320"/>
          </a:xfrm>
          <a:prstGeom prst="rect">
            <a:avLst/>
          </a:prstGeom>
          <a:solidFill>
            <a:srgbClr val="E5E7EB"/>
          </a:solidFill>
          <a:ln/>
        </p:spPr>
        <p:txBody>
          <a:bodyPr/>
          <a:lstStyle/>
          <a:p>
            <a:endParaRPr lang="en-NG"/>
          </a:p>
        </p:txBody>
      </p:sp>
      <p:sp>
        <p:nvSpPr>
          <p:cNvPr id="4" name="Shape 2"/>
          <p:cNvSpPr/>
          <p:nvPr/>
        </p:nvSpPr>
        <p:spPr>
          <a:xfrm>
            <a:off x="822960" y="960120"/>
            <a:ext cx="594360" cy="502920"/>
          </a:xfrm>
          <a:prstGeom prst="ellipse">
            <a:avLst/>
          </a:prstGeom>
          <a:solidFill>
            <a:srgbClr val="D4AF37"/>
          </a:solidFill>
          <a:ln/>
        </p:spPr>
        <p:txBody>
          <a:bodyPr/>
          <a:lstStyle/>
          <a:p>
            <a:endParaRPr lang="en-NG"/>
          </a:p>
        </p:txBody>
      </p:sp>
      <p:sp>
        <p:nvSpPr>
          <p:cNvPr id="5" name="Text 3"/>
          <p:cNvSpPr/>
          <p:nvPr/>
        </p:nvSpPr>
        <p:spPr>
          <a:xfrm>
            <a:off x="822960" y="960120"/>
            <a:ext cx="59436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645920" y="914400"/>
            <a:ext cx="1371600" cy="228600"/>
          </a:xfrm>
          <a:prstGeom prst="rect">
            <a:avLst/>
          </a:prstGeom>
          <a:noFill/>
          <a:ln/>
        </p:spPr>
        <p:txBody>
          <a:bodyPr wrap="square" lIns="0" tIns="0" rIns="0" bIns="0" rtlCol="0" anchor="ctr"/>
          <a:lstStyle/>
          <a:p>
            <a:pPr marL="0" indent="0">
              <a:buNone/>
            </a:pPr>
            <a:r>
              <a:rPr lang="en-US" sz="900" b="1" kern="0" spc="200" dirty="0">
                <a:solidFill>
                  <a:srgbClr val="2E7D52"/>
                </a:solidFill>
                <a:latin typeface="Calibri" pitchFamily="34" charset="0"/>
                <a:ea typeface="Calibri" pitchFamily="34" charset="-122"/>
                <a:cs typeface="Calibri" pitchFamily="34" charset="-120"/>
              </a:rPr>
              <a:t>PHASE 1</a:t>
            </a:r>
            <a:endParaRPr lang="en-US" sz="900" dirty="0"/>
          </a:p>
        </p:txBody>
      </p:sp>
      <p:sp>
        <p:nvSpPr>
          <p:cNvPr id="7" name="Text 5"/>
          <p:cNvSpPr/>
          <p:nvPr/>
        </p:nvSpPr>
        <p:spPr>
          <a:xfrm>
            <a:off x="1645920" y="1115568"/>
            <a:ext cx="2743200" cy="274320"/>
          </a:xfrm>
          <a:prstGeom prst="rect">
            <a:avLst/>
          </a:prstGeom>
          <a:noFill/>
          <a:ln/>
        </p:spPr>
        <p:txBody>
          <a:bodyPr wrap="square" lIns="0" tIns="0" rIns="0" bIns="0" rtlCol="0" anchor="ctr"/>
          <a:lstStyle/>
          <a:p>
            <a:pPr marL="0" indent="0">
              <a:buNone/>
            </a:pPr>
            <a:r>
              <a:rPr lang="en-US" sz="1400" b="1" dirty="0">
                <a:solidFill>
                  <a:srgbClr val="1B3A2D"/>
                </a:solidFill>
                <a:latin typeface="Georgia" pitchFamily="34" charset="0"/>
                <a:ea typeface="Georgia" pitchFamily="34" charset="-122"/>
                <a:cs typeface="Georgia" pitchFamily="34" charset="-120"/>
              </a:rPr>
              <a:t>Leadership Academy</a:t>
            </a:r>
            <a:endParaRPr lang="en-US" sz="1400" dirty="0"/>
          </a:p>
        </p:txBody>
      </p:sp>
      <p:sp>
        <p:nvSpPr>
          <p:cNvPr id="8" name="Text 6"/>
          <p:cNvSpPr/>
          <p:nvPr/>
        </p:nvSpPr>
        <p:spPr>
          <a:xfrm>
            <a:off x="4572000" y="1115568"/>
            <a:ext cx="137160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NOW — June 2026</a:t>
            </a:r>
            <a:endParaRPr lang="en-US" sz="1100" dirty="0"/>
          </a:p>
        </p:txBody>
      </p:sp>
      <p:sp>
        <p:nvSpPr>
          <p:cNvPr id="9" name="Text 7"/>
          <p:cNvSpPr/>
          <p:nvPr/>
        </p:nvSpPr>
        <p:spPr>
          <a:xfrm>
            <a:off x="1645920" y="1353312"/>
            <a:ext cx="68580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Establish baseline leadership language (21 Laws). Develop immediate next-generation leaders.</a:t>
            </a:r>
            <a:endParaRPr lang="en-US" sz="1100" dirty="0"/>
          </a:p>
        </p:txBody>
      </p:sp>
      <p:sp>
        <p:nvSpPr>
          <p:cNvPr id="10" name="Shape 8"/>
          <p:cNvSpPr/>
          <p:nvPr/>
        </p:nvSpPr>
        <p:spPr>
          <a:xfrm>
            <a:off x="1234440" y="2313432"/>
            <a:ext cx="36576" cy="274320"/>
          </a:xfrm>
          <a:prstGeom prst="rect">
            <a:avLst/>
          </a:prstGeom>
          <a:solidFill>
            <a:srgbClr val="E5E7EB"/>
          </a:solidFill>
          <a:ln/>
        </p:spPr>
        <p:txBody>
          <a:bodyPr/>
          <a:lstStyle/>
          <a:p>
            <a:endParaRPr lang="en-NG"/>
          </a:p>
        </p:txBody>
      </p:sp>
      <p:sp>
        <p:nvSpPr>
          <p:cNvPr id="11" name="Shape 9"/>
          <p:cNvSpPr/>
          <p:nvPr/>
        </p:nvSpPr>
        <p:spPr>
          <a:xfrm>
            <a:off x="822960" y="1764792"/>
            <a:ext cx="594360" cy="502920"/>
          </a:xfrm>
          <a:prstGeom prst="ellipse">
            <a:avLst/>
          </a:prstGeom>
          <a:solidFill>
            <a:srgbClr val="2E7D52"/>
          </a:solidFill>
          <a:ln/>
        </p:spPr>
        <p:txBody>
          <a:bodyPr/>
          <a:lstStyle/>
          <a:p>
            <a:endParaRPr lang="en-NG"/>
          </a:p>
        </p:txBody>
      </p:sp>
      <p:sp>
        <p:nvSpPr>
          <p:cNvPr id="12" name="Text 10"/>
          <p:cNvSpPr/>
          <p:nvPr/>
        </p:nvSpPr>
        <p:spPr>
          <a:xfrm>
            <a:off x="822960" y="1764792"/>
            <a:ext cx="59436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645920" y="1719072"/>
            <a:ext cx="1371600" cy="228600"/>
          </a:xfrm>
          <a:prstGeom prst="rect">
            <a:avLst/>
          </a:prstGeom>
          <a:noFill/>
          <a:ln/>
        </p:spPr>
        <p:txBody>
          <a:bodyPr wrap="square" lIns="0" tIns="0" rIns="0" bIns="0" rtlCol="0" anchor="ctr"/>
          <a:lstStyle/>
          <a:p>
            <a:pPr marL="0" indent="0">
              <a:buNone/>
            </a:pPr>
            <a:r>
              <a:rPr lang="en-US" sz="900" b="1" kern="0" spc="200" dirty="0">
                <a:solidFill>
                  <a:srgbClr val="2E7D52"/>
                </a:solidFill>
                <a:latin typeface="Calibri" pitchFamily="34" charset="0"/>
                <a:ea typeface="Calibri" pitchFamily="34" charset="-122"/>
                <a:cs typeface="Calibri" pitchFamily="34" charset="-120"/>
              </a:rPr>
              <a:t>PHASE 2</a:t>
            </a:r>
            <a:endParaRPr lang="en-US" sz="900" dirty="0"/>
          </a:p>
        </p:txBody>
      </p:sp>
      <p:sp>
        <p:nvSpPr>
          <p:cNvPr id="14" name="Text 12"/>
          <p:cNvSpPr/>
          <p:nvPr/>
        </p:nvSpPr>
        <p:spPr>
          <a:xfrm>
            <a:off x="1645920" y="1920240"/>
            <a:ext cx="2743200" cy="274320"/>
          </a:xfrm>
          <a:prstGeom prst="rect">
            <a:avLst/>
          </a:prstGeom>
          <a:noFill/>
          <a:ln/>
        </p:spPr>
        <p:txBody>
          <a:bodyPr wrap="square" lIns="0" tIns="0" rIns="0" bIns="0" rtlCol="0" anchor="ctr"/>
          <a:lstStyle/>
          <a:p>
            <a:pPr marL="0" indent="0">
              <a:buNone/>
            </a:pPr>
            <a:r>
              <a:rPr lang="en-US" sz="1400" b="1" dirty="0">
                <a:solidFill>
                  <a:srgbClr val="1B3A2D"/>
                </a:solidFill>
                <a:latin typeface="Georgia" pitchFamily="34" charset="0"/>
                <a:ea typeface="Georgia" pitchFamily="34" charset="-122"/>
                <a:cs typeface="Georgia" pitchFamily="34" charset="-120"/>
              </a:rPr>
              <a:t>Performance Culture</a:t>
            </a:r>
            <a:endParaRPr lang="en-US" sz="1400" dirty="0"/>
          </a:p>
        </p:txBody>
      </p:sp>
      <p:sp>
        <p:nvSpPr>
          <p:cNvPr id="15" name="Text 13"/>
          <p:cNvSpPr/>
          <p:nvPr/>
        </p:nvSpPr>
        <p:spPr>
          <a:xfrm>
            <a:off x="4572000" y="1920240"/>
            <a:ext cx="137160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Q4 2026</a:t>
            </a:r>
            <a:endParaRPr lang="en-US" sz="1100" dirty="0"/>
          </a:p>
        </p:txBody>
      </p:sp>
      <p:sp>
        <p:nvSpPr>
          <p:cNvPr id="16" name="Text 14"/>
          <p:cNvSpPr/>
          <p:nvPr/>
        </p:nvSpPr>
        <p:spPr>
          <a:xfrm>
            <a:off x="1645920" y="2157984"/>
            <a:ext cx="68580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Integrate 21 Laws into performance management. Leadership behaviours = core metric for promotions.</a:t>
            </a:r>
            <a:endParaRPr lang="en-US" sz="1100" dirty="0"/>
          </a:p>
        </p:txBody>
      </p:sp>
      <p:sp>
        <p:nvSpPr>
          <p:cNvPr id="17" name="Shape 15"/>
          <p:cNvSpPr/>
          <p:nvPr/>
        </p:nvSpPr>
        <p:spPr>
          <a:xfrm>
            <a:off x="1234440" y="3118104"/>
            <a:ext cx="36576" cy="274320"/>
          </a:xfrm>
          <a:prstGeom prst="rect">
            <a:avLst/>
          </a:prstGeom>
          <a:solidFill>
            <a:srgbClr val="E5E7EB"/>
          </a:solidFill>
          <a:ln/>
        </p:spPr>
        <p:txBody>
          <a:bodyPr/>
          <a:lstStyle/>
          <a:p>
            <a:endParaRPr lang="en-NG"/>
          </a:p>
        </p:txBody>
      </p:sp>
      <p:sp>
        <p:nvSpPr>
          <p:cNvPr id="18" name="Shape 16"/>
          <p:cNvSpPr/>
          <p:nvPr/>
        </p:nvSpPr>
        <p:spPr>
          <a:xfrm>
            <a:off x="822960" y="2569464"/>
            <a:ext cx="594360" cy="502920"/>
          </a:xfrm>
          <a:prstGeom prst="ellipse">
            <a:avLst/>
          </a:prstGeom>
          <a:solidFill>
            <a:srgbClr val="2E7D52"/>
          </a:solidFill>
          <a:ln/>
        </p:spPr>
        <p:txBody>
          <a:bodyPr/>
          <a:lstStyle/>
          <a:p>
            <a:endParaRPr lang="en-NG"/>
          </a:p>
        </p:txBody>
      </p:sp>
      <p:sp>
        <p:nvSpPr>
          <p:cNvPr id="19" name="Text 17"/>
          <p:cNvSpPr/>
          <p:nvPr/>
        </p:nvSpPr>
        <p:spPr>
          <a:xfrm>
            <a:off x="822960" y="2569464"/>
            <a:ext cx="59436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1645920" y="2523744"/>
            <a:ext cx="1371600" cy="228600"/>
          </a:xfrm>
          <a:prstGeom prst="rect">
            <a:avLst/>
          </a:prstGeom>
          <a:noFill/>
          <a:ln/>
        </p:spPr>
        <p:txBody>
          <a:bodyPr wrap="square" lIns="0" tIns="0" rIns="0" bIns="0" rtlCol="0" anchor="ctr"/>
          <a:lstStyle/>
          <a:p>
            <a:pPr marL="0" indent="0">
              <a:buNone/>
            </a:pPr>
            <a:r>
              <a:rPr lang="en-US" sz="900" b="1" kern="0" spc="200" dirty="0">
                <a:solidFill>
                  <a:srgbClr val="2E7D52"/>
                </a:solidFill>
                <a:latin typeface="Calibri" pitchFamily="34" charset="0"/>
                <a:ea typeface="Calibri" pitchFamily="34" charset="-122"/>
                <a:cs typeface="Calibri" pitchFamily="34" charset="-120"/>
              </a:rPr>
              <a:t>PHASE 3</a:t>
            </a:r>
            <a:endParaRPr lang="en-US" sz="900" dirty="0"/>
          </a:p>
        </p:txBody>
      </p:sp>
      <p:sp>
        <p:nvSpPr>
          <p:cNvPr id="21" name="Text 19"/>
          <p:cNvSpPr/>
          <p:nvPr/>
        </p:nvSpPr>
        <p:spPr>
          <a:xfrm>
            <a:off x="1645920" y="2724912"/>
            <a:ext cx="2743200" cy="274320"/>
          </a:xfrm>
          <a:prstGeom prst="rect">
            <a:avLst/>
          </a:prstGeom>
          <a:noFill/>
          <a:ln/>
        </p:spPr>
        <p:txBody>
          <a:bodyPr wrap="square" lIns="0" tIns="0" rIns="0" bIns="0" rtlCol="0" anchor="ctr"/>
          <a:lstStyle/>
          <a:p>
            <a:pPr marL="0" indent="0">
              <a:buNone/>
            </a:pPr>
            <a:r>
              <a:rPr lang="en-US" sz="1400" b="1" dirty="0">
                <a:solidFill>
                  <a:srgbClr val="1B3A2D"/>
                </a:solidFill>
                <a:latin typeface="Georgia" pitchFamily="34" charset="0"/>
                <a:ea typeface="Georgia" pitchFamily="34" charset="-122"/>
                <a:cs typeface="Georgia" pitchFamily="34" charset="-120"/>
              </a:rPr>
              <a:t>Coaching Culture</a:t>
            </a:r>
            <a:endParaRPr lang="en-US" sz="1400" dirty="0"/>
          </a:p>
        </p:txBody>
      </p:sp>
      <p:sp>
        <p:nvSpPr>
          <p:cNvPr id="22" name="Text 20"/>
          <p:cNvSpPr/>
          <p:nvPr/>
        </p:nvSpPr>
        <p:spPr>
          <a:xfrm>
            <a:off x="4572000" y="2724912"/>
            <a:ext cx="137160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Q2 2027</a:t>
            </a:r>
            <a:endParaRPr lang="en-US" sz="1100" dirty="0"/>
          </a:p>
        </p:txBody>
      </p:sp>
      <p:sp>
        <p:nvSpPr>
          <p:cNvPr id="23" name="Text 21"/>
          <p:cNvSpPr/>
          <p:nvPr/>
        </p:nvSpPr>
        <p:spPr>
          <a:xfrm>
            <a:off x="1645920" y="2962656"/>
            <a:ext cx="68580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Train all managers in advanced coaching. Shift from “managing tasks” to “coaching people.”</a:t>
            </a:r>
            <a:endParaRPr lang="en-US" sz="1100" dirty="0"/>
          </a:p>
        </p:txBody>
      </p:sp>
      <p:sp>
        <p:nvSpPr>
          <p:cNvPr id="24" name="Shape 22"/>
          <p:cNvSpPr/>
          <p:nvPr/>
        </p:nvSpPr>
        <p:spPr>
          <a:xfrm>
            <a:off x="1234440" y="3922776"/>
            <a:ext cx="36576" cy="274320"/>
          </a:xfrm>
          <a:prstGeom prst="rect">
            <a:avLst/>
          </a:prstGeom>
          <a:solidFill>
            <a:srgbClr val="E5E7EB"/>
          </a:solidFill>
          <a:ln/>
        </p:spPr>
        <p:txBody>
          <a:bodyPr/>
          <a:lstStyle/>
          <a:p>
            <a:endParaRPr lang="en-NG"/>
          </a:p>
        </p:txBody>
      </p:sp>
      <p:sp>
        <p:nvSpPr>
          <p:cNvPr id="25" name="Shape 23"/>
          <p:cNvSpPr/>
          <p:nvPr/>
        </p:nvSpPr>
        <p:spPr>
          <a:xfrm>
            <a:off x="822960" y="3374136"/>
            <a:ext cx="594360" cy="502920"/>
          </a:xfrm>
          <a:prstGeom prst="ellipse">
            <a:avLst/>
          </a:prstGeom>
          <a:solidFill>
            <a:srgbClr val="2E7D52"/>
          </a:solidFill>
          <a:ln/>
        </p:spPr>
        <p:txBody>
          <a:bodyPr/>
          <a:lstStyle/>
          <a:p>
            <a:endParaRPr lang="en-NG"/>
          </a:p>
        </p:txBody>
      </p:sp>
      <p:sp>
        <p:nvSpPr>
          <p:cNvPr id="26" name="Text 24"/>
          <p:cNvSpPr/>
          <p:nvPr/>
        </p:nvSpPr>
        <p:spPr>
          <a:xfrm>
            <a:off x="822960" y="3374136"/>
            <a:ext cx="59436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7" name="Text 25"/>
          <p:cNvSpPr/>
          <p:nvPr/>
        </p:nvSpPr>
        <p:spPr>
          <a:xfrm>
            <a:off x="1645920" y="3328416"/>
            <a:ext cx="1371600" cy="228600"/>
          </a:xfrm>
          <a:prstGeom prst="rect">
            <a:avLst/>
          </a:prstGeom>
          <a:noFill/>
          <a:ln/>
        </p:spPr>
        <p:txBody>
          <a:bodyPr wrap="square" lIns="0" tIns="0" rIns="0" bIns="0" rtlCol="0" anchor="ctr"/>
          <a:lstStyle/>
          <a:p>
            <a:pPr marL="0" indent="0">
              <a:buNone/>
            </a:pPr>
            <a:r>
              <a:rPr lang="en-US" sz="900" b="1" kern="0" spc="200" dirty="0">
                <a:solidFill>
                  <a:srgbClr val="2E7D52"/>
                </a:solidFill>
                <a:latin typeface="Calibri" pitchFamily="34" charset="0"/>
                <a:ea typeface="Calibri" pitchFamily="34" charset="-122"/>
                <a:cs typeface="Calibri" pitchFamily="34" charset="-120"/>
              </a:rPr>
              <a:t>PHASE 4</a:t>
            </a:r>
            <a:endParaRPr lang="en-US" sz="900" dirty="0"/>
          </a:p>
        </p:txBody>
      </p:sp>
      <p:sp>
        <p:nvSpPr>
          <p:cNvPr id="28" name="Text 26"/>
          <p:cNvSpPr/>
          <p:nvPr/>
        </p:nvSpPr>
        <p:spPr>
          <a:xfrm>
            <a:off x="1645920" y="3529584"/>
            <a:ext cx="2743200" cy="274320"/>
          </a:xfrm>
          <a:prstGeom prst="rect">
            <a:avLst/>
          </a:prstGeom>
          <a:noFill/>
          <a:ln/>
        </p:spPr>
        <p:txBody>
          <a:bodyPr wrap="square" lIns="0" tIns="0" rIns="0" bIns="0" rtlCol="0" anchor="ctr"/>
          <a:lstStyle/>
          <a:p>
            <a:pPr marL="0" indent="0">
              <a:buNone/>
            </a:pPr>
            <a:r>
              <a:rPr lang="en-US" sz="1400" b="1" dirty="0">
                <a:solidFill>
                  <a:srgbClr val="1B3A2D"/>
                </a:solidFill>
                <a:latin typeface="Georgia" pitchFamily="34" charset="0"/>
                <a:ea typeface="Georgia" pitchFamily="34" charset="-122"/>
                <a:cs typeface="Georgia" pitchFamily="34" charset="-120"/>
              </a:rPr>
              <a:t>Succession Planning</a:t>
            </a:r>
            <a:endParaRPr lang="en-US" sz="1400" dirty="0"/>
          </a:p>
        </p:txBody>
      </p:sp>
      <p:sp>
        <p:nvSpPr>
          <p:cNvPr id="29" name="Text 27"/>
          <p:cNvSpPr/>
          <p:nvPr/>
        </p:nvSpPr>
        <p:spPr>
          <a:xfrm>
            <a:off x="4572000" y="3529584"/>
            <a:ext cx="137160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Q4 2027</a:t>
            </a:r>
            <a:endParaRPr lang="en-US" sz="1100" dirty="0"/>
          </a:p>
        </p:txBody>
      </p:sp>
      <p:sp>
        <p:nvSpPr>
          <p:cNvPr id="30" name="Text 28"/>
          <p:cNvSpPr/>
          <p:nvPr/>
        </p:nvSpPr>
        <p:spPr>
          <a:xfrm>
            <a:off x="1645920" y="3767328"/>
            <a:ext cx="68580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Formalize the Law of Legacy. Every critical role has a documented succession plan.</a:t>
            </a:r>
            <a:endParaRPr lang="en-US" sz="1100" dirty="0"/>
          </a:p>
        </p:txBody>
      </p:sp>
      <p:sp>
        <p:nvSpPr>
          <p:cNvPr id="31" name="Shape 29"/>
          <p:cNvSpPr/>
          <p:nvPr/>
        </p:nvSpPr>
        <p:spPr>
          <a:xfrm>
            <a:off x="822960" y="4178808"/>
            <a:ext cx="594360" cy="502920"/>
          </a:xfrm>
          <a:prstGeom prst="ellipse">
            <a:avLst/>
          </a:prstGeom>
          <a:solidFill>
            <a:srgbClr val="2E7D52"/>
          </a:solidFill>
          <a:ln/>
        </p:spPr>
        <p:txBody>
          <a:bodyPr/>
          <a:lstStyle/>
          <a:p>
            <a:endParaRPr lang="en-NG"/>
          </a:p>
        </p:txBody>
      </p:sp>
      <p:sp>
        <p:nvSpPr>
          <p:cNvPr id="32" name="Text 30"/>
          <p:cNvSpPr/>
          <p:nvPr/>
        </p:nvSpPr>
        <p:spPr>
          <a:xfrm>
            <a:off x="822960" y="4178808"/>
            <a:ext cx="594360" cy="50292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3" name="Text 31"/>
          <p:cNvSpPr/>
          <p:nvPr/>
        </p:nvSpPr>
        <p:spPr>
          <a:xfrm>
            <a:off x="1645920" y="4133088"/>
            <a:ext cx="1371600" cy="228600"/>
          </a:xfrm>
          <a:prstGeom prst="rect">
            <a:avLst/>
          </a:prstGeom>
          <a:noFill/>
          <a:ln/>
        </p:spPr>
        <p:txBody>
          <a:bodyPr wrap="square" lIns="0" tIns="0" rIns="0" bIns="0" rtlCol="0" anchor="ctr"/>
          <a:lstStyle/>
          <a:p>
            <a:pPr marL="0" indent="0">
              <a:buNone/>
            </a:pPr>
            <a:r>
              <a:rPr lang="en-US" sz="900" b="1" kern="0" spc="200" dirty="0">
                <a:solidFill>
                  <a:srgbClr val="2E7D52"/>
                </a:solidFill>
                <a:latin typeface="Calibri" pitchFamily="34" charset="0"/>
                <a:ea typeface="Calibri" pitchFamily="34" charset="-122"/>
                <a:cs typeface="Calibri" pitchFamily="34" charset="-120"/>
              </a:rPr>
              <a:t>PHASE 5</a:t>
            </a:r>
            <a:endParaRPr lang="en-US" sz="900" dirty="0"/>
          </a:p>
        </p:txBody>
      </p:sp>
      <p:sp>
        <p:nvSpPr>
          <p:cNvPr id="34" name="Text 32"/>
          <p:cNvSpPr/>
          <p:nvPr/>
        </p:nvSpPr>
        <p:spPr>
          <a:xfrm>
            <a:off x="1645920" y="4334256"/>
            <a:ext cx="2743200" cy="274320"/>
          </a:xfrm>
          <a:prstGeom prst="rect">
            <a:avLst/>
          </a:prstGeom>
          <a:noFill/>
          <a:ln/>
        </p:spPr>
        <p:txBody>
          <a:bodyPr wrap="square" lIns="0" tIns="0" rIns="0" bIns="0" rtlCol="0" anchor="ctr"/>
          <a:lstStyle/>
          <a:p>
            <a:pPr marL="0" indent="0">
              <a:buNone/>
            </a:pPr>
            <a:r>
              <a:rPr lang="en-US" sz="1400" b="1" dirty="0">
                <a:solidFill>
                  <a:srgbClr val="1B3A2D"/>
                </a:solidFill>
                <a:latin typeface="Georgia" pitchFamily="34" charset="0"/>
                <a:ea typeface="Georgia" pitchFamily="34" charset="-122"/>
                <a:cs typeface="Georgia" pitchFamily="34" charset="-120"/>
              </a:rPr>
              <a:t>Leadership Institute</a:t>
            </a:r>
            <a:endParaRPr lang="en-US" sz="1400" dirty="0"/>
          </a:p>
        </p:txBody>
      </p:sp>
      <p:sp>
        <p:nvSpPr>
          <p:cNvPr id="35" name="Text 33"/>
          <p:cNvSpPr/>
          <p:nvPr/>
        </p:nvSpPr>
        <p:spPr>
          <a:xfrm>
            <a:off x="4572000" y="4334256"/>
            <a:ext cx="1371600" cy="274320"/>
          </a:xfrm>
          <a:prstGeom prst="rect">
            <a:avLst/>
          </a:prstGeom>
          <a:noFill/>
          <a:ln/>
        </p:spPr>
        <p:txBody>
          <a:bodyPr wrap="square" lIns="0" tIns="0" rIns="0" bIns="0" rtlCol="0" anchor="ctr"/>
          <a:lstStyle/>
          <a:p>
            <a:pPr marL="0" indent="0">
              <a:buNone/>
            </a:pPr>
            <a:r>
              <a:rPr lang="en-US" sz="1100" b="1" dirty="0">
                <a:solidFill>
                  <a:srgbClr val="D4AF37"/>
                </a:solidFill>
                <a:latin typeface="Calibri" pitchFamily="34" charset="0"/>
                <a:ea typeface="Calibri" pitchFamily="34" charset="-122"/>
                <a:cs typeface="Calibri" pitchFamily="34" charset="-120"/>
              </a:rPr>
              <a:t>2028</a:t>
            </a:r>
            <a:endParaRPr lang="en-US" sz="1100" dirty="0"/>
          </a:p>
        </p:txBody>
      </p:sp>
      <p:sp>
        <p:nvSpPr>
          <p:cNvPr id="36" name="Text 34"/>
          <p:cNvSpPr/>
          <p:nvPr/>
        </p:nvSpPr>
        <p:spPr>
          <a:xfrm>
            <a:off x="1645920" y="4572000"/>
            <a:ext cx="685800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Evolve SLA into a permanent internal corporate university. Continuous learning at all levels.</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731520" y="731520"/>
            <a:ext cx="914400" cy="914400"/>
          </a:xfrm>
          <a:prstGeom prst="rect">
            <a:avLst/>
          </a:prstGeom>
          <a:noFill/>
          <a:ln/>
        </p:spPr>
        <p:txBody>
          <a:bodyPr wrap="square" rtlCol="0" anchor="ctr"/>
          <a:lstStyle/>
          <a:p>
            <a:pPr marL="0" indent="0">
              <a:buNone/>
            </a:pPr>
            <a:r>
              <a:rPr lang="en-US" sz="7200" dirty="0">
                <a:solidFill>
                  <a:srgbClr val="D4AF37"/>
                </a:solidFill>
                <a:latin typeface="Georgia" pitchFamily="34" charset="0"/>
                <a:ea typeface="Georgia" pitchFamily="34" charset="-122"/>
                <a:cs typeface="Georgia" pitchFamily="34" charset="-120"/>
              </a:rPr>
              <a:t>“</a:t>
            </a:r>
            <a:endParaRPr lang="en-US" sz="7200" dirty="0"/>
          </a:p>
        </p:txBody>
      </p:sp>
      <p:sp>
        <p:nvSpPr>
          <p:cNvPr id="3" name="Text 1"/>
          <p:cNvSpPr/>
          <p:nvPr/>
        </p:nvSpPr>
        <p:spPr>
          <a:xfrm>
            <a:off x="1371600" y="1005840"/>
            <a:ext cx="6858000" cy="1828800"/>
          </a:xfrm>
          <a:prstGeom prst="rect">
            <a:avLst/>
          </a:prstGeom>
          <a:noFill/>
          <a:ln/>
        </p:spPr>
        <p:txBody>
          <a:bodyPr wrap="square" rtlCol="0" anchor="ctr"/>
          <a:lstStyle/>
          <a:p>
            <a:pPr marL="0" indent="0">
              <a:lnSpc>
                <a:spcPct val="130000"/>
              </a:lnSpc>
              <a:buNone/>
            </a:pPr>
            <a:r>
              <a:rPr lang="en-US" sz="2600" i="1" dirty="0">
                <a:solidFill>
                  <a:srgbClr val="FFFFFF"/>
                </a:solidFill>
                <a:latin typeface="Georgia" pitchFamily="34" charset="0"/>
                <a:ea typeface="Georgia" pitchFamily="34" charset="-122"/>
                <a:cs typeface="Georgia" pitchFamily="34" charset="-120"/>
              </a:rPr>
              <a:t>The single biggest way to impact</a:t>
            </a:r>
            <a:endParaRPr lang="en-US" sz="2600" dirty="0"/>
          </a:p>
          <a:p>
            <a:pPr marL="0" indent="0">
              <a:lnSpc>
                <a:spcPct val="130000"/>
              </a:lnSpc>
              <a:buNone/>
            </a:pPr>
            <a:r>
              <a:rPr lang="en-US" sz="2600" i="1" dirty="0">
                <a:solidFill>
                  <a:srgbClr val="FFFFFF"/>
                </a:solidFill>
                <a:latin typeface="Georgia" pitchFamily="34" charset="0"/>
                <a:ea typeface="Georgia" pitchFamily="34" charset="-122"/>
                <a:cs typeface="Georgia" pitchFamily="34" charset="-120"/>
              </a:rPr>
              <a:t>an organization is to focus on</a:t>
            </a:r>
            <a:endParaRPr lang="en-US" sz="2600" dirty="0"/>
          </a:p>
          <a:p>
            <a:pPr marL="0" indent="0">
              <a:lnSpc>
                <a:spcPct val="130000"/>
              </a:lnSpc>
              <a:buNone/>
            </a:pPr>
            <a:r>
              <a:rPr lang="en-US" sz="2600" i="1" dirty="0">
                <a:solidFill>
                  <a:srgbClr val="FFFFFF"/>
                </a:solidFill>
                <a:latin typeface="Georgia" pitchFamily="34" charset="0"/>
                <a:ea typeface="Georgia" pitchFamily="34" charset="-122"/>
                <a:cs typeface="Georgia" pitchFamily="34" charset="-120"/>
              </a:rPr>
              <a:t>leadership development.</a:t>
            </a:r>
            <a:endParaRPr lang="en-US" sz="2600" dirty="0"/>
          </a:p>
        </p:txBody>
      </p:sp>
      <p:sp>
        <p:nvSpPr>
          <p:cNvPr id="4" name="Text 2"/>
          <p:cNvSpPr/>
          <p:nvPr/>
        </p:nvSpPr>
        <p:spPr>
          <a:xfrm>
            <a:off x="1371600" y="2834640"/>
            <a:ext cx="6858000" cy="731520"/>
          </a:xfrm>
          <a:prstGeom prst="rect">
            <a:avLst/>
          </a:prstGeom>
          <a:noFill/>
          <a:ln/>
        </p:spPr>
        <p:txBody>
          <a:bodyPr wrap="square" rtlCol="0" anchor="ctr"/>
          <a:lstStyle/>
          <a:p>
            <a:pPr marL="0" indent="0">
              <a:lnSpc>
                <a:spcPct val="130000"/>
              </a:lnSpc>
              <a:buNone/>
            </a:pPr>
            <a:r>
              <a:rPr lang="en-US" sz="1400" dirty="0">
                <a:solidFill>
                  <a:srgbClr val="CCCCCC"/>
                </a:solidFill>
                <a:latin typeface="Calibri" pitchFamily="34" charset="0"/>
                <a:ea typeface="Calibri" pitchFamily="34" charset="-122"/>
                <a:cs typeface="Calibri" pitchFamily="34" charset="-120"/>
              </a:rPr>
              <a:t>There is almost no limit to the potential of an organization that recruits good people,</a:t>
            </a:r>
            <a:endParaRPr lang="en-US" sz="1400" dirty="0"/>
          </a:p>
          <a:p>
            <a:pPr marL="0" indent="0">
              <a:lnSpc>
                <a:spcPct val="130000"/>
              </a:lnSpc>
              <a:buNone/>
            </a:pPr>
            <a:r>
              <a:rPr lang="en-US" sz="1400" dirty="0">
                <a:solidFill>
                  <a:srgbClr val="CCCCCC"/>
                </a:solidFill>
                <a:latin typeface="Calibri" pitchFamily="34" charset="0"/>
                <a:ea typeface="Calibri" pitchFamily="34" charset="-122"/>
                <a:cs typeface="Calibri" pitchFamily="34" charset="-120"/>
              </a:rPr>
              <a:t>raises them up as leaders, and continually develops them.</a:t>
            </a:r>
            <a:endParaRPr lang="en-US" sz="1400" dirty="0"/>
          </a:p>
        </p:txBody>
      </p:sp>
      <p:sp>
        <p:nvSpPr>
          <p:cNvPr id="5" name="Text 3"/>
          <p:cNvSpPr/>
          <p:nvPr/>
        </p:nvSpPr>
        <p:spPr>
          <a:xfrm>
            <a:off x="1371600" y="3657600"/>
            <a:ext cx="6858000" cy="274320"/>
          </a:xfrm>
          <a:prstGeom prst="rect">
            <a:avLst/>
          </a:prstGeom>
          <a:noFill/>
          <a:ln/>
        </p:spPr>
        <p:txBody>
          <a:bodyPr wrap="square" rtlCol="0" anchor="ctr"/>
          <a:lstStyle/>
          <a:p>
            <a:pPr marL="0" indent="0">
              <a:buNone/>
            </a:pPr>
            <a:r>
              <a:rPr lang="en-US" sz="1400" dirty="0">
                <a:solidFill>
                  <a:srgbClr val="D4AF37"/>
                </a:solidFill>
                <a:latin typeface="Calibri" pitchFamily="34" charset="0"/>
                <a:ea typeface="Calibri" pitchFamily="34" charset="-122"/>
                <a:cs typeface="Calibri" pitchFamily="34" charset="-120"/>
              </a:rPr>
              <a:t>— John C. Maxwell</a:t>
            </a:r>
            <a:endParaRPr lang="en-US" sz="1400" dirty="0"/>
          </a:p>
        </p:txBody>
      </p:sp>
      <p:sp>
        <p:nvSpPr>
          <p:cNvPr id="6" name="Text 4"/>
          <p:cNvSpPr/>
          <p:nvPr/>
        </p:nvSpPr>
        <p:spPr>
          <a:xfrm>
            <a:off x="274320" y="4754880"/>
            <a:ext cx="8595360" cy="320040"/>
          </a:xfrm>
          <a:prstGeom prst="rect">
            <a:avLst/>
          </a:prstGeom>
          <a:noFill/>
          <a:ln/>
        </p:spPr>
        <p:txBody>
          <a:bodyPr wrap="square" rtlCol="0" anchor="ctr"/>
          <a:lstStyle/>
          <a:p>
            <a:pPr marL="0" indent="0" algn="ctr">
              <a:buNone/>
            </a:pPr>
            <a:r>
              <a:rPr lang="en-US" sz="900" kern="0" spc="300" dirty="0">
                <a:solidFill>
                  <a:srgbClr val="FFFFFF"/>
                </a:solidFill>
                <a:latin typeface="Calibri" pitchFamily="34" charset="0"/>
                <a:ea typeface="Calibri" pitchFamily="34" charset="-122"/>
                <a:cs typeface="Calibri" pitchFamily="34" charset="-120"/>
              </a:rPr>
              <a:t>SAPPHIRE LEADERSHIP ACADEMY  |  BUILDING LEADERS FOR SAPPHIRE 4.0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